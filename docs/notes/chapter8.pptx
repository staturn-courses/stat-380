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3"/>
  </p:notesMasterIdLst>
  <p:sldIdLst>
    <p:sldId id="256" r:id="rId2"/>
    <p:sldId id="261" r:id="rId3"/>
    <p:sldId id="265" r:id="rId4"/>
    <p:sldId id="264" r:id="rId5"/>
    <p:sldId id="263" r:id="rId6"/>
    <p:sldId id="266" r:id="rId7"/>
    <p:sldId id="267" r:id="rId8"/>
    <p:sldId id="268" r:id="rId9"/>
    <p:sldId id="272" r:id="rId10"/>
    <p:sldId id="274" r:id="rId11"/>
    <p:sldId id="273" r:id="rId12"/>
    <p:sldId id="279" r:id="rId13"/>
    <p:sldId id="280" r:id="rId14"/>
    <p:sldId id="278" r:id="rId15"/>
    <p:sldId id="275" r:id="rId16"/>
    <p:sldId id="269" r:id="rId17"/>
    <p:sldId id="277" r:id="rId18"/>
    <p:sldId id="316" r:id="rId19"/>
    <p:sldId id="281" r:id="rId20"/>
    <p:sldId id="282" r:id="rId21"/>
    <p:sldId id="283" r:id="rId22"/>
    <p:sldId id="284" r:id="rId23"/>
    <p:sldId id="299" r:id="rId24"/>
    <p:sldId id="286" r:id="rId25"/>
    <p:sldId id="287" r:id="rId26"/>
    <p:sldId id="317" r:id="rId27"/>
    <p:sldId id="318" r:id="rId28"/>
    <p:sldId id="289" r:id="rId29"/>
    <p:sldId id="288" r:id="rId30"/>
    <p:sldId id="291" r:id="rId31"/>
    <p:sldId id="292" r:id="rId32"/>
    <p:sldId id="297" r:id="rId33"/>
    <p:sldId id="295" r:id="rId34"/>
    <p:sldId id="294" r:id="rId35"/>
    <p:sldId id="296" r:id="rId36"/>
    <p:sldId id="298" r:id="rId37"/>
    <p:sldId id="303" r:id="rId38"/>
    <p:sldId id="304" r:id="rId39"/>
    <p:sldId id="293" r:id="rId40"/>
    <p:sldId id="300" r:id="rId41"/>
    <p:sldId id="301" r:id="rId42"/>
    <p:sldId id="302" r:id="rId43"/>
    <p:sldId id="315" r:id="rId44"/>
    <p:sldId id="305" r:id="rId45"/>
    <p:sldId id="307" r:id="rId46"/>
    <p:sldId id="308" r:id="rId47"/>
    <p:sldId id="309" r:id="rId48"/>
    <p:sldId id="311" r:id="rId49"/>
    <p:sldId id="310" r:id="rId50"/>
    <p:sldId id="313" r:id="rId51"/>
    <p:sldId id="312" r:id="rId5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4B6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5"/>
  </p:normalViewPr>
  <p:slideViewPr>
    <p:cSldViewPr snapToGrid="0">
      <p:cViewPr varScale="1">
        <p:scale>
          <a:sx n="119" d="100"/>
          <a:sy n="119" d="100"/>
        </p:scale>
        <p:origin x="85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microsoft.com/office/2016/11/relationships/changesInfo" Target="changesInfos/changesInfo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yler Wiederich" userId="3f382493-832e-4d37-bfa6-7ce500c57231" providerId="ADAL" clId="{FF29680B-27E0-5C5A-84D7-A0528DB0D11D}"/>
    <pc:docChg chg="custSel modSld">
      <pc:chgData name="Tyler Wiederich" userId="3f382493-832e-4d37-bfa6-7ce500c57231" providerId="ADAL" clId="{FF29680B-27E0-5C5A-84D7-A0528DB0D11D}" dt="2026-10-14T14:02:37.478" v="38" actId="478"/>
      <pc:docMkLst>
        <pc:docMk/>
      </pc:docMkLst>
      <pc:sldChg chg="delSp mod">
        <pc:chgData name="Tyler Wiederich" userId="3f382493-832e-4d37-bfa6-7ce500c57231" providerId="ADAL" clId="{FF29680B-27E0-5C5A-84D7-A0528DB0D11D}" dt="2026-10-14T14:01:05.900" v="0" actId="478"/>
        <pc:sldMkLst>
          <pc:docMk/>
          <pc:sldMk cId="1298309361" sldId="256"/>
        </pc:sldMkLst>
        <pc:inkChg chg="del">
          <ac:chgData name="Tyler Wiederich" userId="3f382493-832e-4d37-bfa6-7ce500c57231" providerId="ADAL" clId="{FF29680B-27E0-5C5A-84D7-A0528DB0D11D}" dt="2026-10-14T14:01:05.900" v="0" actId="478"/>
          <ac:inkMkLst>
            <pc:docMk/>
            <pc:sldMk cId="1298309361" sldId="256"/>
            <ac:inkMk id="5" creationId="{80468BD7-4486-EBC2-527D-E400E5F5EE76}"/>
          </ac:inkMkLst>
        </pc:inkChg>
      </pc:sldChg>
      <pc:sldChg chg="delSp mod">
        <pc:chgData name="Tyler Wiederich" userId="3f382493-832e-4d37-bfa6-7ce500c57231" providerId="ADAL" clId="{FF29680B-27E0-5C5A-84D7-A0528DB0D11D}" dt="2026-10-14T14:01:11.798" v="3" actId="478"/>
        <pc:sldMkLst>
          <pc:docMk/>
          <pc:sldMk cId="619821193" sldId="263"/>
        </pc:sldMkLst>
        <pc:inkChg chg="del">
          <ac:chgData name="Tyler Wiederich" userId="3f382493-832e-4d37-bfa6-7ce500c57231" providerId="ADAL" clId="{FF29680B-27E0-5C5A-84D7-A0528DB0D11D}" dt="2026-10-14T14:01:11.798" v="3" actId="478"/>
          <ac:inkMkLst>
            <pc:docMk/>
            <pc:sldMk cId="619821193" sldId="263"/>
            <ac:inkMk id="4" creationId="{165191BE-5601-2B4C-C901-DEC7F529221A}"/>
          </ac:inkMkLst>
        </pc:inkChg>
      </pc:sldChg>
      <pc:sldChg chg="delSp mod">
        <pc:chgData name="Tyler Wiederich" userId="3f382493-832e-4d37-bfa6-7ce500c57231" providerId="ADAL" clId="{FF29680B-27E0-5C5A-84D7-A0528DB0D11D}" dt="2026-10-14T14:01:09.967" v="2" actId="478"/>
        <pc:sldMkLst>
          <pc:docMk/>
          <pc:sldMk cId="3323374177" sldId="264"/>
        </pc:sldMkLst>
        <pc:inkChg chg="del">
          <ac:chgData name="Tyler Wiederich" userId="3f382493-832e-4d37-bfa6-7ce500c57231" providerId="ADAL" clId="{FF29680B-27E0-5C5A-84D7-A0528DB0D11D}" dt="2026-10-14T14:01:09.967" v="2" actId="478"/>
          <ac:inkMkLst>
            <pc:docMk/>
            <pc:sldMk cId="3323374177" sldId="264"/>
            <ac:inkMk id="3" creationId="{F993B6B3-8B21-6C53-5660-E746E16E5AB3}"/>
          </ac:inkMkLst>
        </pc:inkChg>
      </pc:sldChg>
      <pc:sldChg chg="delSp mod">
        <pc:chgData name="Tyler Wiederich" userId="3f382493-832e-4d37-bfa6-7ce500c57231" providerId="ADAL" clId="{FF29680B-27E0-5C5A-84D7-A0528DB0D11D}" dt="2026-10-14T14:01:07.821" v="1" actId="478"/>
        <pc:sldMkLst>
          <pc:docMk/>
          <pc:sldMk cId="1824056858" sldId="265"/>
        </pc:sldMkLst>
        <pc:inkChg chg="del">
          <ac:chgData name="Tyler Wiederich" userId="3f382493-832e-4d37-bfa6-7ce500c57231" providerId="ADAL" clId="{FF29680B-27E0-5C5A-84D7-A0528DB0D11D}" dt="2026-10-14T14:01:07.821" v="1" actId="478"/>
          <ac:inkMkLst>
            <pc:docMk/>
            <pc:sldMk cId="1824056858" sldId="265"/>
            <ac:inkMk id="2" creationId="{247D2E25-92AC-23D2-38FF-8ABDD7925E42}"/>
          </ac:inkMkLst>
        </pc:inkChg>
      </pc:sldChg>
      <pc:sldChg chg="delSp mod">
        <pc:chgData name="Tyler Wiederich" userId="3f382493-832e-4d37-bfa6-7ce500c57231" providerId="ADAL" clId="{FF29680B-27E0-5C5A-84D7-A0528DB0D11D}" dt="2026-10-14T14:01:14.407" v="4" actId="478"/>
        <pc:sldMkLst>
          <pc:docMk/>
          <pc:sldMk cId="3934350185" sldId="266"/>
        </pc:sldMkLst>
        <pc:inkChg chg="del">
          <ac:chgData name="Tyler Wiederich" userId="3f382493-832e-4d37-bfa6-7ce500c57231" providerId="ADAL" clId="{FF29680B-27E0-5C5A-84D7-A0528DB0D11D}" dt="2026-10-14T14:01:14.407" v="4" actId="478"/>
          <ac:inkMkLst>
            <pc:docMk/>
            <pc:sldMk cId="3934350185" sldId="266"/>
            <ac:inkMk id="3" creationId="{66BCDA39-196A-7B88-4085-2CF2F01B9B7C}"/>
          </ac:inkMkLst>
        </pc:inkChg>
      </pc:sldChg>
      <pc:sldChg chg="delSp mod">
        <pc:chgData name="Tyler Wiederich" userId="3f382493-832e-4d37-bfa6-7ce500c57231" providerId="ADAL" clId="{FF29680B-27E0-5C5A-84D7-A0528DB0D11D}" dt="2026-10-14T14:01:17.330" v="5" actId="478"/>
        <pc:sldMkLst>
          <pc:docMk/>
          <pc:sldMk cId="1841624468" sldId="267"/>
        </pc:sldMkLst>
        <pc:inkChg chg="del">
          <ac:chgData name="Tyler Wiederich" userId="3f382493-832e-4d37-bfa6-7ce500c57231" providerId="ADAL" clId="{FF29680B-27E0-5C5A-84D7-A0528DB0D11D}" dt="2026-10-14T14:01:17.330" v="5" actId="478"/>
          <ac:inkMkLst>
            <pc:docMk/>
            <pc:sldMk cId="1841624468" sldId="267"/>
            <ac:inkMk id="4" creationId="{1EDCB30A-292F-8B5B-BF3C-E9F7A18FDDE9}"/>
          </ac:inkMkLst>
        </pc:inkChg>
      </pc:sldChg>
      <pc:sldChg chg="delSp mod">
        <pc:chgData name="Tyler Wiederich" userId="3f382493-832e-4d37-bfa6-7ce500c57231" providerId="ADAL" clId="{FF29680B-27E0-5C5A-84D7-A0528DB0D11D}" dt="2026-10-14T14:01:19.476" v="6" actId="478"/>
        <pc:sldMkLst>
          <pc:docMk/>
          <pc:sldMk cId="3034524218" sldId="268"/>
        </pc:sldMkLst>
        <pc:inkChg chg="del">
          <ac:chgData name="Tyler Wiederich" userId="3f382493-832e-4d37-bfa6-7ce500c57231" providerId="ADAL" clId="{FF29680B-27E0-5C5A-84D7-A0528DB0D11D}" dt="2026-10-14T14:01:19.476" v="6" actId="478"/>
          <ac:inkMkLst>
            <pc:docMk/>
            <pc:sldMk cId="3034524218" sldId="268"/>
            <ac:inkMk id="4" creationId="{C024A877-6D92-C26A-12C5-294C97998F01}"/>
          </ac:inkMkLst>
        </pc:inkChg>
      </pc:sldChg>
      <pc:sldChg chg="delSp mod">
        <pc:chgData name="Tyler Wiederich" userId="3f382493-832e-4d37-bfa6-7ce500c57231" providerId="ADAL" clId="{FF29680B-27E0-5C5A-84D7-A0528DB0D11D}" dt="2026-10-14T14:01:39.820" v="14" actId="478"/>
        <pc:sldMkLst>
          <pc:docMk/>
          <pc:sldMk cId="3857766491" sldId="269"/>
        </pc:sldMkLst>
        <pc:inkChg chg="del">
          <ac:chgData name="Tyler Wiederich" userId="3f382493-832e-4d37-bfa6-7ce500c57231" providerId="ADAL" clId="{FF29680B-27E0-5C5A-84D7-A0528DB0D11D}" dt="2026-10-14T14:01:39.820" v="14" actId="478"/>
          <ac:inkMkLst>
            <pc:docMk/>
            <pc:sldMk cId="3857766491" sldId="269"/>
            <ac:inkMk id="4" creationId="{4575B3CD-47BD-51CB-1C40-A8F874D9C9F1}"/>
          </ac:inkMkLst>
        </pc:inkChg>
      </pc:sldChg>
      <pc:sldChg chg="delSp mod">
        <pc:chgData name="Tyler Wiederich" userId="3f382493-832e-4d37-bfa6-7ce500c57231" providerId="ADAL" clId="{FF29680B-27E0-5C5A-84D7-A0528DB0D11D}" dt="2026-10-14T14:01:21.773" v="7" actId="478"/>
        <pc:sldMkLst>
          <pc:docMk/>
          <pc:sldMk cId="1696349409" sldId="272"/>
        </pc:sldMkLst>
        <pc:inkChg chg="del">
          <ac:chgData name="Tyler Wiederich" userId="3f382493-832e-4d37-bfa6-7ce500c57231" providerId="ADAL" clId="{FF29680B-27E0-5C5A-84D7-A0528DB0D11D}" dt="2026-10-14T14:01:21.773" v="7" actId="478"/>
          <ac:inkMkLst>
            <pc:docMk/>
            <pc:sldMk cId="1696349409" sldId="272"/>
            <ac:inkMk id="4" creationId="{6BCD7EF6-B291-A2E1-0E00-4142A0409B9B}"/>
          </ac:inkMkLst>
        </pc:inkChg>
      </pc:sldChg>
      <pc:sldChg chg="delSp mod">
        <pc:chgData name="Tyler Wiederich" userId="3f382493-832e-4d37-bfa6-7ce500c57231" providerId="ADAL" clId="{FF29680B-27E0-5C5A-84D7-A0528DB0D11D}" dt="2026-10-14T14:01:26.884" v="9" actId="478"/>
        <pc:sldMkLst>
          <pc:docMk/>
          <pc:sldMk cId="4101731910" sldId="273"/>
        </pc:sldMkLst>
        <pc:inkChg chg="del">
          <ac:chgData name="Tyler Wiederich" userId="3f382493-832e-4d37-bfa6-7ce500c57231" providerId="ADAL" clId="{FF29680B-27E0-5C5A-84D7-A0528DB0D11D}" dt="2026-10-14T14:01:26.884" v="9" actId="478"/>
          <ac:inkMkLst>
            <pc:docMk/>
            <pc:sldMk cId="4101731910" sldId="273"/>
            <ac:inkMk id="4" creationId="{88209588-1D02-A769-D0D1-1A6168E7E905}"/>
          </ac:inkMkLst>
        </pc:inkChg>
      </pc:sldChg>
      <pc:sldChg chg="delSp mod">
        <pc:chgData name="Tyler Wiederich" userId="3f382493-832e-4d37-bfa6-7ce500c57231" providerId="ADAL" clId="{FF29680B-27E0-5C5A-84D7-A0528DB0D11D}" dt="2026-10-14T14:01:24.965" v="8" actId="478"/>
        <pc:sldMkLst>
          <pc:docMk/>
          <pc:sldMk cId="459731518" sldId="274"/>
        </pc:sldMkLst>
        <pc:inkChg chg="del">
          <ac:chgData name="Tyler Wiederich" userId="3f382493-832e-4d37-bfa6-7ce500c57231" providerId="ADAL" clId="{FF29680B-27E0-5C5A-84D7-A0528DB0D11D}" dt="2026-10-14T14:01:24.965" v="8" actId="478"/>
          <ac:inkMkLst>
            <pc:docMk/>
            <pc:sldMk cId="459731518" sldId="274"/>
            <ac:inkMk id="4" creationId="{CA0AF18F-921B-6E9C-E2FA-DD17497E85A1}"/>
          </ac:inkMkLst>
        </pc:inkChg>
      </pc:sldChg>
      <pc:sldChg chg="delSp mod">
        <pc:chgData name="Tyler Wiederich" userId="3f382493-832e-4d37-bfa6-7ce500c57231" providerId="ADAL" clId="{FF29680B-27E0-5C5A-84D7-A0528DB0D11D}" dt="2026-10-14T14:01:36.654" v="13" actId="478"/>
        <pc:sldMkLst>
          <pc:docMk/>
          <pc:sldMk cId="462835704" sldId="275"/>
        </pc:sldMkLst>
        <pc:inkChg chg="del">
          <ac:chgData name="Tyler Wiederich" userId="3f382493-832e-4d37-bfa6-7ce500c57231" providerId="ADAL" clId="{FF29680B-27E0-5C5A-84D7-A0528DB0D11D}" dt="2026-10-14T14:01:36.654" v="13" actId="478"/>
          <ac:inkMkLst>
            <pc:docMk/>
            <pc:sldMk cId="462835704" sldId="275"/>
            <ac:inkMk id="5" creationId="{430D4DEE-EC43-2F75-B7AB-139CC4EF81BD}"/>
          </ac:inkMkLst>
        </pc:inkChg>
      </pc:sldChg>
      <pc:sldChg chg="delSp mod">
        <pc:chgData name="Tyler Wiederich" userId="3f382493-832e-4d37-bfa6-7ce500c57231" providerId="ADAL" clId="{FF29680B-27E0-5C5A-84D7-A0528DB0D11D}" dt="2026-10-14T14:01:42.548" v="15" actId="478"/>
        <pc:sldMkLst>
          <pc:docMk/>
          <pc:sldMk cId="22449280" sldId="277"/>
        </pc:sldMkLst>
        <pc:inkChg chg="del">
          <ac:chgData name="Tyler Wiederich" userId="3f382493-832e-4d37-bfa6-7ce500c57231" providerId="ADAL" clId="{FF29680B-27E0-5C5A-84D7-A0528DB0D11D}" dt="2026-10-14T14:01:42.548" v="15" actId="478"/>
          <ac:inkMkLst>
            <pc:docMk/>
            <pc:sldMk cId="22449280" sldId="277"/>
            <ac:inkMk id="4" creationId="{53217C37-AB60-8F7B-9B4F-0122B36A55F2}"/>
          </ac:inkMkLst>
        </pc:inkChg>
      </pc:sldChg>
      <pc:sldChg chg="delSp mod">
        <pc:chgData name="Tyler Wiederich" userId="3f382493-832e-4d37-bfa6-7ce500c57231" providerId="ADAL" clId="{FF29680B-27E0-5C5A-84D7-A0528DB0D11D}" dt="2026-10-14T14:01:34.874" v="12" actId="478"/>
        <pc:sldMkLst>
          <pc:docMk/>
          <pc:sldMk cId="2269963303" sldId="278"/>
        </pc:sldMkLst>
        <pc:inkChg chg="del">
          <ac:chgData name="Tyler Wiederich" userId="3f382493-832e-4d37-bfa6-7ce500c57231" providerId="ADAL" clId="{FF29680B-27E0-5C5A-84D7-A0528DB0D11D}" dt="2026-10-14T14:01:34.874" v="12" actId="478"/>
          <ac:inkMkLst>
            <pc:docMk/>
            <pc:sldMk cId="2269963303" sldId="278"/>
            <ac:inkMk id="5" creationId="{C732F467-46CB-E5E5-EBE9-2ED0EEE6BEDA}"/>
          </ac:inkMkLst>
        </pc:inkChg>
      </pc:sldChg>
      <pc:sldChg chg="delSp mod">
        <pc:chgData name="Tyler Wiederich" userId="3f382493-832e-4d37-bfa6-7ce500c57231" providerId="ADAL" clId="{FF29680B-27E0-5C5A-84D7-A0528DB0D11D}" dt="2026-10-14T14:01:30.103" v="10" actId="478"/>
        <pc:sldMkLst>
          <pc:docMk/>
          <pc:sldMk cId="514173725" sldId="279"/>
        </pc:sldMkLst>
        <pc:inkChg chg="del">
          <ac:chgData name="Tyler Wiederich" userId="3f382493-832e-4d37-bfa6-7ce500c57231" providerId="ADAL" clId="{FF29680B-27E0-5C5A-84D7-A0528DB0D11D}" dt="2026-10-14T14:01:30.103" v="10" actId="478"/>
          <ac:inkMkLst>
            <pc:docMk/>
            <pc:sldMk cId="514173725" sldId="279"/>
            <ac:inkMk id="3" creationId="{A984D22A-6525-3516-B64D-CE15141A91D4}"/>
          </ac:inkMkLst>
        </pc:inkChg>
      </pc:sldChg>
      <pc:sldChg chg="delSp mod">
        <pc:chgData name="Tyler Wiederich" userId="3f382493-832e-4d37-bfa6-7ce500c57231" providerId="ADAL" clId="{FF29680B-27E0-5C5A-84D7-A0528DB0D11D}" dt="2026-10-14T14:01:32.273" v="11" actId="478"/>
        <pc:sldMkLst>
          <pc:docMk/>
          <pc:sldMk cId="3913828097" sldId="280"/>
        </pc:sldMkLst>
        <pc:inkChg chg="del">
          <ac:chgData name="Tyler Wiederich" userId="3f382493-832e-4d37-bfa6-7ce500c57231" providerId="ADAL" clId="{FF29680B-27E0-5C5A-84D7-A0528DB0D11D}" dt="2026-10-14T14:01:32.273" v="11" actId="478"/>
          <ac:inkMkLst>
            <pc:docMk/>
            <pc:sldMk cId="3913828097" sldId="280"/>
            <ac:inkMk id="3" creationId="{78F6F82F-75C6-F206-1D26-962589BEDCDD}"/>
          </ac:inkMkLst>
        </pc:inkChg>
      </pc:sldChg>
      <pc:sldChg chg="delSp mod">
        <pc:chgData name="Tyler Wiederich" userId="3f382493-832e-4d37-bfa6-7ce500c57231" providerId="ADAL" clId="{FF29680B-27E0-5C5A-84D7-A0528DB0D11D}" dt="2026-10-14T14:01:47.349" v="17" actId="478"/>
        <pc:sldMkLst>
          <pc:docMk/>
          <pc:sldMk cId="2598993851" sldId="281"/>
        </pc:sldMkLst>
        <pc:inkChg chg="del">
          <ac:chgData name="Tyler Wiederich" userId="3f382493-832e-4d37-bfa6-7ce500c57231" providerId="ADAL" clId="{FF29680B-27E0-5C5A-84D7-A0528DB0D11D}" dt="2026-10-14T14:01:47.349" v="17" actId="478"/>
          <ac:inkMkLst>
            <pc:docMk/>
            <pc:sldMk cId="2598993851" sldId="281"/>
            <ac:inkMk id="4" creationId="{58F8E1A0-E2A8-8B01-2F6B-3CFC285EBE7C}"/>
          </ac:inkMkLst>
        </pc:inkChg>
      </pc:sldChg>
      <pc:sldChg chg="delSp mod">
        <pc:chgData name="Tyler Wiederich" userId="3f382493-832e-4d37-bfa6-7ce500c57231" providerId="ADAL" clId="{FF29680B-27E0-5C5A-84D7-A0528DB0D11D}" dt="2026-10-14T14:01:49.788" v="18" actId="478"/>
        <pc:sldMkLst>
          <pc:docMk/>
          <pc:sldMk cId="1798393341" sldId="282"/>
        </pc:sldMkLst>
        <pc:inkChg chg="del">
          <ac:chgData name="Tyler Wiederich" userId="3f382493-832e-4d37-bfa6-7ce500c57231" providerId="ADAL" clId="{FF29680B-27E0-5C5A-84D7-A0528DB0D11D}" dt="2026-10-14T14:01:49.788" v="18" actId="478"/>
          <ac:inkMkLst>
            <pc:docMk/>
            <pc:sldMk cId="1798393341" sldId="282"/>
            <ac:inkMk id="5" creationId="{F296934C-CADA-8843-1478-3BB0F027AB3A}"/>
          </ac:inkMkLst>
        </pc:inkChg>
      </pc:sldChg>
      <pc:sldChg chg="delSp mod">
        <pc:chgData name="Tyler Wiederich" userId="3f382493-832e-4d37-bfa6-7ce500c57231" providerId="ADAL" clId="{FF29680B-27E0-5C5A-84D7-A0528DB0D11D}" dt="2026-10-14T14:01:51.911" v="19" actId="478"/>
        <pc:sldMkLst>
          <pc:docMk/>
          <pc:sldMk cId="3499266161" sldId="283"/>
        </pc:sldMkLst>
        <pc:inkChg chg="del">
          <ac:chgData name="Tyler Wiederich" userId="3f382493-832e-4d37-bfa6-7ce500c57231" providerId="ADAL" clId="{FF29680B-27E0-5C5A-84D7-A0528DB0D11D}" dt="2026-10-14T14:01:51.911" v="19" actId="478"/>
          <ac:inkMkLst>
            <pc:docMk/>
            <pc:sldMk cId="3499266161" sldId="283"/>
            <ac:inkMk id="4" creationId="{015A26A7-B0F0-8A51-37E4-D56CC12339AC}"/>
          </ac:inkMkLst>
        </pc:inkChg>
      </pc:sldChg>
      <pc:sldChg chg="delSp mod">
        <pc:chgData name="Tyler Wiederich" userId="3f382493-832e-4d37-bfa6-7ce500c57231" providerId="ADAL" clId="{FF29680B-27E0-5C5A-84D7-A0528DB0D11D}" dt="2026-10-14T14:01:54.914" v="20" actId="478"/>
        <pc:sldMkLst>
          <pc:docMk/>
          <pc:sldMk cId="3875994886" sldId="284"/>
        </pc:sldMkLst>
        <pc:inkChg chg="del">
          <ac:chgData name="Tyler Wiederich" userId="3f382493-832e-4d37-bfa6-7ce500c57231" providerId="ADAL" clId="{FF29680B-27E0-5C5A-84D7-A0528DB0D11D}" dt="2026-10-14T14:01:54.914" v="20" actId="478"/>
          <ac:inkMkLst>
            <pc:docMk/>
            <pc:sldMk cId="3875994886" sldId="284"/>
            <ac:inkMk id="5" creationId="{7AB5CF2E-6573-B5B9-9829-79BBDC85701E}"/>
          </ac:inkMkLst>
        </pc:inkChg>
      </pc:sldChg>
      <pc:sldChg chg="delSp mod">
        <pc:chgData name="Tyler Wiederich" userId="3f382493-832e-4d37-bfa6-7ce500c57231" providerId="ADAL" clId="{FF29680B-27E0-5C5A-84D7-A0528DB0D11D}" dt="2026-10-14T14:01:58.792" v="22" actId="478"/>
        <pc:sldMkLst>
          <pc:docMk/>
          <pc:sldMk cId="3012899653" sldId="286"/>
        </pc:sldMkLst>
        <pc:inkChg chg="del">
          <ac:chgData name="Tyler Wiederich" userId="3f382493-832e-4d37-bfa6-7ce500c57231" providerId="ADAL" clId="{FF29680B-27E0-5C5A-84D7-A0528DB0D11D}" dt="2026-10-14T14:01:58.792" v="22" actId="478"/>
          <ac:inkMkLst>
            <pc:docMk/>
            <pc:sldMk cId="3012899653" sldId="286"/>
            <ac:inkMk id="3" creationId="{627AF593-8D9D-33E0-31DF-5104222D67B4}"/>
          </ac:inkMkLst>
        </pc:inkChg>
      </pc:sldChg>
      <pc:sldChg chg="delSp mod">
        <pc:chgData name="Tyler Wiederich" userId="3f382493-832e-4d37-bfa6-7ce500c57231" providerId="ADAL" clId="{FF29680B-27E0-5C5A-84D7-A0528DB0D11D}" dt="2026-10-14T14:02:00.838" v="23" actId="478"/>
        <pc:sldMkLst>
          <pc:docMk/>
          <pc:sldMk cId="2437496903" sldId="287"/>
        </pc:sldMkLst>
        <pc:inkChg chg="del">
          <ac:chgData name="Tyler Wiederich" userId="3f382493-832e-4d37-bfa6-7ce500c57231" providerId="ADAL" clId="{FF29680B-27E0-5C5A-84D7-A0528DB0D11D}" dt="2026-10-14T14:02:00.838" v="23" actId="478"/>
          <ac:inkMkLst>
            <pc:docMk/>
            <pc:sldMk cId="2437496903" sldId="287"/>
            <ac:inkMk id="4" creationId="{77B184D4-9346-C6EE-B52A-796BA03FEBF3}"/>
          </ac:inkMkLst>
        </pc:inkChg>
      </pc:sldChg>
      <pc:sldChg chg="delSp mod">
        <pc:chgData name="Tyler Wiederich" userId="3f382493-832e-4d37-bfa6-7ce500c57231" providerId="ADAL" clId="{FF29680B-27E0-5C5A-84D7-A0528DB0D11D}" dt="2026-10-14T14:02:15.610" v="30" actId="478"/>
        <pc:sldMkLst>
          <pc:docMk/>
          <pc:sldMk cId="540460034" sldId="288"/>
        </pc:sldMkLst>
        <pc:inkChg chg="del">
          <ac:chgData name="Tyler Wiederich" userId="3f382493-832e-4d37-bfa6-7ce500c57231" providerId="ADAL" clId="{FF29680B-27E0-5C5A-84D7-A0528DB0D11D}" dt="2026-10-14T14:02:14.727" v="29" actId="478"/>
          <ac:inkMkLst>
            <pc:docMk/>
            <pc:sldMk cId="540460034" sldId="288"/>
            <ac:inkMk id="4" creationId="{C4648B41-A7E2-5623-AAF8-7C3649FD178C}"/>
          </ac:inkMkLst>
        </pc:inkChg>
        <pc:inkChg chg="del">
          <ac:chgData name="Tyler Wiederich" userId="3f382493-832e-4d37-bfa6-7ce500c57231" providerId="ADAL" clId="{FF29680B-27E0-5C5A-84D7-A0528DB0D11D}" dt="2026-10-14T14:02:12.489" v="27" actId="478"/>
          <ac:inkMkLst>
            <pc:docMk/>
            <pc:sldMk cId="540460034" sldId="288"/>
            <ac:inkMk id="5" creationId="{2C8C7308-F461-A9A1-B808-5337277F19D0}"/>
          </ac:inkMkLst>
        </pc:inkChg>
        <pc:inkChg chg="del">
          <ac:chgData name="Tyler Wiederich" userId="3f382493-832e-4d37-bfa6-7ce500c57231" providerId="ADAL" clId="{FF29680B-27E0-5C5A-84D7-A0528DB0D11D}" dt="2026-10-14T14:02:13.839" v="28" actId="478"/>
          <ac:inkMkLst>
            <pc:docMk/>
            <pc:sldMk cId="540460034" sldId="288"/>
            <ac:inkMk id="6" creationId="{10FDFB43-4BA5-903D-1EBB-1FE84B522468}"/>
          </ac:inkMkLst>
        </pc:inkChg>
        <pc:inkChg chg="del">
          <ac:chgData name="Tyler Wiederich" userId="3f382493-832e-4d37-bfa6-7ce500c57231" providerId="ADAL" clId="{FF29680B-27E0-5C5A-84D7-A0528DB0D11D}" dt="2026-10-14T14:02:15.610" v="30" actId="478"/>
          <ac:inkMkLst>
            <pc:docMk/>
            <pc:sldMk cId="540460034" sldId="288"/>
            <ac:inkMk id="7" creationId="{3F72238A-5682-C212-A51D-3B19173454D1}"/>
          </ac:inkMkLst>
        </pc:inkChg>
        <pc:inkChg chg="del">
          <ac:chgData name="Tyler Wiederich" userId="3f382493-832e-4d37-bfa6-7ce500c57231" providerId="ADAL" clId="{FF29680B-27E0-5C5A-84D7-A0528DB0D11D}" dt="2026-10-14T14:02:09.864" v="26" actId="478"/>
          <ac:inkMkLst>
            <pc:docMk/>
            <pc:sldMk cId="540460034" sldId="288"/>
            <ac:inkMk id="8" creationId="{8A15F099-11CB-B8ED-2146-3B41AE43289A}"/>
          </ac:inkMkLst>
        </pc:inkChg>
      </pc:sldChg>
      <pc:sldChg chg="delSp mod">
        <pc:chgData name="Tyler Wiederich" userId="3f382493-832e-4d37-bfa6-7ce500c57231" providerId="ADAL" clId="{FF29680B-27E0-5C5A-84D7-A0528DB0D11D}" dt="2026-10-14T14:02:06.658" v="25" actId="478"/>
        <pc:sldMkLst>
          <pc:docMk/>
          <pc:sldMk cId="4183554570" sldId="289"/>
        </pc:sldMkLst>
        <pc:inkChg chg="del">
          <ac:chgData name="Tyler Wiederich" userId="3f382493-832e-4d37-bfa6-7ce500c57231" providerId="ADAL" clId="{FF29680B-27E0-5C5A-84D7-A0528DB0D11D}" dt="2026-10-14T14:02:06.658" v="25" actId="478"/>
          <ac:inkMkLst>
            <pc:docMk/>
            <pc:sldMk cId="4183554570" sldId="289"/>
            <ac:inkMk id="4" creationId="{1971D1D7-2A55-8E45-3501-8A5C1F32ED66}"/>
          </ac:inkMkLst>
        </pc:inkChg>
      </pc:sldChg>
      <pc:sldChg chg="delSp mod">
        <pc:chgData name="Tyler Wiederich" userId="3f382493-832e-4d37-bfa6-7ce500c57231" providerId="ADAL" clId="{FF29680B-27E0-5C5A-84D7-A0528DB0D11D}" dt="2026-10-14T14:02:19.078" v="32" actId="478"/>
        <pc:sldMkLst>
          <pc:docMk/>
          <pc:sldMk cId="1480715994" sldId="291"/>
        </pc:sldMkLst>
        <pc:inkChg chg="del">
          <ac:chgData name="Tyler Wiederich" userId="3f382493-832e-4d37-bfa6-7ce500c57231" providerId="ADAL" clId="{FF29680B-27E0-5C5A-84D7-A0528DB0D11D}" dt="2026-10-14T14:02:19.078" v="32" actId="478"/>
          <ac:inkMkLst>
            <pc:docMk/>
            <pc:sldMk cId="1480715994" sldId="291"/>
            <ac:inkMk id="4" creationId="{2D680CAA-D88E-1BC7-3AA5-2A6006BDE605}"/>
          </ac:inkMkLst>
        </pc:inkChg>
        <pc:inkChg chg="del">
          <ac:chgData name="Tyler Wiederich" userId="3f382493-832e-4d37-bfa6-7ce500c57231" providerId="ADAL" clId="{FF29680B-27E0-5C5A-84D7-A0528DB0D11D}" dt="2026-10-14T14:02:17.530" v="31" actId="478"/>
          <ac:inkMkLst>
            <pc:docMk/>
            <pc:sldMk cId="1480715994" sldId="291"/>
            <ac:inkMk id="5" creationId="{58B9D99C-4DDC-F600-14C8-B6A400BE03DD}"/>
          </ac:inkMkLst>
        </pc:inkChg>
      </pc:sldChg>
      <pc:sldChg chg="delSp mod">
        <pc:chgData name="Tyler Wiederich" userId="3f382493-832e-4d37-bfa6-7ce500c57231" providerId="ADAL" clId="{FF29680B-27E0-5C5A-84D7-A0528DB0D11D}" dt="2026-10-14T14:02:22.051" v="33" actId="478"/>
        <pc:sldMkLst>
          <pc:docMk/>
          <pc:sldMk cId="1478720199" sldId="292"/>
        </pc:sldMkLst>
        <pc:inkChg chg="del">
          <ac:chgData name="Tyler Wiederich" userId="3f382493-832e-4d37-bfa6-7ce500c57231" providerId="ADAL" clId="{FF29680B-27E0-5C5A-84D7-A0528DB0D11D}" dt="2026-10-14T14:02:22.051" v="33" actId="478"/>
          <ac:inkMkLst>
            <pc:docMk/>
            <pc:sldMk cId="1478720199" sldId="292"/>
            <ac:inkMk id="4" creationId="{E57652BB-5F07-BB94-5363-9107A4529B62}"/>
          </ac:inkMkLst>
        </pc:inkChg>
      </pc:sldChg>
      <pc:sldChg chg="delSp mod">
        <pc:chgData name="Tyler Wiederich" userId="3f382493-832e-4d37-bfa6-7ce500c57231" providerId="ADAL" clId="{FF29680B-27E0-5C5A-84D7-A0528DB0D11D}" dt="2026-10-14T14:02:33.016" v="36" actId="478"/>
        <pc:sldMkLst>
          <pc:docMk/>
          <pc:sldMk cId="2544851875" sldId="294"/>
        </pc:sldMkLst>
        <pc:inkChg chg="del">
          <ac:chgData name="Tyler Wiederich" userId="3f382493-832e-4d37-bfa6-7ce500c57231" providerId="ADAL" clId="{FF29680B-27E0-5C5A-84D7-A0528DB0D11D}" dt="2026-10-14T14:02:33.016" v="36" actId="478"/>
          <ac:inkMkLst>
            <pc:docMk/>
            <pc:sldMk cId="2544851875" sldId="294"/>
            <ac:inkMk id="4" creationId="{5FC1A372-FBB2-C820-5356-0DF4F1C5C34A}"/>
          </ac:inkMkLst>
        </pc:inkChg>
      </pc:sldChg>
      <pc:sldChg chg="delSp mod">
        <pc:chgData name="Tyler Wiederich" userId="3f382493-832e-4d37-bfa6-7ce500c57231" providerId="ADAL" clId="{FF29680B-27E0-5C5A-84D7-A0528DB0D11D}" dt="2026-10-14T14:02:28.787" v="35" actId="478"/>
        <pc:sldMkLst>
          <pc:docMk/>
          <pc:sldMk cId="2133055224" sldId="295"/>
        </pc:sldMkLst>
        <pc:inkChg chg="del">
          <ac:chgData name="Tyler Wiederich" userId="3f382493-832e-4d37-bfa6-7ce500c57231" providerId="ADAL" clId="{FF29680B-27E0-5C5A-84D7-A0528DB0D11D}" dt="2026-10-14T14:02:28.787" v="35" actId="478"/>
          <ac:inkMkLst>
            <pc:docMk/>
            <pc:sldMk cId="2133055224" sldId="295"/>
            <ac:inkMk id="4" creationId="{06B2A848-1C3C-D151-50B0-BD2D30E9A218}"/>
          </ac:inkMkLst>
        </pc:inkChg>
      </pc:sldChg>
      <pc:sldChg chg="delSp mod">
        <pc:chgData name="Tyler Wiederich" userId="3f382493-832e-4d37-bfa6-7ce500c57231" providerId="ADAL" clId="{FF29680B-27E0-5C5A-84D7-A0528DB0D11D}" dt="2026-10-14T14:02:35.605" v="37" actId="478"/>
        <pc:sldMkLst>
          <pc:docMk/>
          <pc:sldMk cId="1496449245" sldId="296"/>
        </pc:sldMkLst>
        <pc:inkChg chg="del">
          <ac:chgData name="Tyler Wiederich" userId="3f382493-832e-4d37-bfa6-7ce500c57231" providerId="ADAL" clId="{FF29680B-27E0-5C5A-84D7-A0528DB0D11D}" dt="2026-10-14T14:02:35.605" v="37" actId="478"/>
          <ac:inkMkLst>
            <pc:docMk/>
            <pc:sldMk cId="1496449245" sldId="296"/>
            <ac:inkMk id="5" creationId="{60D36084-9444-2715-DFE8-7078F41BEA08}"/>
          </ac:inkMkLst>
        </pc:inkChg>
      </pc:sldChg>
      <pc:sldChg chg="delSp mod">
        <pc:chgData name="Tyler Wiederich" userId="3f382493-832e-4d37-bfa6-7ce500c57231" providerId="ADAL" clId="{FF29680B-27E0-5C5A-84D7-A0528DB0D11D}" dt="2026-10-14T14:02:24.625" v="34" actId="478"/>
        <pc:sldMkLst>
          <pc:docMk/>
          <pc:sldMk cId="4009722658" sldId="297"/>
        </pc:sldMkLst>
        <pc:inkChg chg="del">
          <ac:chgData name="Tyler Wiederich" userId="3f382493-832e-4d37-bfa6-7ce500c57231" providerId="ADAL" clId="{FF29680B-27E0-5C5A-84D7-A0528DB0D11D}" dt="2026-10-14T14:02:24.625" v="34" actId="478"/>
          <ac:inkMkLst>
            <pc:docMk/>
            <pc:sldMk cId="4009722658" sldId="297"/>
            <ac:inkMk id="4" creationId="{138E2ADB-95A8-1940-ABCA-37A2B3CCA4F4}"/>
          </ac:inkMkLst>
        </pc:inkChg>
      </pc:sldChg>
      <pc:sldChg chg="delSp mod">
        <pc:chgData name="Tyler Wiederich" userId="3f382493-832e-4d37-bfa6-7ce500c57231" providerId="ADAL" clId="{FF29680B-27E0-5C5A-84D7-A0528DB0D11D}" dt="2026-10-14T14:02:37.478" v="38" actId="478"/>
        <pc:sldMkLst>
          <pc:docMk/>
          <pc:sldMk cId="3509661051" sldId="298"/>
        </pc:sldMkLst>
        <pc:inkChg chg="del">
          <ac:chgData name="Tyler Wiederich" userId="3f382493-832e-4d37-bfa6-7ce500c57231" providerId="ADAL" clId="{FF29680B-27E0-5C5A-84D7-A0528DB0D11D}" dt="2026-10-14T14:02:37.478" v="38" actId="478"/>
          <ac:inkMkLst>
            <pc:docMk/>
            <pc:sldMk cId="3509661051" sldId="298"/>
            <ac:inkMk id="4" creationId="{2C08959A-F08B-6CFF-FE4B-9823A5A99D93}"/>
          </ac:inkMkLst>
        </pc:inkChg>
      </pc:sldChg>
      <pc:sldChg chg="delSp mod">
        <pc:chgData name="Tyler Wiederich" userId="3f382493-832e-4d37-bfa6-7ce500c57231" providerId="ADAL" clId="{FF29680B-27E0-5C5A-84D7-A0528DB0D11D}" dt="2026-10-14T14:01:56.426" v="21" actId="478"/>
        <pc:sldMkLst>
          <pc:docMk/>
          <pc:sldMk cId="3224754352" sldId="299"/>
        </pc:sldMkLst>
        <pc:inkChg chg="del">
          <ac:chgData name="Tyler Wiederich" userId="3f382493-832e-4d37-bfa6-7ce500c57231" providerId="ADAL" clId="{FF29680B-27E0-5C5A-84D7-A0528DB0D11D}" dt="2026-10-14T14:01:56.426" v="21" actId="478"/>
          <ac:inkMkLst>
            <pc:docMk/>
            <pc:sldMk cId="3224754352" sldId="299"/>
            <ac:inkMk id="4" creationId="{D597A602-BD2F-9A70-FD4D-B4D85D348B88}"/>
          </ac:inkMkLst>
        </pc:inkChg>
      </pc:sldChg>
      <pc:sldChg chg="delSp mod">
        <pc:chgData name="Tyler Wiederich" userId="3f382493-832e-4d37-bfa6-7ce500c57231" providerId="ADAL" clId="{FF29680B-27E0-5C5A-84D7-A0528DB0D11D}" dt="2026-10-14T14:01:45.083" v="16" actId="478"/>
        <pc:sldMkLst>
          <pc:docMk/>
          <pc:sldMk cId="125598324" sldId="316"/>
        </pc:sldMkLst>
        <pc:inkChg chg="del">
          <ac:chgData name="Tyler Wiederich" userId="3f382493-832e-4d37-bfa6-7ce500c57231" providerId="ADAL" clId="{FF29680B-27E0-5C5A-84D7-A0528DB0D11D}" dt="2026-10-14T14:01:45.083" v="16" actId="478"/>
          <ac:inkMkLst>
            <pc:docMk/>
            <pc:sldMk cId="125598324" sldId="316"/>
            <ac:inkMk id="4" creationId="{398F7C80-4841-A718-F264-34C768BF80FA}"/>
          </ac:inkMkLst>
        </pc:inkChg>
      </pc:sldChg>
      <pc:sldChg chg="delSp mod">
        <pc:chgData name="Tyler Wiederich" userId="3f382493-832e-4d37-bfa6-7ce500c57231" providerId="ADAL" clId="{FF29680B-27E0-5C5A-84D7-A0528DB0D11D}" dt="2026-10-14T14:02:03.713" v="24" actId="478"/>
        <pc:sldMkLst>
          <pc:docMk/>
          <pc:sldMk cId="1508907863" sldId="317"/>
        </pc:sldMkLst>
        <pc:inkChg chg="del">
          <ac:chgData name="Tyler Wiederich" userId="3f382493-832e-4d37-bfa6-7ce500c57231" providerId="ADAL" clId="{FF29680B-27E0-5C5A-84D7-A0528DB0D11D}" dt="2026-10-14T14:02:03.713" v="24" actId="478"/>
          <ac:inkMkLst>
            <pc:docMk/>
            <pc:sldMk cId="1508907863" sldId="317"/>
            <ac:inkMk id="4" creationId="{EC976026-7A73-2C5A-C383-B7E0BB4D6873}"/>
          </ac:inkMkLst>
        </pc:ink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6189DF-8E64-46C8-A14C-2AEBE0D2BC07}" type="datetimeFigureOut">
              <a:rPr lang="en-US" smtClean="0"/>
              <a:t>10/14/26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918E91-7C4F-446B-AC72-938230F6E4D3}" type="slidenum">
              <a:rPr lang="en-US" smtClean="0"/>
              <a:t>‹#›</a:t>
            </a:fld>
            <a:endParaRPr lang="en-US"/>
          </a:p>
        </p:txBody>
      </p:sp>
    </p:spTree>
    <p:extLst>
      <p:ext uri="{BB962C8B-B14F-4D97-AF65-F5344CB8AC3E}">
        <p14:creationId xmlns:p14="http://schemas.microsoft.com/office/powerpoint/2010/main" val="4492302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992A8DE-0164-47FF-9E5D-3CA1B021B11F}" type="slidenum">
              <a:rPr lang="en-US" smtClean="0"/>
              <a:t>3</a:t>
            </a:fld>
            <a:endParaRPr lang="en-US"/>
          </a:p>
        </p:txBody>
      </p:sp>
    </p:spTree>
    <p:extLst>
      <p:ext uri="{BB962C8B-B14F-4D97-AF65-F5344CB8AC3E}">
        <p14:creationId xmlns:p14="http://schemas.microsoft.com/office/powerpoint/2010/main" val="20580726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CA63319-B1C3-41B8-BEEA-67A770A05D91}" type="slidenum">
              <a:rPr lang="en-US" smtClean="0"/>
              <a:t>4</a:t>
            </a:fld>
            <a:endParaRPr lang="en-US"/>
          </a:p>
        </p:txBody>
      </p:sp>
    </p:spTree>
    <p:extLst>
      <p:ext uri="{BB962C8B-B14F-4D97-AF65-F5344CB8AC3E}">
        <p14:creationId xmlns:p14="http://schemas.microsoft.com/office/powerpoint/2010/main" val="23385404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992A8DE-0164-47FF-9E5D-3CA1B021B11F}" type="slidenum">
              <a:rPr lang="en-US" smtClean="0"/>
              <a:t>5</a:t>
            </a:fld>
            <a:endParaRPr lang="en-US"/>
          </a:p>
        </p:txBody>
      </p:sp>
    </p:spTree>
    <p:extLst>
      <p:ext uri="{BB962C8B-B14F-4D97-AF65-F5344CB8AC3E}">
        <p14:creationId xmlns:p14="http://schemas.microsoft.com/office/powerpoint/2010/main" val="42611056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CA63319-B1C3-41B8-BEEA-67A770A05D91}" type="slidenum">
              <a:rPr lang="en-US" smtClean="0"/>
              <a:t>6</a:t>
            </a:fld>
            <a:endParaRPr lang="en-US"/>
          </a:p>
        </p:txBody>
      </p:sp>
    </p:spTree>
    <p:extLst>
      <p:ext uri="{BB962C8B-B14F-4D97-AF65-F5344CB8AC3E}">
        <p14:creationId xmlns:p14="http://schemas.microsoft.com/office/powerpoint/2010/main" val="41927718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10/14/26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Content Placeholder 2"/>
          <p:cNvSpPr>
            <a:spLocks noGrp="1"/>
          </p:cNvSpPr>
          <p:nvPr>
            <p:ph idx="1"/>
          </p:nvPr>
        </p:nvSpPr>
        <p:spPr>
          <a:xfrm>
            <a:off x="581192" y="2180496"/>
            <a:ext cx="11029615" cy="367830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10/14/26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10/14/26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10/14/26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10/14/26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10/14/26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10/14/26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10/14/26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10/14/26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10/14/26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onlinestatbook.com/stat_sim/sampling_dist/index.html"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Chapter 8</a:t>
            </a:r>
          </a:p>
        </p:txBody>
      </p:sp>
      <p:sp>
        <p:nvSpPr>
          <p:cNvPr id="3" name="Subtitle 2"/>
          <p:cNvSpPr>
            <a:spLocks noGrp="1"/>
          </p:cNvSpPr>
          <p:nvPr>
            <p:ph type="subTitle" idx="1"/>
          </p:nvPr>
        </p:nvSpPr>
        <p:spPr/>
        <p:txBody>
          <a:bodyPr/>
          <a:lstStyle/>
          <a:p>
            <a:r>
              <a:rPr lang="en-US"/>
              <a:t>Fundamental Sampling distributions and data descriptions</a:t>
            </a:r>
          </a:p>
        </p:txBody>
      </p:sp>
      <p:sp>
        <p:nvSpPr>
          <p:cNvPr id="4" name="Subtitle 2"/>
          <p:cNvSpPr txBox="1">
            <a:spLocks/>
          </p:cNvSpPr>
          <p:nvPr/>
        </p:nvSpPr>
        <p:spPr>
          <a:xfrm>
            <a:off x="581194" y="3183554"/>
            <a:ext cx="10993546" cy="2896404"/>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r>
              <a:rPr lang="en-US">
                <a:solidFill>
                  <a:schemeClr val="tx1"/>
                </a:solidFill>
              </a:rPr>
              <a:t>Random Sampling</a:t>
            </a:r>
          </a:p>
          <a:p>
            <a:r>
              <a:rPr lang="en-US">
                <a:solidFill>
                  <a:schemeClr val="tx1"/>
                </a:solidFill>
              </a:rPr>
              <a:t>Some Important Statistics</a:t>
            </a:r>
          </a:p>
          <a:p>
            <a:r>
              <a:rPr lang="en-US">
                <a:solidFill>
                  <a:schemeClr val="tx1"/>
                </a:solidFill>
              </a:rPr>
              <a:t>Sampling Distributions of Mean</a:t>
            </a:r>
          </a:p>
          <a:p>
            <a:r>
              <a:rPr lang="en-US">
                <a:solidFill>
                  <a:schemeClr val="tx1"/>
                </a:solidFill>
              </a:rPr>
              <a:t>Sampling Distributions of Variance</a:t>
            </a:r>
          </a:p>
          <a:p>
            <a:r>
              <a:rPr lang="en-US">
                <a:solidFill>
                  <a:schemeClr val="tx1"/>
                </a:solidFill>
              </a:rPr>
              <a:t>T-Distribution</a:t>
            </a:r>
          </a:p>
        </p:txBody>
      </p:sp>
    </p:spTree>
    <p:extLst>
      <p:ext uri="{BB962C8B-B14F-4D97-AF65-F5344CB8AC3E}">
        <p14:creationId xmlns:p14="http://schemas.microsoft.com/office/powerpoint/2010/main" val="12983093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Random sampling</a:t>
            </a:r>
          </a:p>
        </p:txBody>
      </p:sp>
    </p:spTree>
    <p:extLst>
      <p:ext uri="{BB962C8B-B14F-4D97-AF65-F5344CB8AC3E}">
        <p14:creationId xmlns:p14="http://schemas.microsoft.com/office/powerpoint/2010/main" val="3467477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l"/>
            <a:r>
              <a:rPr lang="en-US"/>
              <a:t>Recall: statistical inference</a:t>
            </a:r>
          </a:p>
        </p:txBody>
      </p:sp>
      <p:sp>
        <p:nvSpPr>
          <p:cNvPr id="6" name="Cloud 5"/>
          <p:cNvSpPr/>
          <p:nvPr/>
        </p:nvSpPr>
        <p:spPr>
          <a:xfrm>
            <a:off x="2616199" y="2320631"/>
            <a:ext cx="3200400" cy="2133600"/>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Population</a:t>
            </a:r>
          </a:p>
        </p:txBody>
      </p:sp>
      <p:sp>
        <p:nvSpPr>
          <p:cNvPr id="7" name="Cloud 6"/>
          <p:cNvSpPr/>
          <p:nvPr/>
        </p:nvSpPr>
        <p:spPr>
          <a:xfrm>
            <a:off x="7188199" y="4454231"/>
            <a:ext cx="1828800" cy="1371600"/>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Sample</a:t>
            </a:r>
          </a:p>
        </p:txBody>
      </p:sp>
      <p:cxnSp>
        <p:nvCxnSpPr>
          <p:cNvPr id="9" name="Curved Connector 8"/>
          <p:cNvCxnSpPr>
            <a:stCxn id="6" idx="0"/>
            <a:endCxn id="7" idx="3"/>
          </p:cNvCxnSpPr>
          <p:nvPr/>
        </p:nvCxnSpPr>
        <p:spPr>
          <a:xfrm>
            <a:off x="5813933" y="3387432"/>
            <a:ext cx="2288667" cy="1145223"/>
          </a:xfrm>
          <a:prstGeom prst="curvedConnector2">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6958265" y="3616032"/>
            <a:ext cx="1314784" cy="646331"/>
          </a:xfrm>
          <a:prstGeom prst="rect">
            <a:avLst/>
          </a:prstGeom>
          <a:solidFill>
            <a:schemeClr val="bg1"/>
          </a:solidFill>
          <a:ln>
            <a:solidFill>
              <a:schemeClr val="bg1"/>
            </a:solidFill>
          </a:ln>
        </p:spPr>
        <p:txBody>
          <a:bodyPr wrap="none" rtlCol="0">
            <a:spAutoFit/>
          </a:bodyPr>
          <a:lstStyle/>
          <a:p>
            <a:r>
              <a:rPr lang="en-US"/>
              <a:t>Collect Data</a:t>
            </a:r>
          </a:p>
          <a:p>
            <a:r>
              <a:rPr lang="en-US"/>
              <a:t>(Randomly)</a:t>
            </a:r>
          </a:p>
        </p:txBody>
      </p:sp>
      <p:cxnSp>
        <p:nvCxnSpPr>
          <p:cNvPr id="12" name="Curved Connector 11"/>
          <p:cNvCxnSpPr>
            <a:stCxn id="7" idx="1"/>
            <a:endCxn id="6" idx="1"/>
          </p:cNvCxnSpPr>
          <p:nvPr/>
        </p:nvCxnSpPr>
        <p:spPr>
          <a:xfrm rot="5400000" flipH="1">
            <a:off x="5473293" y="3195065"/>
            <a:ext cx="1372412" cy="3886200"/>
          </a:xfrm>
          <a:prstGeom prst="curvedConnector3">
            <a:avLst>
              <a:gd name="adj1" fmla="val -16763"/>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3530600" y="5063832"/>
            <a:ext cx="3093091" cy="646331"/>
          </a:xfrm>
          <a:prstGeom prst="rect">
            <a:avLst/>
          </a:prstGeom>
          <a:solidFill>
            <a:schemeClr val="bg1"/>
          </a:solidFill>
        </p:spPr>
        <p:txBody>
          <a:bodyPr wrap="none" rtlCol="0">
            <a:spAutoFit/>
          </a:bodyPr>
          <a:lstStyle/>
          <a:p>
            <a:r>
              <a:rPr lang="en-US"/>
              <a:t>Make guess about a parameter</a:t>
            </a:r>
          </a:p>
          <a:p>
            <a:r>
              <a:rPr lang="en-US"/>
              <a:t>(Statistical Inference)</a:t>
            </a:r>
          </a:p>
        </p:txBody>
      </p:sp>
    </p:spTree>
    <p:extLst>
      <p:ext uri="{BB962C8B-B14F-4D97-AF65-F5344CB8AC3E}">
        <p14:creationId xmlns:p14="http://schemas.microsoft.com/office/powerpoint/2010/main" val="1824056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735711"/>
            <a:ext cx="10515600" cy="892750"/>
          </a:xfrm>
        </p:spPr>
        <p:txBody>
          <a:bodyPr/>
          <a:lstStyle/>
          <a:p>
            <a:r>
              <a:rPr lang="en-US"/>
              <a:t>Example</a:t>
            </a:r>
          </a:p>
        </p:txBody>
      </p:sp>
      <p:sp>
        <p:nvSpPr>
          <p:cNvPr id="6" name="Cloud 5"/>
          <p:cNvSpPr/>
          <p:nvPr/>
        </p:nvSpPr>
        <p:spPr>
          <a:xfrm>
            <a:off x="4224663" y="3630206"/>
            <a:ext cx="5880175" cy="2991659"/>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Population: All Americans</a:t>
            </a:r>
          </a:p>
        </p:txBody>
      </p:sp>
      <p:sp>
        <p:nvSpPr>
          <p:cNvPr id="7" name="Cloud 6"/>
          <p:cNvSpPr/>
          <p:nvPr/>
        </p:nvSpPr>
        <p:spPr>
          <a:xfrm>
            <a:off x="1970129" y="3860511"/>
            <a:ext cx="2078183" cy="1109910"/>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3,930 Americans</a:t>
            </a:r>
          </a:p>
        </p:txBody>
      </p:sp>
      <p:sp>
        <p:nvSpPr>
          <p:cNvPr id="8" name="Curved Down Arrow 7"/>
          <p:cNvSpPr/>
          <p:nvPr/>
        </p:nvSpPr>
        <p:spPr>
          <a:xfrm flipH="1">
            <a:off x="2837024" y="3384758"/>
            <a:ext cx="2308367" cy="460610"/>
          </a:xfrm>
          <a:prstGeom prst="curvedDownArrow">
            <a:avLst>
              <a:gd name="adj1" fmla="val 25000"/>
              <a:gd name="adj2" fmla="val 64804"/>
              <a:gd name="adj3" fmla="val 3768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Curved Down Arrow 8"/>
          <p:cNvSpPr/>
          <p:nvPr/>
        </p:nvSpPr>
        <p:spPr>
          <a:xfrm rot="1050032" flipV="1">
            <a:off x="2522819" y="5223640"/>
            <a:ext cx="1658571" cy="337065"/>
          </a:xfrm>
          <a:prstGeom prst="curvedDownArrow">
            <a:avLst>
              <a:gd name="adj1" fmla="val 25000"/>
              <a:gd name="adj2" fmla="val 64804"/>
              <a:gd name="adj3" fmla="val 3768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TextBox 4"/>
          <p:cNvSpPr txBox="1"/>
          <p:nvPr/>
        </p:nvSpPr>
        <p:spPr>
          <a:xfrm>
            <a:off x="943876" y="4148051"/>
            <a:ext cx="938077" cy="369332"/>
          </a:xfrm>
          <a:prstGeom prst="rect">
            <a:avLst/>
          </a:prstGeom>
          <a:noFill/>
        </p:spPr>
        <p:txBody>
          <a:bodyPr wrap="none" rtlCol="0">
            <a:spAutoFit/>
          </a:bodyPr>
          <a:lstStyle/>
          <a:p>
            <a:r>
              <a:rPr lang="en-US"/>
              <a:t>Sample:</a:t>
            </a:r>
          </a:p>
        </p:txBody>
      </p:sp>
      <p:sp>
        <p:nvSpPr>
          <p:cNvPr id="11" name="TextBox 10"/>
          <p:cNvSpPr txBox="1"/>
          <p:nvPr/>
        </p:nvSpPr>
        <p:spPr>
          <a:xfrm>
            <a:off x="2436242" y="5571831"/>
            <a:ext cx="1145955" cy="369332"/>
          </a:xfrm>
          <a:prstGeom prst="rect">
            <a:avLst/>
          </a:prstGeom>
          <a:noFill/>
        </p:spPr>
        <p:txBody>
          <a:bodyPr wrap="none" rtlCol="0">
            <a:spAutoFit/>
          </a:bodyPr>
          <a:lstStyle/>
          <a:p>
            <a:r>
              <a:rPr lang="en-US"/>
              <a:t>Inference!</a:t>
            </a:r>
          </a:p>
        </p:txBody>
      </p:sp>
      <p:sp>
        <p:nvSpPr>
          <p:cNvPr id="12" name="Content Placeholder 2"/>
          <p:cNvSpPr>
            <a:spLocks noGrp="1"/>
          </p:cNvSpPr>
          <p:nvPr>
            <p:ph idx="1"/>
          </p:nvPr>
        </p:nvSpPr>
        <p:spPr>
          <a:xfrm>
            <a:off x="581192" y="1966347"/>
            <a:ext cx="11029615" cy="1541135"/>
          </a:xfrm>
        </p:spPr>
        <p:txBody>
          <a:bodyPr/>
          <a:lstStyle/>
          <a:p>
            <a:pPr>
              <a:buFont typeface="Wingdings" panose="05000000000000000000" pitchFamily="2" charset="2"/>
              <a:buChar char="§"/>
            </a:pPr>
            <a:r>
              <a:rPr lang="en-US"/>
              <a:t>A Pew Research article investigated Americans’ attitudes towards guns.</a:t>
            </a:r>
          </a:p>
          <a:p>
            <a:pPr>
              <a:buFont typeface="Wingdings" panose="05000000000000000000" pitchFamily="2" charset="2"/>
              <a:buChar char="§"/>
            </a:pPr>
            <a:r>
              <a:rPr lang="en-US"/>
              <a:t>They conducted a survey of 3,930 Americans and asked each person whether or not they owned a gun.</a:t>
            </a:r>
          </a:p>
          <a:p>
            <a:pPr marL="0" indent="0">
              <a:buNone/>
            </a:pPr>
            <a:endParaRPr lang="en-US"/>
          </a:p>
        </p:txBody>
      </p:sp>
    </p:spTree>
    <p:extLst>
      <p:ext uri="{BB962C8B-B14F-4D97-AF65-F5344CB8AC3E}">
        <p14:creationId xmlns:p14="http://schemas.microsoft.com/office/powerpoint/2010/main" val="3323374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6201"/>
            <a:ext cx="10515600" cy="4351338"/>
          </a:xfrm>
        </p:spPr>
        <p:txBody>
          <a:bodyPr/>
          <a:lstStyle/>
          <a:p>
            <a:pPr marL="0" indent="0">
              <a:buNone/>
            </a:pPr>
            <a:r>
              <a:rPr lang="en-US" sz="4400">
                <a:solidFill>
                  <a:srgbClr val="002060"/>
                </a:solidFill>
              </a:rPr>
              <a:t>P</a:t>
            </a:r>
            <a:r>
              <a:rPr lang="en-US"/>
              <a:t>arameter</a:t>
            </a:r>
          </a:p>
          <a:p>
            <a:pPr lvl="1"/>
            <a:r>
              <a:rPr lang="en-US"/>
              <a:t>Number describing a </a:t>
            </a:r>
            <a:r>
              <a:rPr lang="en-US" sz="4200">
                <a:solidFill>
                  <a:srgbClr val="002060"/>
                </a:solidFill>
              </a:rPr>
              <a:t>P</a:t>
            </a:r>
            <a:r>
              <a:rPr lang="en-US"/>
              <a:t>opulation</a:t>
            </a:r>
          </a:p>
          <a:p>
            <a:pPr lvl="1"/>
            <a:r>
              <a:rPr lang="en-US"/>
              <a:t>Fixed, unknown</a:t>
            </a:r>
          </a:p>
          <a:p>
            <a:pPr marL="0" indent="0">
              <a:buNone/>
            </a:pPr>
            <a:r>
              <a:rPr lang="en-US" sz="4400">
                <a:solidFill>
                  <a:schemeClr val="accent1">
                    <a:lumMod val="75000"/>
                  </a:schemeClr>
                </a:solidFill>
              </a:rPr>
              <a:t>S</a:t>
            </a:r>
            <a:r>
              <a:rPr lang="en-US"/>
              <a:t>tatistic</a:t>
            </a:r>
          </a:p>
          <a:p>
            <a:pPr lvl="1"/>
            <a:r>
              <a:rPr lang="en-US"/>
              <a:t>Number describing a </a:t>
            </a:r>
            <a:r>
              <a:rPr lang="en-US" sz="4400">
                <a:solidFill>
                  <a:schemeClr val="accent1">
                    <a:lumMod val="75000"/>
                  </a:schemeClr>
                </a:solidFill>
              </a:rPr>
              <a:t>S</a:t>
            </a:r>
            <a:r>
              <a:rPr lang="en-US"/>
              <a:t>ample</a:t>
            </a:r>
          </a:p>
          <a:p>
            <a:pPr lvl="1"/>
            <a:r>
              <a:rPr lang="en-US"/>
              <a:t>Random, observable</a:t>
            </a:r>
          </a:p>
        </p:txBody>
      </p:sp>
      <p:sp>
        <p:nvSpPr>
          <p:cNvPr id="2" name="Title 1"/>
          <p:cNvSpPr>
            <a:spLocks noGrp="1"/>
          </p:cNvSpPr>
          <p:nvPr>
            <p:ph type="title"/>
          </p:nvPr>
        </p:nvSpPr>
        <p:spPr/>
        <p:txBody>
          <a:bodyPr/>
          <a:lstStyle/>
          <a:p>
            <a:r>
              <a:rPr lang="en-US"/>
              <a:t>Parameters and Statistics</a:t>
            </a:r>
          </a:p>
        </p:txBody>
      </p:sp>
    </p:spTree>
    <p:extLst>
      <p:ext uri="{BB962C8B-B14F-4D97-AF65-F5344CB8AC3E}">
        <p14:creationId xmlns:p14="http://schemas.microsoft.com/office/powerpoint/2010/main" val="619821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769422"/>
            <a:ext cx="10515600" cy="892750"/>
          </a:xfrm>
        </p:spPr>
        <p:txBody>
          <a:bodyPr/>
          <a:lstStyle/>
          <a:p>
            <a:r>
              <a:rPr lang="en-US"/>
              <a:t>Example</a:t>
            </a:r>
          </a:p>
        </p:txBody>
      </p:sp>
      <p:sp>
        <p:nvSpPr>
          <p:cNvPr id="8" name="Curved Down Arrow 7"/>
          <p:cNvSpPr/>
          <p:nvPr/>
        </p:nvSpPr>
        <p:spPr>
          <a:xfrm flipH="1">
            <a:off x="3190772" y="2533161"/>
            <a:ext cx="2398860" cy="422224"/>
          </a:xfrm>
          <a:prstGeom prst="curvedDownArrow">
            <a:avLst>
              <a:gd name="adj1" fmla="val 25000"/>
              <a:gd name="adj2" fmla="val 64804"/>
              <a:gd name="adj3" fmla="val 3768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Curved Down Arrow 8"/>
          <p:cNvSpPr/>
          <p:nvPr/>
        </p:nvSpPr>
        <p:spPr>
          <a:xfrm rot="1050032" flipV="1">
            <a:off x="2879288" y="4382467"/>
            <a:ext cx="1723590" cy="308975"/>
          </a:xfrm>
          <a:prstGeom prst="curvedDownArrow">
            <a:avLst>
              <a:gd name="adj1" fmla="val 25000"/>
              <a:gd name="adj2" fmla="val 64804"/>
              <a:gd name="adj3" fmla="val 3768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TextBox 4"/>
          <p:cNvSpPr txBox="1"/>
          <p:nvPr/>
        </p:nvSpPr>
        <p:spPr>
          <a:xfrm>
            <a:off x="1297626" y="3296454"/>
            <a:ext cx="974852" cy="369332"/>
          </a:xfrm>
          <a:prstGeom prst="rect">
            <a:avLst/>
          </a:prstGeom>
          <a:noFill/>
        </p:spPr>
        <p:txBody>
          <a:bodyPr wrap="square" rtlCol="0">
            <a:spAutoFit/>
          </a:bodyPr>
          <a:lstStyle/>
          <a:p>
            <a:r>
              <a:rPr lang="en-US"/>
              <a:t>Sample:</a:t>
            </a:r>
          </a:p>
        </p:txBody>
      </p:sp>
      <p:sp>
        <p:nvSpPr>
          <p:cNvPr id="11" name="TextBox 10"/>
          <p:cNvSpPr txBox="1"/>
          <p:nvPr/>
        </p:nvSpPr>
        <p:spPr>
          <a:xfrm>
            <a:off x="2789992" y="4720234"/>
            <a:ext cx="1190879" cy="369332"/>
          </a:xfrm>
          <a:prstGeom prst="rect">
            <a:avLst/>
          </a:prstGeom>
          <a:noFill/>
        </p:spPr>
        <p:txBody>
          <a:bodyPr wrap="square" rtlCol="0">
            <a:spAutoFit/>
          </a:bodyPr>
          <a:lstStyle/>
          <a:p>
            <a:r>
              <a:rPr lang="en-US"/>
              <a:t>Inference!</a:t>
            </a:r>
          </a:p>
        </p:txBody>
      </p:sp>
      <p:sp>
        <p:nvSpPr>
          <p:cNvPr id="12" name="Cloud 11"/>
          <p:cNvSpPr/>
          <p:nvPr/>
        </p:nvSpPr>
        <p:spPr>
          <a:xfrm>
            <a:off x="4547437" y="2799478"/>
            <a:ext cx="6110691" cy="2742339"/>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Population: All Americans</a:t>
            </a:r>
          </a:p>
        </p:txBody>
      </p:sp>
      <p:sp>
        <p:nvSpPr>
          <p:cNvPr id="13" name="Cloud 12"/>
          <p:cNvSpPr/>
          <p:nvPr/>
        </p:nvSpPr>
        <p:spPr>
          <a:xfrm>
            <a:off x="2292903" y="3029783"/>
            <a:ext cx="2159652" cy="1017412"/>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3,930 Americans</a:t>
            </a:r>
          </a:p>
        </p:txBody>
      </p:sp>
      <p:sp>
        <p:nvSpPr>
          <p:cNvPr id="15" name="Content Placeholder 2"/>
          <p:cNvSpPr>
            <a:spLocks noGrp="1"/>
          </p:cNvSpPr>
          <p:nvPr>
            <p:ph idx="1"/>
          </p:nvPr>
        </p:nvSpPr>
        <p:spPr>
          <a:xfrm>
            <a:off x="581192" y="1888836"/>
            <a:ext cx="11029615" cy="4969164"/>
          </a:xfrm>
        </p:spPr>
        <p:txBody>
          <a:bodyPr>
            <a:normAutofit/>
          </a:bodyPr>
          <a:lstStyle/>
          <a:p>
            <a:r>
              <a:rPr lang="en-US"/>
              <a:t>Pew Research wants to know what percent of all Americans own guns.</a:t>
            </a:r>
          </a:p>
          <a:p>
            <a:endParaRPr lang="en-US"/>
          </a:p>
          <a:p>
            <a:endParaRPr lang="en-US"/>
          </a:p>
          <a:p>
            <a:endParaRPr lang="en-US"/>
          </a:p>
          <a:p>
            <a:endParaRPr lang="en-US"/>
          </a:p>
          <a:p>
            <a:endParaRPr lang="en-US"/>
          </a:p>
          <a:p>
            <a:endParaRPr lang="en-US"/>
          </a:p>
          <a:p>
            <a:endParaRPr lang="en-US"/>
          </a:p>
          <a:p>
            <a:endParaRPr lang="en-US"/>
          </a:p>
          <a:p>
            <a:r>
              <a:rPr lang="en-US"/>
              <a:t>Percent of </a:t>
            </a:r>
            <a:r>
              <a:rPr lang="en-US" i="1"/>
              <a:t>All Americans </a:t>
            </a:r>
            <a:r>
              <a:rPr lang="en-US"/>
              <a:t>with guns is a </a:t>
            </a:r>
            <a:r>
              <a:rPr lang="en-US" b="1"/>
              <a:t>parameter</a:t>
            </a:r>
            <a:r>
              <a:rPr lang="en-US" b="1" i="1"/>
              <a:t>.</a:t>
            </a:r>
          </a:p>
          <a:p>
            <a:r>
              <a:rPr lang="en-US"/>
              <a:t>Percent of </a:t>
            </a:r>
            <a:r>
              <a:rPr lang="en-US" i="1"/>
              <a:t>3,930 Americans sampled </a:t>
            </a:r>
            <a:r>
              <a:rPr lang="en-US"/>
              <a:t>with guns is a </a:t>
            </a:r>
            <a:r>
              <a:rPr lang="en-US" b="1"/>
              <a:t>statistic</a:t>
            </a:r>
            <a:r>
              <a:rPr lang="en-US" b="1" i="1"/>
              <a:t>.</a:t>
            </a:r>
            <a:endParaRPr lang="en-US" i="1"/>
          </a:p>
          <a:p>
            <a:endParaRPr lang="en-US"/>
          </a:p>
        </p:txBody>
      </p:sp>
    </p:spTree>
    <p:extLst>
      <p:ext uri="{BB962C8B-B14F-4D97-AF65-F5344CB8AC3E}">
        <p14:creationId xmlns:p14="http://schemas.microsoft.com/office/powerpoint/2010/main" val="3934350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Sampling</a:t>
            </a:r>
          </a:p>
        </p:txBody>
      </p:sp>
      <p:sp>
        <p:nvSpPr>
          <p:cNvPr id="3" name="Content Placeholder 2"/>
          <p:cNvSpPr>
            <a:spLocks noGrp="1"/>
          </p:cNvSpPr>
          <p:nvPr>
            <p:ph idx="1"/>
          </p:nvPr>
        </p:nvSpPr>
        <p:spPr/>
        <p:txBody>
          <a:bodyPr>
            <a:normAutofit/>
          </a:bodyPr>
          <a:lstStyle/>
          <a:p>
            <a:r>
              <a:rPr lang="en-US" sz="2000"/>
              <a:t>Non-random (convenience) sampling methods are often biased.</a:t>
            </a:r>
          </a:p>
          <a:p>
            <a:pPr lvl="1"/>
            <a:r>
              <a:rPr lang="en-US" sz="1800"/>
              <a:t>Statistics from non-random samples either consistently overestimate or underestimate the true population parameters.</a:t>
            </a:r>
          </a:p>
          <a:p>
            <a:pPr lvl="1"/>
            <a:endParaRPr lang="en-US" sz="1800"/>
          </a:p>
          <a:p>
            <a:r>
              <a:rPr lang="en-US" sz="2000"/>
              <a:t>Random sampling</a:t>
            </a:r>
          </a:p>
          <a:p>
            <a:pPr lvl="1"/>
            <a:r>
              <a:rPr lang="en-US" sz="1800"/>
              <a:t>Each unit in the population has an equal probability of being selected for the sample</a:t>
            </a:r>
          </a:p>
        </p:txBody>
      </p:sp>
    </p:spTree>
    <p:extLst>
      <p:ext uri="{BB962C8B-B14F-4D97-AF65-F5344CB8AC3E}">
        <p14:creationId xmlns:p14="http://schemas.microsoft.com/office/powerpoint/2010/main" val="18416244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Random sampling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81192" y="2180496"/>
                <a:ext cx="11029615" cy="4137177"/>
              </a:xfrm>
            </p:spPr>
            <p:txBody>
              <a:bodyPr/>
              <a:lstStyle/>
              <a:p>
                <a:pPr>
                  <a:lnSpc>
                    <a:spcPct val="150000"/>
                  </a:lnSpc>
                  <a:spcBef>
                    <a:spcPts val="0"/>
                  </a:spcBef>
                  <a:spcAft>
                    <a:spcPts val="0"/>
                  </a:spcAft>
                </a:pPr>
                <a:r>
                  <a:rPr lang="en-US" sz="2000"/>
                  <a:t>Let random variables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3</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𝑛</m:t>
                        </m:r>
                      </m:sub>
                    </m:sSub>
                  </m:oMath>
                </a14:m>
                <a:r>
                  <a:rPr lang="en-US" sz="2000"/>
                  <a:t> be measurements (data points) in a sample of </a:t>
                </a:r>
                <a14:m>
                  <m:oMath xmlns:m="http://schemas.openxmlformats.org/officeDocument/2006/math">
                    <m:r>
                      <a:rPr lang="en-US" sz="2000" b="0" i="1" smtClean="0">
                        <a:latin typeface="Cambria Math" panose="02040503050406030204" pitchFamily="18" charset="0"/>
                      </a:rPr>
                      <m:t>𝑛</m:t>
                    </m:r>
                  </m:oMath>
                </a14:m>
                <a:r>
                  <a:rPr lang="en-US" sz="2000"/>
                  <a:t>. </a:t>
                </a:r>
              </a:p>
              <a:p>
                <a:pPr lvl="1">
                  <a:lnSpc>
                    <a:spcPct val="150000"/>
                  </a:lnSpc>
                  <a:spcBef>
                    <a:spcPts val="0"/>
                  </a:spcBef>
                  <a:spcAft>
                    <a:spcPts val="0"/>
                  </a:spcAft>
                </a:pPr>
                <a:r>
                  <a:rPr lang="en-US" sz="1800"/>
                  <a:t>Denote one point as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𝑋</m:t>
                        </m:r>
                      </m:e>
                      <m:sub>
                        <m:r>
                          <a:rPr lang="en-US" sz="1800" b="0" i="1" smtClean="0">
                            <a:latin typeface="Cambria Math" panose="02040503050406030204" pitchFamily="18" charset="0"/>
                          </a:rPr>
                          <m:t>𝑖</m:t>
                        </m:r>
                      </m:sub>
                    </m:sSub>
                  </m:oMath>
                </a14:m>
                <a:r>
                  <a:rPr lang="en-US" sz="1800"/>
                  <a:t> for </a:t>
                </a:r>
                <a14:m>
                  <m:oMath xmlns:m="http://schemas.openxmlformats.org/officeDocument/2006/math">
                    <m:r>
                      <a:rPr lang="en-US" sz="1800" b="0" i="1" smtClean="0">
                        <a:latin typeface="Cambria Math" panose="02040503050406030204" pitchFamily="18" charset="0"/>
                      </a:rPr>
                      <m:t>𝑖</m:t>
                    </m:r>
                    <m:r>
                      <a:rPr lang="en-US" sz="1800" b="0" i="1" smtClean="0">
                        <a:latin typeface="Cambria Math" panose="02040503050406030204" pitchFamily="18" charset="0"/>
                      </a:rPr>
                      <m:t>=1,2,3,…,</m:t>
                    </m:r>
                    <m:r>
                      <a:rPr lang="en-US" sz="1800" b="0" i="1" smtClean="0">
                        <a:latin typeface="Cambria Math" panose="02040503050406030204" pitchFamily="18" charset="0"/>
                      </a:rPr>
                      <m:t>𝑛</m:t>
                    </m:r>
                  </m:oMath>
                </a14:m>
                <a:endParaRPr lang="en-US" sz="1800"/>
              </a:p>
              <a:p>
                <a:pPr lvl="1">
                  <a:lnSpc>
                    <a:spcPct val="150000"/>
                  </a:lnSpc>
                  <a:spcBef>
                    <a:spcPts val="0"/>
                  </a:spcBef>
                  <a:spcAft>
                    <a:spcPts val="0"/>
                  </a:spcAft>
                </a:pPr>
                <a:endParaRPr lang="en-US" sz="1800"/>
              </a:p>
              <a:p>
                <a:pPr>
                  <a:lnSpc>
                    <a:spcPct val="150000"/>
                  </a:lnSpc>
                  <a:spcBef>
                    <a:spcPts val="0"/>
                  </a:spcBef>
                  <a:spcAft>
                    <a:spcPts val="0"/>
                  </a:spcAft>
                </a:pPr>
                <a:r>
                  <a:rPr lang="en-US" sz="2000"/>
                  <a:t>We assume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3</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𝑛</m:t>
                        </m:r>
                      </m:sub>
                    </m:sSub>
                  </m:oMath>
                </a14:m>
                <a:r>
                  <a:rPr lang="en-US" sz="2000"/>
                  <a:t> are:</a:t>
                </a:r>
              </a:p>
              <a:p>
                <a:pPr lvl="1">
                  <a:lnSpc>
                    <a:spcPct val="150000"/>
                  </a:lnSpc>
                  <a:spcBef>
                    <a:spcPts val="0"/>
                  </a:spcBef>
                  <a:spcAft>
                    <a:spcPts val="0"/>
                  </a:spcAft>
                </a:pPr>
                <a:r>
                  <a:rPr lang="en-US" sz="1800" b="1"/>
                  <a:t>Identically distributed</a:t>
                </a:r>
                <a:r>
                  <a:rPr lang="en-US" sz="1800"/>
                  <a:t>: All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𝑋</m:t>
                        </m:r>
                      </m:e>
                      <m:sub>
                        <m:r>
                          <a:rPr lang="en-US" sz="1800" b="0" i="1" smtClean="0">
                            <a:latin typeface="Cambria Math" panose="02040503050406030204" pitchFamily="18" charset="0"/>
                          </a:rPr>
                          <m:t>𝑖</m:t>
                        </m:r>
                      </m:sub>
                    </m:sSub>
                  </m:oMath>
                </a14:m>
                <a:r>
                  <a:rPr lang="en-US" sz="1800"/>
                  <a:t> have the same probability distribution.</a:t>
                </a:r>
              </a:p>
              <a:p>
                <a:pPr lvl="1">
                  <a:lnSpc>
                    <a:spcPct val="150000"/>
                  </a:lnSpc>
                  <a:spcBef>
                    <a:spcPts val="0"/>
                  </a:spcBef>
                  <a:spcAft>
                    <a:spcPts val="0"/>
                  </a:spcAft>
                </a:pPr>
                <a:r>
                  <a:rPr lang="en-US" sz="1800" b="1"/>
                  <a:t>Independent:</a:t>
                </a:r>
                <a:r>
                  <a:rPr lang="en-US" sz="1800"/>
                  <a:t> </a:t>
                </a:r>
                <a14:m>
                  <m:oMath xmlns:m="http://schemas.openxmlformats.org/officeDocument/2006/math">
                    <m:r>
                      <a:rPr lang="en-US" sz="1800" b="0" i="1" smtClean="0">
                        <a:latin typeface="Cambria Math" panose="02040503050406030204" pitchFamily="18" charset="0"/>
                      </a:rPr>
                      <m:t>𝑓</m:t>
                    </m:r>
                    <m:d>
                      <m:dPr>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3</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𝑛</m:t>
                            </m:r>
                          </m:sub>
                        </m:sSub>
                      </m:e>
                    </m:d>
                    <m:r>
                      <a:rPr lang="en-US" sz="1800" b="0" i="1" smtClean="0">
                        <a:latin typeface="Cambria Math" panose="02040503050406030204" pitchFamily="18" charset="0"/>
                      </a:rPr>
                      <m:t>=</m:t>
                    </m:r>
                    <m:r>
                      <a:rPr lang="en-US" sz="1800" b="0" i="1" smtClean="0">
                        <a:latin typeface="Cambria Math" panose="02040503050406030204" pitchFamily="18" charset="0"/>
                      </a:rPr>
                      <m:t>𝑓</m:t>
                    </m:r>
                    <m:d>
                      <m:dPr>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sub>
                        </m:sSub>
                      </m:e>
                    </m:d>
                    <m:r>
                      <a:rPr lang="en-US" sz="1800" b="0" i="1" smtClean="0">
                        <a:latin typeface="Cambria Math" panose="02040503050406030204" pitchFamily="18" charset="0"/>
                      </a:rPr>
                      <m:t>𝑓</m:t>
                    </m:r>
                    <m:d>
                      <m:dPr>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sub>
                        </m:sSub>
                      </m:e>
                    </m:d>
                    <m:r>
                      <a:rPr lang="en-US" sz="1800" b="0" i="1" smtClean="0">
                        <a:latin typeface="Cambria Math" panose="02040503050406030204" pitchFamily="18" charset="0"/>
                      </a:rPr>
                      <m:t>𝑓</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3</m:t>
                        </m:r>
                      </m:sub>
                    </m:sSub>
                    <m:r>
                      <a:rPr lang="en-US" sz="1800" b="0" i="1" smtClean="0">
                        <a:latin typeface="Cambria Math" panose="02040503050406030204" pitchFamily="18" charset="0"/>
                      </a:rPr>
                      <m:t>)…</m:t>
                    </m:r>
                    <m:r>
                      <a:rPr lang="en-US" sz="1800" b="0" i="1" smtClean="0">
                        <a:latin typeface="Cambria Math" panose="02040503050406030204" pitchFamily="18" charset="0"/>
                      </a:rPr>
                      <m:t>𝑓</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𝑛</m:t>
                        </m:r>
                      </m:sub>
                    </m:sSub>
                    <m:r>
                      <a:rPr lang="en-US" sz="1800" b="0" i="1" smtClean="0">
                        <a:latin typeface="Cambria Math" panose="02040503050406030204" pitchFamily="18" charset="0"/>
                      </a:rPr>
                      <m:t>)</m:t>
                    </m:r>
                  </m:oMath>
                </a14:m>
                <a:endParaRPr lang="en-US" sz="1800" b="1"/>
              </a:p>
              <a:p>
                <a:pPr lvl="1">
                  <a:lnSpc>
                    <a:spcPct val="150000"/>
                  </a:lnSpc>
                  <a:spcBef>
                    <a:spcPts val="0"/>
                  </a:spcBef>
                  <a:spcAft>
                    <a:spcPts val="0"/>
                  </a:spcAft>
                </a:pPr>
                <a:endParaRPr lang="en-US" sz="1800" b="1"/>
              </a:p>
              <a:p>
                <a:pPr>
                  <a:lnSpc>
                    <a:spcPct val="150000"/>
                  </a:lnSpc>
                  <a:spcBef>
                    <a:spcPts val="0"/>
                  </a:spcBef>
                  <a:spcAft>
                    <a:spcPts val="0"/>
                  </a:spcAft>
                </a:pPr>
                <a:r>
                  <a:rPr lang="en-US" sz="2000"/>
                  <a:t>We say,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2</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3</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𝑛</m:t>
                        </m:r>
                      </m:sub>
                    </m:sSub>
                  </m:oMath>
                </a14:m>
                <a:r>
                  <a:rPr lang="en-US" sz="2000"/>
                  <a:t> are </a:t>
                </a:r>
                <a:r>
                  <a:rPr lang="en-US" sz="2000" b="1"/>
                  <a:t>independent and identically distributed</a:t>
                </a:r>
                <a:r>
                  <a:rPr lang="en-US" sz="2000" i="1"/>
                  <a:t> </a:t>
                </a:r>
                <a:r>
                  <a:rPr lang="en-US" sz="2000"/>
                  <a:t>(IID)</a:t>
                </a:r>
              </a:p>
              <a:p>
                <a:pPr lvl="1">
                  <a:lnSpc>
                    <a:spcPct val="150000"/>
                  </a:lnSpc>
                  <a:spcBef>
                    <a:spcPts val="0"/>
                  </a:spcBef>
                  <a:spcAft>
                    <a:spcPts val="0"/>
                  </a:spcAft>
                </a:pP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𝑋</m:t>
                        </m:r>
                      </m:e>
                      <m:sub>
                        <m:r>
                          <a:rPr lang="en-US" sz="1800" b="0" i="1" smtClean="0">
                            <a:latin typeface="Cambria Math" panose="02040503050406030204" pitchFamily="18" charset="0"/>
                          </a:rPr>
                          <m:t>𝑖</m:t>
                        </m:r>
                      </m:sub>
                    </m:sSub>
                    <m:r>
                      <a:rPr lang="en-US" sz="1800" b="0" i="1" smtClean="0">
                        <a:latin typeface="Cambria Math" panose="02040503050406030204" pitchFamily="18" charset="0"/>
                      </a:rPr>
                      <m:t>~</m:t>
                    </m:r>
                    <m:r>
                      <a:rPr lang="en-US" sz="1800" b="0" i="1" smtClean="0">
                        <a:latin typeface="Cambria Math" panose="02040503050406030204" pitchFamily="18" charset="0"/>
                      </a:rPr>
                      <m:t>𝑖𝑖𝑑</m:t>
                    </m:r>
                    <m:r>
                      <a:rPr lang="en-US" sz="1800" b="0" i="1" smtClean="0">
                        <a:latin typeface="Cambria Math" panose="02040503050406030204" pitchFamily="18" charset="0"/>
                      </a:rPr>
                      <m:t> </m:t>
                    </m:r>
                    <m:r>
                      <m:rPr>
                        <m:sty m:val="p"/>
                      </m:rPr>
                      <a:rPr lang="en-US" sz="1800" b="0" i="0" smtClean="0">
                        <a:latin typeface="Cambria Math" panose="02040503050406030204" pitchFamily="18" charset="0"/>
                      </a:rPr>
                      <m:t>DIST</m:t>
                    </m:r>
                    <m:r>
                      <a:rPr lang="en-US" sz="1800" b="0" i="0" smtClean="0">
                        <a:latin typeface="Cambria Math" panose="02040503050406030204" pitchFamily="18" charset="0"/>
                      </a:rPr>
                      <m:t>(</m:t>
                    </m:r>
                    <m:r>
                      <m:rPr>
                        <m:sty m:val="p"/>
                      </m:rPr>
                      <a:rPr lang="en-US" sz="1800" b="0" i="0" smtClean="0">
                        <a:latin typeface="Cambria Math" panose="02040503050406030204" pitchFamily="18" charset="0"/>
                      </a:rPr>
                      <m:t>parameters</m:t>
                    </m:r>
                    <m:r>
                      <a:rPr lang="en-US" sz="1800" b="0" i="0" smtClean="0">
                        <a:latin typeface="Cambria Math" panose="02040503050406030204" pitchFamily="18" charset="0"/>
                      </a:rPr>
                      <m:t>)</m:t>
                    </m:r>
                  </m:oMath>
                </a14:m>
                <a:endParaRPr lang="en-US" sz="180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81192" y="2180496"/>
                <a:ext cx="11029615" cy="4137177"/>
              </a:xfrm>
              <a:blipFill>
                <a:blip r:embed="rId2"/>
                <a:stretch>
                  <a:fillRect l="-442"/>
                </a:stretch>
              </a:blipFill>
            </p:spPr>
            <p:txBody>
              <a:bodyPr/>
              <a:lstStyle/>
              <a:p>
                <a:r>
                  <a:rPr lang="en-US">
                    <a:noFill/>
                  </a:rPr>
                  <a:t> </a:t>
                </a:r>
              </a:p>
            </p:txBody>
          </p:sp>
        </mc:Fallback>
      </mc:AlternateContent>
    </p:spTree>
    <p:extLst>
      <p:ext uri="{BB962C8B-B14F-4D97-AF65-F5344CB8AC3E}">
        <p14:creationId xmlns:p14="http://schemas.microsoft.com/office/powerpoint/2010/main" val="30345242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statistics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a:lnSpc>
                    <a:spcPct val="150000"/>
                  </a:lnSpc>
                  <a:spcBef>
                    <a:spcPts val="0"/>
                  </a:spcBef>
                  <a:spcAft>
                    <a:spcPts val="0"/>
                  </a:spcAft>
                </a:pPr>
                <a:r>
                  <a:rPr lang="en-US" sz="2000" b="1"/>
                  <a:t>Statistic</a:t>
                </a:r>
                <a:r>
                  <a:rPr lang="en-US" sz="2000"/>
                  <a:t>: any function of the random variables contained in the random sample.</a:t>
                </a:r>
              </a:p>
              <a:p>
                <a:pPr lvl="1">
                  <a:lnSpc>
                    <a:spcPct val="150000"/>
                  </a:lnSpc>
                  <a:spcBef>
                    <a:spcPts val="0"/>
                  </a:spcBef>
                  <a:spcAft>
                    <a:spcPts val="0"/>
                  </a:spcAft>
                </a:pPr>
                <a:r>
                  <a:rPr lang="en-US" sz="1800"/>
                  <a:t>Takes information from the </a:t>
                </a:r>
                <a14:m>
                  <m:oMath xmlns:m="http://schemas.openxmlformats.org/officeDocument/2006/math">
                    <m:r>
                      <a:rPr lang="en-US" sz="1800" b="0" i="1" smtClean="0">
                        <a:latin typeface="Cambria Math" panose="02040503050406030204" pitchFamily="18" charset="0"/>
                      </a:rPr>
                      <m:t>𝑛</m:t>
                    </m:r>
                  </m:oMath>
                </a14:m>
                <a:r>
                  <a:rPr lang="en-US" sz="1800"/>
                  <a:t> random variables and summarizes it in one single number (statistic).</a:t>
                </a:r>
              </a:p>
              <a:p>
                <a:pPr lvl="1">
                  <a:lnSpc>
                    <a:spcPct val="150000"/>
                  </a:lnSpc>
                  <a:spcBef>
                    <a:spcPts val="0"/>
                  </a:spcBef>
                  <a:spcAft>
                    <a:spcPts val="0"/>
                  </a:spcAft>
                </a:pPr>
                <a:endParaRPr lang="en-US" sz="1800"/>
              </a:p>
              <a:p>
                <a:pPr>
                  <a:lnSpc>
                    <a:spcPct val="150000"/>
                  </a:lnSpc>
                  <a:spcBef>
                    <a:spcPts val="0"/>
                  </a:spcBef>
                  <a:spcAft>
                    <a:spcPts val="0"/>
                  </a:spcAft>
                </a:pPr>
                <a:r>
                  <a:rPr lang="en-US" sz="2000"/>
                  <a:t>Any function of a random variable is also a random variable.</a:t>
                </a:r>
              </a:p>
              <a:p>
                <a:pPr lvl="1">
                  <a:lnSpc>
                    <a:spcPct val="150000"/>
                  </a:lnSpc>
                  <a:spcBef>
                    <a:spcPts val="0"/>
                  </a:spcBef>
                  <a:spcAft>
                    <a:spcPts val="0"/>
                  </a:spcAft>
                </a:pPr>
                <a:r>
                  <a:rPr lang="en-US" sz="1800"/>
                  <a:t>This means that a statistic is also a random variable!</a:t>
                </a:r>
              </a:p>
              <a:p>
                <a:pPr lvl="1">
                  <a:lnSpc>
                    <a:spcPct val="150000"/>
                  </a:lnSpc>
                  <a:spcBef>
                    <a:spcPts val="0"/>
                  </a:spcBef>
                  <a:spcAft>
                    <a:spcPts val="0"/>
                  </a:spcAft>
                </a:pPr>
                <a:r>
                  <a:rPr lang="en-US" sz="1800"/>
                  <a:t>Thus, a statistic has a probability distribution and satisfies all properties of a random variable</a:t>
                </a:r>
              </a:p>
              <a:p>
                <a:pPr lvl="1">
                  <a:lnSpc>
                    <a:spcPct val="150000"/>
                  </a:lnSpc>
                  <a:spcBef>
                    <a:spcPts val="0"/>
                  </a:spcBef>
                  <a:spcAft>
                    <a:spcPts val="0"/>
                  </a:spcAft>
                </a:pPr>
                <a:endParaRPr lang="en-US" sz="1800"/>
              </a:p>
              <a:p>
                <a:pPr>
                  <a:lnSpc>
                    <a:spcPct val="150000"/>
                  </a:lnSpc>
                  <a:spcBef>
                    <a:spcPts val="0"/>
                  </a:spcBef>
                  <a:spcAft>
                    <a:spcPts val="0"/>
                  </a:spcAft>
                </a:pPr>
                <a:r>
                  <a:rPr lang="en-US" sz="2000"/>
                  <a:t>A </a:t>
                </a:r>
                <a:r>
                  <a:rPr lang="en-US" sz="2000" b="1"/>
                  <a:t>sampling distribution </a:t>
                </a:r>
                <a:r>
                  <a:rPr lang="en-US" sz="2000"/>
                  <a:t>is the distribution of a </a:t>
                </a:r>
                <a:r>
                  <a:rPr lang="en-US" sz="2000" b="1"/>
                  <a:t>statistic</a:t>
                </a:r>
                <a:r>
                  <a:rPr lang="en-US" sz="2000" b="1" i="1"/>
                  <a:t> </a:t>
                </a:r>
                <a:r>
                  <a:rPr lang="en-US" sz="2000"/>
                  <a:t>across repeated sampling.</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442" b="-332"/>
                </a:stretch>
              </a:blipFill>
            </p:spPr>
            <p:txBody>
              <a:bodyPr/>
              <a:lstStyle/>
              <a:p>
                <a:r>
                  <a:rPr lang="en-US">
                    <a:noFill/>
                  </a:rPr>
                  <a:t> </a:t>
                </a:r>
              </a:p>
            </p:txBody>
          </p:sp>
        </mc:Fallback>
      </mc:AlternateContent>
    </p:spTree>
    <p:extLst>
      <p:ext uri="{BB962C8B-B14F-4D97-AF65-F5344CB8AC3E}">
        <p14:creationId xmlns:p14="http://schemas.microsoft.com/office/powerpoint/2010/main" val="1696349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a:lnSpc>
                    <a:spcPct val="150000"/>
                  </a:lnSpc>
                  <a:spcBef>
                    <a:spcPts val="0"/>
                  </a:spcBef>
                  <a:spcAft>
                    <a:spcPts val="0"/>
                  </a:spcAft>
                </a:pPr>
                <a:r>
                  <a:rPr lang="en-US" sz="2000"/>
                  <a:t>Suppose we are interested in the net income of Nebraskans.</a:t>
                </a:r>
              </a:p>
              <a:p>
                <a:pPr lvl="1">
                  <a:lnSpc>
                    <a:spcPct val="150000"/>
                  </a:lnSpc>
                  <a:spcBef>
                    <a:spcPts val="0"/>
                  </a:spcBef>
                  <a:spcAft>
                    <a:spcPts val="0"/>
                  </a:spcAft>
                </a:pPr>
                <a:r>
                  <a:rPr lang="en-US" sz="1800"/>
                  <a:t>Not feasible to obtain information from all Nebraskans.</a:t>
                </a:r>
              </a:p>
              <a:p>
                <a:pPr lvl="1">
                  <a:lnSpc>
                    <a:spcPct val="150000"/>
                  </a:lnSpc>
                  <a:spcBef>
                    <a:spcPts val="0"/>
                  </a:spcBef>
                  <a:spcAft>
                    <a:spcPts val="0"/>
                  </a:spcAft>
                </a:pPr>
                <a:r>
                  <a:rPr lang="en-US" sz="1800"/>
                  <a:t>We could randomly sample </a:t>
                </a:r>
                <a14:m>
                  <m:oMath xmlns:m="http://schemas.openxmlformats.org/officeDocument/2006/math">
                    <m:r>
                      <a:rPr lang="en-US" sz="1800" b="0" i="1" smtClean="0">
                        <a:latin typeface="Cambria Math" panose="02040503050406030204" pitchFamily="18" charset="0"/>
                      </a:rPr>
                      <m:t>𝑛</m:t>
                    </m:r>
                  </m:oMath>
                </a14:m>
                <a:r>
                  <a:rPr lang="en-US" sz="1800"/>
                  <a:t> Nebraskans and obtain their net incomes </a:t>
                </a:r>
                <a14:m>
                  <m:oMath xmlns:m="http://schemas.openxmlformats.org/officeDocument/2006/math">
                    <m:r>
                      <a:rPr lang="en-US" sz="1800" b="0" i="0"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𝑋</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𝑋</m:t>
                        </m:r>
                      </m:e>
                      <m:sub>
                        <m:r>
                          <a:rPr lang="en-US" sz="1800" b="0" i="1" smtClean="0">
                            <a:latin typeface="Cambria Math" panose="02040503050406030204" pitchFamily="18" charset="0"/>
                          </a:rPr>
                          <m:t>,2</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𝑋</m:t>
                        </m:r>
                      </m:e>
                      <m:sub>
                        <m:r>
                          <a:rPr lang="en-US" sz="1800" b="0" i="1" smtClean="0">
                            <a:latin typeface="Cambria Math" panose="02040503050406030204" pitchFamily="18" charset="0"/>
                          </a:rPr>
                          <m:t>𝑛</m:t>
                        </m:r>
                      </m:sub>
                    </m:sSub>
                    <m:r>
                      <a:rPr lang="en-US" sz="1800" b="0" i="1" smtClean="0">
                        <a:latin typeface="Cambria Math" panose="02040503050406030204" pitchFamily="18" charset="0"/>
                      </a:rPr>
                      <m:t>)</m:t>
                    </m:r>
                  </m:oMath>
                </a14:m>
                <a:endParaRPr lang="en-US" sz="1800"/>
              </a:p>
              <a:p>
                <a:pPr lvl="1">
                  <a:lnSpc>
                    <a:spcPct val="150000"/>
                  </a:lnSpc>
                  <a:spcBef>
                    <a:spcPts val="0"/>
                  </a:spcBef>
                  <a:spcAft>
                    <a:spcPts val="0"/>
                  </a:spcAft>
                </a:pPr>
                <a:r>
                  <a:rPr lang="en-US" sz="1800"/>
                  <a:t>Calculate a statistic from this sample, say </a:t>
                </a:r>
                <a14:m>
                  <m:oMath xmlns:m="http://schemas.openxmlformats.org/officeDocument/2006/math">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𝑋</m:t>
                        </m:r>
                      </m:e>
                    </m:acc>
                  </m:oMath>
                </a14:m>
                <a:endParaRPr lang="en-US" sz="1800"/>
              </a:p>
              <a:p>
                <a:pPr lvl="1">
                  <a:lnSpc>
                    <a:spcPct val="150000"/>
                  </a:lnSpc>
                  <a:spcBef>
                    <a:spcPts val="0"/>
                  </a:spcBef>
                  <a:spcAft>
                    <a:spcPts val="0"/>
                  </a:spcAft>
                </a:pPr>
                <a:r>
                  <a:rPr lang="en-US" sz="1800"/>
                  <a:t>Suppose we take another random sample of size </a:t>
                </a:r>
                <a14:m>
                  <m:oMath xmlns:m="http://schemas.openxmlformats.org/officeDocument/2006/math">
                    <m:r>
                      <a:rPr lang="en-US" sz="1800" b="0" i="1" smtClean="0">
                        <a:latin typeface="Cambria Math" panose="02040503050406030204" pitchFamily="18" charset="0"/>
                      </a:rPr>
                      <m:t>𝑛</m:t>
                    </m:r>
                  </m:oMath>
                </a14:m>
                <a:r>
                  <a:rPr lang="en-US" sz="1800"/>
                  <a:t>, will their mean be the same?</a:t>
                </a:r>
              </a:p>
              <a:p>
                <a:pPr lvl="1">
                  <a:lnSpc>
                    <a:spcPct val="150000"/>
                  </a:lnSpc>
                  <a:spcBef>
                    <a:spcPts val="0"/>
                  </a:spcBef>
                  <a:spcAft>
                    <a:spcPts val="0"/>
                  </a:spcAft>
                </a:pPr>
                <a:r>
                  <a:rPr lang="en-US" sz="1800"/>
                  <a:t>Imagine taking a large number of samples. The distributions of their means is the sampling distribution.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442"/>
                </a:stretch>
              </a:blipFill>
            </p:spPr>
            <p:txBody>
              <a:bodyPr/>
              <a:lstStyle/>
              <a:p>
                <a:r>
                  <a:rPr lang="en-US">
                    <a:noFill/>
                  </a:rPr>
                  <a:t> </a:t>
                </a:r>
              </a:p>
            </p:txBody>
          </p:sp>
        </mc:Fallback>
      </mc:AlternateContent>
    </p:spTree>
    <p:extLst>
      <p:ext uri="{BB962C8B-B14F-4D97-AF65-F5344CB8AC3E}">
        <p14:creationId xmlns:p14="http://schemas.microsoft.com/office/powerpoint/2010/main" val="459731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420DE-6C1A-47D7-A079-4158A12AF1B4}"/>
              </a:ext>
            </a:extLst>
          </p:cNvPr>
          <p:cNvSpPr>
            <a:spLocks noGrp="1"/>
          </p:cNvSpPr>
          <p:nvPr>
            <p:ph type="title"/>
          </p:nvPr>
        </p:nvSpPr>
        <p:spPr>
          <a:xfrm>
            <a:off x="581192" y="823166"/>
            <a:ext cx="10515600" cy="832266"/>
          </a:xfrm>
        </p:spPr>
        <p:txBody>
          <a:bodyPr>
            <a:normAutofit/>
          </a:bodyPr>
          <a:lstStyle/>
          <a:p>
            <a:r>
              <a:rPr lang="en-US"/>
              <a:t>Example</a:t>
            </a:r>
          </a:p>
        </p:txBody>
      </p:sp>
      <p:sp>
        <p:nvSpPr>
          <p:cNvPr id="3" name="Content Placeholder 2">
            <a:extLst>
              <a:ext uri="{FF2B5EF4-FFF2-40B4-BE49-F238E27FC236}">
                <a16:creationId xmlns:a16="http://schemas.microsoft.com/office/drawing/2014/main" id="{656105C8-4977-4E4C-B017-11A1D9D9AAF7}"/>
              </a:ext>
            </a:extLst>
          </p:cNvPr>
          <p:cNvSpPr>
            <a:spLocks noGrp="1"/>
          </p:cNvSpPr>
          <p:nvPr>
            <p:ph idx="1"/>
          </p:nvPr>
        </p:nvSpPr>
        <p:spPr/>
        <p:txBody>
          <a:bodyPr/>
          <a:lstStyle/>
          <a:p>
            <a:endParaRPr lang="en-US"/>
          </a:p>
          <a:p>
            <a:endParaRPr lang="en-US"/>
          </a:p>
          <a:p>
            <a:pPr marL="0" indent="0">
              <a:buNone/>
            </a:pPr>
            <a:endParaRPr lang="en-US"/>
          </a:p>
        </p:txBody>
      </p:sp>
      <p:sp>
        <p:nvSpPr>
          <p:cNvPr id="14" name="Cloud 13">
            <a:extLst>
              <a:ext uri="{FF2B5EF4-FFF2-40B4-BE49-F238E27FC236}">
                <a16:creationId xmlns:a16="http://schemas.microsoft.com/office/drawing/2014/main" id="{A06A6ED3-88EC-49FC-A129-503627B55775}"/>
              </a:ext>
            </a:extLst>
          </p:cNvPr>
          <p:cNvSpPr/>
          <p:nvPr/>
        </p:nvSpPr>
        <p:spPr>
          <a:xfrm>
            <a:off x="2348297" y="4017739"/>
            <a:ext cx="830030" cy="520007"/>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loud 14">
            <a:extLst>
              <a:ext uri="{FF2B5EF4-FFF2-40B4-BE49-F238E27FC236}">
                <a16:creationId xmlns:a16="http://schemas.microsoft.com/office/drawing/2014/main" id="{64C2759B-75B1-4238-9CDD-505DF860CE94}"/>
              </a:ext>
            </a:extLst>
          </p:cNvPr>
          <p:cNvSpPr/>
          <p:nvPr/>
        </p:nvSpPr>
        <p:spPr>
          <a:xfrm>
            <a:off x="3319631" y="4506355"/>
            <a:ext cx="830030" cy="520007"/>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Cloud 16">
            <a:extLst>
              <a:ext uri="{FF2B5EF4-FFF2-40B4-BE49-F238E27FC236}">
                <a16:creationId xmlns:a16="http://schemas.microsoft.com/office/drawing/2014/main" id="{EBDA69EB-1D8C-4477-97A8-1A18398DC379}"/>
              </a:ext>
            </a:extLst>
          </p:cNvPr>
          <p:cNvSpPr/>
          <p:nvPr/>
        </p:nvSpPr>
        <p:spPr>
          <a:xfrm>
            <a:off x="4505972" y="4564460"/>
            <a:ext cx="830030" cy="520007"/>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Cloud 17">
            <a:extLst>
              <a:ext uri="{FF2B5EF4-FFF2-40B4-BE49-F238E27FC236}">
                <a16:creationId xmlns:a16="http://schemas.microsoft.com/office/drawing/2014/main" id="{134C7DFB-6056-4949-861D-BA80F61A1C46}"/>
              </a:ext>
            </a:extLst>
          </p:cNvPr>
          <p:cNvSpPr/>
          <p:nvPr/>
        </p:nvSpPr>
        <p:spPr>
          <a:xfrm>
            <a:off x="8319573" y="4504031"/>
            <a:ext cx="830030" cy="520007"/>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loud 18">
            <a:extLst>
              <a:ext uri="{FF2B5EF4-FFF2-40B4-BE49-F238E27FC236}">
                <a16:creationId xmlns:a16="http://schemas.microsoft.com/office/drawing/2014/main" id="{551D6F69-F6D6-4693-B588-CD0D47BC67B5}"/>
              </a:ext>
            </a:extLst>
          </p:cNvPr>
          <p:cNvSpPr/>
          <p:nvPr/>
        </p:nvSpPr>
        <p:spPr>
          <a:xfrm>
            <a:off x="7072882" y="4644062"/>
            <a:ext cx="830030" cy="520007"/>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Cloud 19">
            <a:extLst>
              <a:ext uri="{FF2B5EF4-FFF2-40B4-BE49-F238E27FC236}">
                <a16:creationId xmlns:a16="http://schemas.microsoft.com/office/drawing/2014/main" id="{2C2724C3-A2F0-409F-9FB3-21D5C9FE86F5}"/>
              </a:ext>
            </a:extLst>
          </p:cNvPr>
          <p:cNvSpPr/>
          <p:nvPr/>
        </p:nvSpPr>
        <p:spPr>
          <a:xfrm>
            <a:off x="5580687" y="4675390"/>
            <a:ext cx="830030" cy="520007"/>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EC755AAD-F46E-4183-8378-62265533A86F}"/>
              </a:ext>
            </a:extLst>
          </p:cNvPr>
          <p:cNvCxnSpPr>
            <a:cxnSpLocks/>
          </p:cNvCxnSpPr>
          <p:nvPr/>
        </p:nvCxnSpPr>
        <p:spPr>
          <a:xfrm flipH="1">
            <a:off x="3182934" y="3507313"/>
            <a:ext cx="858716" cy="4420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AF74740A-C04F-4C5C-8D4D-23E452ED7434}"/>
              </a:ext>
            </a:extLst>
          </p:cNvPr>
          <p:cNvCxnSpPr>
            <a:cxnSpLocks/>
          </p:cNvCxnSpPr>
          <p:nvPr/>
        </p:nvCxnSpPr>
        <p:spPr>
          <a:xfrm flipH="1">
            <a:off x="3883093" y="3858144"/>
            <a:ext cx="595402" cy="551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2A3F285A-8401-44D3-990C-FDBBDD508C54}"/>
              </a:ext>
            </a:extLst>
          </p:cNvPr>
          <p:cNvCxnSpPr>
            <a:cxnSpLocks/>
          </p:cNvCxnSpPr>
          <p:nvPr/>
        </p:nvCxnSpPr>
        <p:spPr>
          <a:xfrm flipH="1">
            <a:off x="4924846" y="4104543"/>
            <a:ext cx="81365" cy="3520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A3A6EC60-9468-4FB2-83D6-CA5129B3AAB1}"/>
              </a:ext>
            </a:extLst>
          </p:cNvPr>
          <p:cNvCxnSpPr>
            <a:cxnSpLocks/>
          </p:cNvCxnSpPr>
          <p:nvPr/>
        </p:nvCxnSpPr>
        <p:spPr>
          <a:xfrm>
            <a:off x="5955382" y="4157425"/>
            <a:ext cx="36008" cy="2917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A69D48A-025A-4869-B92B-2A8BE9A58077}"/>
              </a:ext>
            </a:extLst>
          </p:cNvPr>
          <p:cNvCxnSpPr>
            <a:cxnSpLocks/>
          </p:cNvCxnSpPr>
          <p:nvPr/>
        </p:nvCxnSpPr>
        <p:spPr>
          <a:xfrm>
            <a:off x="6620246" y="3980379"/>
            <a:ext cx="605332" cy="553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4B49D37-B98D-4112-A207-2676F67D1F9A}"/>
              </a:ext>
            </a:extLst>
          </p:cNvPr>
          <p:cNvCxnSpPr>
            <a:cxnSpLocks/>
          </p:cNvCxnSpPr>
          <p:nvPr/>
        </p:nvCxnSpPr>
        <p:spPr>
          <a:xfrm>
            <a:off x="7320670" y="3370656"/>
            <a:ext cx="1103676" cy="10582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Cloud 26">
            <a:extLst>
              <a:ext uri="{FF2B5EF4-FFF2-40B4-BE49-F238E27FC236}">
                <a16:creationId xmlns:a16="http://schemas.microsoft.com/office/drawing/2014/main" id="{966BBDF7-8E37-4765-8CE7-E3B9899DC406}"/>
              </a:ext>
            </a:extLst>
          </p:cNvPr>
          <p:cNvSpPr/>
          <p:nvPr/>
        </p:nvSpPr>
        <p:spPr>
          <a:xfrm>
            <a:off x="9476479" y="4168893"/>
            <a:ext cx="830030" cy="520007"/>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Arrow Connector 27">
            <a:extLst>
              <a:ext uri="{FF2B5EF4-FFF2-40B4-BE49-F238E27FC236}">
                <a16:creationId xmlns:a16="http://schemas.microsoft.com/office/drawing/2014/main" id="{28F13076-9184-4386-874F-2C1F09422B90}"/>
              </a:ext>
            </a:extLst>
          </p:cNvPr>
          <p:cNvCxnSpPr>
            <a:cxnSpLocks/>
          </p:cNvCxnSpPr>
          <p:nvPr/>
        </p:nvCxnSpPr>
        <p:spPr>
          <a:xfrm>
            <a:off x="7677838" y="2948346"/>
            <a:ext cx="1683199" cy="12186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Cloud 28">
            <a:extLst>
              <a:ext uri="{FF2B5EF4-FFF2-40B4-BE49-F238E27FC236}">
                <a16:creationId xmlns:a16="http://schemas.microsoft.com/office/drawing/2014/main" id="{7ECC0676-C31B-41D4-809B-C902F1CBF079}"/>
              </a:ext>
            </a:extLst>
          </p:cNvPr>
          <p:cNvSpPr/>
          <p:nvPr/>
        </p:nvSpPr>
        <p:spPr>
          <a:xfrm>
            <a:off x="4119904" y="1915498"/>
            <a:ext cx="3438176" cy="2033834"/>
          </a:xfrm>
          <a:prstGeom prst="cloud">
            <a:avLst/>
          </a:prstGeom>
          <a:solidFill>
            <a:srgbClr val="4472C4">
              <a:alpha val="16863"/>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TextBox 6"/>
          <p:cNvSpPr txBox="1"/>
          <p:nvPr/>
        </p:nvSpPr>
        <p:spPr>
          <a:xfrm>
            <a:off x="4529779" y="2696313"/>
            <a:ext cx="2923221" cy="369332"/>
          </a:xfrm>
          <a:prstGeom prst="rect">
            <a:avLst/>
          </a:prstGeom>
          <a:noFill/>
        </p:spPr>
        <p:txBody>
          <a:bodyPr wrap="square" rtlCol="0">
            <a:spAutoFit/>
          </a:bodyPr>
          <a:lstStyle/>
          <a:p>
            <a:r>
              <a:rPr lang="en-US"/>
              <a:t>Population: All Nebraskans</a:t>
            </a:r>
          </a:p>
        </p:txBody>
      </p:sp>
      <p:sp>
        <p:nvSpPr>
          <p:cNvPr id="8" name="TextBox 7"/>
          <p:cNvSpPr txBox="1"/>
          <p:nvPr/>
        </p:nvSpPr>
        <p:spPr>
          <a:xfrm>
            <a:off x="2328980" y="4082056"/>
            <a:ext cx="1080872" cy="307777"/>
          </a:xfrm>
          <a:prstGeom prst="rect">
            <a:avLst/>
          </a:prstGeom>
          <a:noFill/>
        </p:spPr>
        <p:txBody>
          <a:bodyPr wrap="square" rtlCol="0">
            <a:spAutoFit/>
          </a:bodyPr>
          <a:lstStyle/>
          <a:p>
            <a:r>
              <a:rPr lang="en-US" sz="1400"/>
              <a:t>$125,000</a:t>
            </a:r>
          </a:p>
        </p:txBody>
      </p:sp>
      <p:sp>
        <p:nvSpPr>
          <p:cNvPr id="30" name="TextBox 29"/>
          <p:cNvSpPr txBox="1"/>
          <p:nvPr/>
        </p:nvSpPr>
        <p:spPr>
          <a:xfrm>
            <a:off x="3296980" y="4591048"/>
            <a:ext cx="1080872" cy="307777"/>
          </a:xfrm>
          <a:prstGeom prst="rect">
            <a:avLst/>
          </a:prstGeom>
          <a:noFill/>
        </p:spPr>
        <p:txBody>
          <a:bodyPr wrap="square" rtlCol="0">
            <a:spAutoFit/>
          </a:bodyPr>
          <a:lstStyle/>
          <a:p>
            <a:r>
              <a:rPr lang="en-US" sz="1400"/>
              <a:t>$95,000</a:t>
            </a:r>
          </a:p>
        </p:txBody>
      </p:sp>
      <p:sp>
        <p:nvSpPr>
          <p:cNvPr id="31" name="TextBox 30"/>
          <p:cNvSpPr txBox="1"/>
          <p:nvPr/>
        </p:nvSpPr>
        <p:spPr>
          <a:xfrm>
            <a:off x="4442094" y="4670574"/>
            <a:ext cx="1080872" cy="307777"/>
          </a:xfrm>
          <a:prstGeom prst="rect">
            <a:avLst/>
          </a:prstGeom>
          <a:noFill/>
        </p:spPr>
        <p:txBody>
          <a:bodyPr wrap="square" rtlCol="0">
            <a:spAutoFit/>
          </a:bodyPr>
          <a:lstStyle/>
          <a:p>
            <a:r>
              <a:rPr lang="en-US" sz="1400"/>
              <a:t>$134,000</a:t>
            </a:r>
          </a:p>
        </p:txBody>
      </p:sp>
      <p:sp>
        <p:nvSpPr>
          <p:cNvPr id="32" name="TextBox 31"/>
          <p:cNvSpPr txBox="1"/>
          <p:nvPr/>
        </p:nvSpPr>
        <p:spPr>
          <a:xfrm>
            <a:off x="5575466" y="4764034"/>
            <a:ext cx="1080872" cy="307777"/>
          </a:xfrm>
          <a:prstGeom prst="rect">
            <a:avLst/>
          </a:prstGeom>
          <a:noFill/>
        </p:spPr>
        <p:txBody>
          <a:bodyPr wrap="square" rtlCol="0">
            <a:spAutoFit/>
          </a:bodyPr>
          <a:lstStyle/>
          <a:p>
            <a:r>
              <a:rPr lang="en-US" sz="1400"/>
              <a:t>$145,000</a:t>
            </a:r>
          </a:p>
        </p:txBody>
      </p:sp>
      <p:sp>
        <p:nvSpPr>
          <p:cNvPr id="33" name="TextBox 32"/>
          <p:cNvSpPr txBox="1"/>
          <p:nvPr/>
        </p:nvSpPr>
        <p:spPr>
          <a:xfrm>
            <a:off x="7042139" y="4750699"/>
            <a:ext cx="1080872" cy="307777"/>
          </a:xfrm>
          <a:prstGeom prst="rect">
            <a:avLst/>
          </a:prstGeom>
          <a:noFill/>
        </p:spPr>
        <p:txBody>
          <a:bodyPr wrap="square" rtlCol="0">
            <a:spAutoFit/>
          </a:bodyPr>
          <a:lstStyle/>
          <a:p>
            <a:r>
              <a:rPr lang="en-US" sz="1400"/>
              <a:t>$105,000</a:t>
            </a:r>
          </a:p>
        </p:txBody>
      </p:sp>
      <p:sp>
        <p:nvSpPr>
          <p:cNvPr id="34" name="TextBox 33"/>
          <p:cNvSpPr txBox="1"/>
          <p:nvPr/>
        </p:nvSpPr>
        <p:spPr>
          <a:xfrm>
            <a:off x="8244740" y="4618313"/>
            <a:ext cx="1080872" cy="307777"/>
          </a:xfrm>
          <a:prstGeom prst="rect">
            <a:avLst/>
          </a:prstGeom>
          <a:noFill/>
        </p:spPr>
        <p:txBody>
          <a:bodyPr wrap="square" rtlCol="0">
            <a:spAutoFit/>
          </a:bodyPr>
          <a:lstStyle/>
          <a:p>
            <a:r>
              <a:rPr lang="en-US" sz="1400"/>
              <a:t>$110,000</a:t>
            </a:r>
          </a:p>
        </p:txBody>
      </p:sp>
      <p:sp>
        <p:nvSpPr>
          <p:cNvPr id="35" name="TextBox 34"/>
          <p:cNvSpPr txBox="1"/>
          <p:nvPr/>
        </p:nvSpPr>
        <p:spPr>
          <a:xfrm>
            <a:off x="9433309" y="4256141"/>
            <a:ext cx="1080872" cy="307777"/>
          </a:xfrm>
          <a:prstGeom prst="rect">
            <a:avLst/>
          </a:prstGeom>
          <a:noFill/>
        </p:spPr>
        <p:txBody>
          <a:bodyPr wrap="square" rtlCol="0">
            <a:spAutoFit/>
          </a:bodyPr>
          <a:lstStyle/>
          <a:p>
            <a:r>
              <a:rPr lang="en-US" sz="1400"/>
              <a:t>$160,000</a:t>
            </a:r>
          </a:p>
        </p:txBody>
      </p:sp>
      <p:sp>
        <p:nvSpPr>
          <p:cNvPr id="11" name="Rectangle 10"/>
          <p:cNvSpPr/>
          <p:nvPr/>
        </p:nvSpPr>
        <p:spPr>
          <a:xfrm>
            <a:off x="406400" y="5333941"/>
            <a:ext cx="11490036" cy="1057621"/>
          </a:xfrm>
          <a:prstGeom prst="rect">
            <a:avLst/>
          </a:prstGeom>
          <a:noFill/>
          <a:ln>
            <a:solidFill>
              <a:srgbClr val="94B6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75000"/>
                </a:schemeClr>
              </a:solidFill>
            </a:endParaRPr>
          </a:p>
        </p:txBody>
      </p:sp>
      <p:sp>
        <p:nvSpPr>
          <p:cNvPr id="12" name="TextBox 11"/>
          <p:cNvSpPr txBox="1"/>
          <p:nvPr/>
        </p:nvSpPr>
        <p:spPr>
          <a:xfrm>
            <a:off x="5042433" y="6580041"/>
            <a:ext cx="2860479" cy="338554"/>
          </a:xfrm>
          <a:prstGeom prst="rect">
            <a:avLst/>
          </a:prstGeom>
          <a:noFill/>
        </p:spPr>
        <p:txBody>
          <a:bodyPr wrap="square" rtlCol="0">
            <a:spAutoFit/>
          </a:bodyPr>
          <a:lstStyle/>
          <a:p>
            <a:r>
              <a:rPr lang="en-US" sz="1600" i="1"/>
              <a:t>Average Net Income</a:t>
            </a:r>
          </a:p>
        </p:txBody>
      </p:sp>
      <p:cxnSp>
        <p:nvCxnSpPr>
          <p:cNvPr id="16" name="Straight Connector 15"/>
          <p:cNvCxnSpPr/>
          <p:nvPr/>
        </p:nvCxnSpPr>
        <p:spPr>
          <a:xfrm>
            <a:off x="923636" y="6299199"/>
            <a:ext cx="0" cy="17304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2184398" y="6303818"/>
            <a:ext cx="0" cy="17304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3394360" y="6294586"/>
            <a:ext cx="0" cy="17304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4655122" y="6299205"/>
            <a:ext cx="0" cy="17304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5851244" y="6285348"/>
            <a:ext cx="0" cy="17304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7112006" y="6289967"/>
            <a:ext cx="0" cy="17304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8354303" y="6285345"/>
            <a:ext cx="0" cy="17304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9615065" y="6289964"/>
            <a:ext cx="0" cy="17304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10922025" y="6285347"/>
            <a:ext cx="0" cy="173043"/>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572653" y="6402971"/>
            <a:ext cx="1025236" cy="338554"/>
          </a:xfrm>
          <a:prstGeom prst="rect">
            <a:avLst/>
          </a:prstGeom>
          <a:noFill/>
        </p:spPr>
        <p:txBody>
          <a:bodyPr wrap="square" rtlCol="0">
            <a:spAutoFit/>
          </a:bodyPr>
          <a:lstStyle/>
          <a:p>
            <a:r>
              <a:rPr lang="en-US" sz="1600"/>
              <a:t>90,000</a:t>
            </a:r>
          </a:p>
        </p:txBody>
      </p:sp>
      <p:sp>
        <p:nvSpPr>
          <p:cNvPr id="46" name="TextBox 45"/>
          <p:cNvSpPr txBox="1"/>
          <p:nvPr/>
        </p:nvSpPr>
        <p:spPr>
          <a:xfrm>
            <a:off x="1715645" y="6402773"/>
            <a:ext cx="1025236" cy="338554"/>
          </a:xfrm>
          <a:prstGeom prst="rect">
            <a:avLst/>
          </a:prstGeom>
          <a:noFill/>
        </p:spPr>
        <p:txBody>
          <a:bodyPr wrap="square" rtlCol="0">
            <a:spAutoFit/>
          </a:bodyPr>
          <a:lstStyle/>
          <a:p>
            <a:r>
              <a:rPr lang="en-US" sz="1600"/>
              <a:t>100,000</a:t>
            </a:r>
          </a:p>
        </p:txBody>
      </p:sp>
      <p:sp>
        <p:nvSpPr>
          <p:cNvPr id="47" name="TextBox 46"/>
          <p:cNvSpPr txBox="1"/>
          <p:nvPr/>
        </p:nvSpPr>
        <p:spPr>
          <a:xfrm>
            <a:off x="2989548" y="6406389"/>
            <a:ext cx="1025236" cy="338554"/>
          </a:xfrm>
          <a:prstGeom prst="rect">
            <a:avLst/>
          </a:prstGeom>
          <a:noFill/>
        </p:spPr>
        <p:txBody>
          <a:bodyPr wrap="square" rtlCol="0">
            <a:spAutoFit/>
          </a:bodyPr>
          <a:lstStyle/>
          <a:p>
            <a:r>
              <a:rPr lang="en-US" sz="1600"/>
              <a:t>110,000</a:t>
            </a:r>
          </a:p>
        </p:txBody>
      </p:sp>
      <p:sp>
        <p:nvSpPr>
          <p:cNvPr id="48" name="TextBox 47"/>
          <p:cNvSpPr txBox="1"/>
          <p:nvPr/>
        </p:nvSpPr>
        <p:spPr>
          <a:xfrm>
            <a:off x="7971462" y="6402773"/>
            <a:ext cx="1025236" cy="338554"/>
          </a:xfrm>
          <a:prstGeom prst="rect">
            <a:avLst/>
          </a:prstGeom>
          <a:noFill/>
        </p:spPr>
        <p:txBody>
          <a:bodyPr wrap="square" rtlCol="0">
            <a:spAutoFit/>
          </a:bodyPr>
          <a:lstStyle/>
          <a:p>
            <a:r>
              <a:rPr lang="en-US" sz="1600"/>
              <a:t>150,000</a:t>
            </a:r>
          </a:p>
        </p:txBody>
      </p:sp>
      <p:sp>
        <p:nvSpPr>
          <p:cNvPr id="49" name="TextBox 48"/>
          <p:cNvSpPr txBox="1"/>
          <p:nvPr/>
        </p:nvSpPr>
        <p:spPr>
          <a:xfrm>
            <a:off x="5432574" y="6410764"/>
            <a:ext cx="1025236" cy="338554"/>
          </a:xfrm>
          <a:prstGeom prst="rect">
            <a:avLst/>
          </a:prstGeom>
          <a:noFill/>
        </p:spPr>
        <p:txBody>
          <a:bodyPr wrap="square" rtlCol="0">
            <a:spAutoFit/>
          </a:bodyPr>
          <a:lstStyle/>
          <a:p>
            <a:r>
              <a:rPr lang="en-US" sz="1600"/>
              <a:t>130,000</a:t>
            </a:r>
          </a:p>
        </p:txBody>
      </p:sp>
      <p:sp>
        <p:nvSpPr>
          <p:cNvPr id="50" name="TextBox 49"/>
          <p:cNvSpPr txBox="1"/>
          <p:nvPr/>
        </p:nvSpPr>
        <p:spPr>
          <a:xfrm>
            <a:off x="6748290" y="6410764"/>
            <a:ext cx="1025236" cy="338554"/>
          </a:xfrm>
          <a:prstGeom prst="rect">
            <a:avLst/>
          </a:prstGeom>
          <a:noFill/>
        </p:spPr>
        <p:txBody>
          <a:bodyPr wrap="square" rtlCol="0">
            <a:spAutoFit/>
          </a:bodyPr>
          <a:lstStyle/>
          <a:p>
            <a:r>
              <a:rPr lang="en-US" sz="1600"/>
              <a:t>140,000</a:t>
            </a:r>
          </a:p>
        </p:txBody>
      </p:sp>
      <p:sp>
        <p:nvSpPr>
          <p:cNvPr id="51" name="TextBox 50"/>
          <p:cNvSpPr txBox="1"/>
          <p:nvPr/>
        </p:nvSpPr>
        <p:spPr>
          <a:xfrm>
            <a:off x="10507431" y="6412204"/>
            <a:ext cx="1025236" cy="338554"/>
          </a:xfrm>
          <a:prstGeom prst="rect">
            <a:avLst/>
          </a:prstGeom>
          <a:noFill/>
        </p:spPr>
        <p:txBody>
          <a:bodyPr wrap="square" rtlCol="0">
            <a:spAutoFit/>
          </a:bodyPr>
          <a:lstStyle/>
          <a:p>
            <a:r>
              <a:rPr lang="en-US" sz="1600"/>
              <a:t>170,000</a:t>
            </a:r>
          </a:p>
        </p:txBody>
      </p:sp>
      <p:sp>
        <p:nvSpPr>
          <p:cNvPr id="52" name="TextBox 51"/>
          <p:cNvSpPr txBox="1"/>
          <p:nvPr/>
        </p:nvSpPr>
        <p:spPr>
          <a:xfrm>
            <a:off x="4217989" y="6410764"/>
            <a:ext cx="1025236" cy="338554"/>
          </a:xfrm>
          <a:prstGeom prst="rect">
            <a:avLst/>
          </a:prstGeom>
          <a:noFill/>
        </p:spPr>
        <p:txBody>
          <a:bodyPr wrap="square" rtlCol="0">
            <a:spAutoFit/>
          </a:bodyPr>
          <a:lstStyle/>
          <a:p>
            <a:r>
              <a:rPr lang="en-US" sz="1600"/>
              <a:t>120,000</a:t>
            </a:r>
          </a:p>
        </p:txBody>
      </p:sp>
      <p:sp>
        <p:nvSpPr>
          <p:cNvPr id="53" name="TextBox 52"/>
          <p:cNvSpPr txBox="1"/>
          <p:nvPr/>
        </p:nvSpPr>
        <p:spPr>
          <a:xfrm>
            <a:off x="9187351" y="6402773"/>
            <a:ext cx="1025236" cy="338554"/>
          </a:xfrm>
          <a:prstGeom prst="rect">
            <a:avLst/>
          </a:prstGeom>
          <a:noFill/>
        </p:spPr>
        <p:txBody>
          <a:bodyPr wrap="square" rtlCol="0">
            <a:spAutoFit/>
          </a:bodyPr>
          <a:lstStyle/>
          <a:p>
            <a:r>
              <a:rPr lang="en-US" sz="1600"/>
              <a:t>160,000</a:t>
            </a:r>
          </a:p>
        </p:txBody>
      </p:sp>
      <p:sp>
        <p:nvSpPr>
          <p:cNvPr id="54" name="Oval 53"/>
          <p:cNvSpPr/>
          <p:nvPr/>
        </p:nvSpPr>
        <p:spPr>
          <a:xfrm>
            <a:off x="1385455" y="6266873"/>
            <a:ext cx="92363" cy="865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5" name="Oval 54"/>
          <p:cNvSpPr/>
          <p:nvPr/>
        </p:nvSpPr>
        <p:spPr>
          <a:xfrm>
            <a:off x="5232412" y="6280732"/>
            <a:ext cx="92363" cy="865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6" name="Oval 55"/>
          <p:cNvSpPr/>
          <p:nvPr/>
        </p:nvSpPr>
        <p:spPr>
          <a:xfrm>
            <a:off x="3348179" y="6262256"/>
            <a:ext cx="92363" cy="865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7" name="Oval 56"/>
          <p:cNvSpPr/>
          <p:nvPr/>
        </p:nvSpPr>
        <p:spPr>
          <a:xfrm>
            <a:off x="6343081" y="6276213"/>
            <a:ext cx="92363" cy="865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8" name="Oval 57"/>
          <p:cNvSpPr/>
          <p:nvPr/>
        </p:nvSpPr>
        <p:spPr>
          <a:xfrm>
            <a:off x="7719838" y="6283646"/>
            <a:ext cx="92363" cy="865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9" name="Oval 58"/>
          <p:cNvSpPr/>
          <p:nvPr/>
        </p:nvSpPr>
        <p:spPr>
          <a:xfrm>
            <a:off x="2697016" y="6276170"/>
            <a:ext cx="92363" cy="865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0" name="Oval 59"/>
          <p:cNvSpPr/>
          <p:nvPr/>
        </p:nvSpPr>
        <p:spPr>
          <a:xfrm>
            <a:off x="9568881" y="6240385"/>
            <a:ext cx="92363" cy="8652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62" name="Straight Arrow Connector 61"/>
          <p:cNvCxnSpPr/>
          <p:nvPr/>
        </p:nvCxnSpPr>
        <p:spPr>
          <a:xfrm>
            <a:off x="2697016" y="4644062"/>
            <a:ext cx="2419929" cy="15963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p:nvPr/>
        </p:nvCxnSpPr>
        <p:spPr>
          <a:xfrm flipH="1">
            <a:off x="1597889" y="5058476"/>
            <a:ext cx="1842653" cy="11819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17" idx="1"/>
          </p:cNvCxnSpPr>
          <p:nvPr/>
        </p:nvCxnSpPr>
        <p:spPr>
          <a:xfrm>
            <a:off x="4920987" y="5083913"/>
            <a:ext cx="1350504" cy="11564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p:nvPr/>
        </p:nvCxnSpPr>
        <p:spPr>
          <a:xfrm>
            <a:off x="6271491" y="5195397"/>
            <a:ext cx="1311084" cy="10449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p:nvPr/>
        </p:nvCxnSpPr>
        <p:spPr>
          <a:xfrm flipH="1">
            <a:off x="2869417" y="5152612"/>
            <a:ext cx="4451253" cy="10080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p:nvPr/>
        </p:nvCxnSpPr>
        <p:spPr>
          <a:xfrm flipH="1">
            <a:off x="3612292" y="5083913"/>
            <a:ext cx="4871788" cy="11783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p:nvPr/>
        </p:nvCxnSpPr>
        <p:spPr>
          <a:xfrm flipH="1">
            <a:off x="9661244" y="4824462"/>
            <a:ext cx="38725" cy="12253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1731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420DE-6C1A-47D7-A079-4158A12AF1B4}"/>
              </a:ext>
            </a:extLst>
          </p:cNvPr>
          <p:cNvSpPr>
            <a:spLocks noGrp="1"/>
          </p:cNvSpPr>
          <p:nvPr>
            <p:ph type="title"/>
          </p:nvPr>
        </p:nvSpPr>
        <p:spPr>
          <a:xfrm>
            <a:off x="625765" y="826943"/>
            <a:ext cx="10515600" cy="832266"/>
          </a:xfrm>
        </p:spPr>
        <p:txBody>
          <a:bodyPr>
            <a:normAutofit/>
          </a:bodyPr>
          <a:lstStyle/>
          <a:p>
            <a:r>
              <a:rPr lang="en-US"/>
              <a:t>Sampling distribution of many percent's</a:t>
            </a:r>
          </a:p>
        </p:txBody>
      </p:sp>
      <p:pic>
        <p:nvPicPr>
          <p:cNvPr id="4" name="Picture 3">
            <a:extLst>
              <a:ext uri="{FF2B5EF4-FFF2-40B4-BE49-F238E27FC236}">
                <a16:creationId xmlns:a16="http://schemas.microsoft.com/office/drawing/2014/main" id="{B1A8B8E6-D88F-4C1B-8F5B-6E34AD80F286}"/>
              </a:ext>
            </a:extLst>
          </p:cNvPr>
          <p:cNvPicPr>
            <a:picLocks noChangeAspect="1"/>
          </p:cNvPicPr>
          <p:nvPr/>
        </p:nvPicPr>
        <p:blipFill>
          <a:blip r:embed="rId2"/>
          <a:stretch>
            <a:fillRect/>
          </a:stretch>
        </p:blipFill>
        <p:spPr>
          <a:xfrm>
            <a:off x="3300762" y="2336800"/>
            <a:ext cx="4566969" cy="4255762"/>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A64810E-7105-4CB5-BF5E-90C08DC858EA}"/>
                  </a:ext>
                </a:extLst>
              </p:cNvPr>
              <p:cNvSpPr txBox="1"/>
              <p:nvPr/>
            </p:nvSpPr>
            <p:spPr>
              <a:xfrm>
                <a:off x="6148038" y="6356350"/>
                <a:ext cx="368626" cy="369332"/>
              </a:xfrm>
              <a:prstGeom prst="rect">
                <a:avLst/>
              </a:prstGeom>
              <a:noFill/>
            </p:spPr>
            <p:txBody>
              <a:bodyPr wrap="none" rtlCol="0">
                <a:spAutoFit/>
              </a:bodyPr>
              <a:lstStyle/>
              <a:p>
                <a:pPr/>
                <a14:m>
                  <m:oMathPara xmlns:m="http://schemas.openxmlformats.org/officeDocument/2006/math">
                    <m:o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𝑝</m:t>
                          </m:r>
                        </m:e>
                      </m:acc>
                    </m:oMath>
                  </m:oMathPara>
                </a14:m>
                <a:endParaRPr lang="en-US"/>
              </a:p>
            </p:txBody>
          </p:sp>
        </mc:Choice>
        <mc:Fallback xmlns="">
          <p:sp>
            <p:nvSpPr>
              <p:cNvPr id="5" name="TextBox 4">
                <a:extLst>
                  <a:ext uri="{FF2B5EF4-FFF2-40B4-BE49-F238E27FC236}">
                    <a16:creationId xmlns:a16="http://schemas.microsoft.com/office/drawing/2014/main" id="{9A64810E-7105-4CB5-BF5E-90C08DC858EA}"/>
                  </a:ext>
                </a:extLst>
              </p:cNvPr>
              <p:cNvSpPr txBox="1">
                <a:spLocks noRot="1" noChangeAspect="1" noMove="1" noResize="1" noEditPoints="1" noAdjustHandles="1" noChangeArrowheads="1" noChangeShapeType="1" noTextEdit="1"/>
              </p:cNvSpPr>
              <p:nvPr/>
            </p:nvSpPr>
            <p:spPr>
              <a:xfrm>
                <a:off x="6148038" y="6356350"/>
                <a:ext cx="368626" cy="369332"/>
              </a:xfrm>
              <a:prstGeom prst="rect">
                <a:avLst/>
              </a:prstGeom>
              <a:blipFill>
                <a:blip r:embed="rId3"/>
                <a:stretch>
                  <a:fillRect t="-6667" r="-38333" b="-6667"/>
                </a:stretch>
              </a:blipFill>
            </p:spPr>
            <p:txBody>
              <a:bodyPr/>
              <a:lstStyle/>
              <a:p>
                <a:r>
                  <a:rPr lang="en-US">
                    <a:noFill/>
                  </a:rPr>
                  <a:t> </a:t>
                </a:r>
              </a:p>
            </p:txBody>
          </p:sp>
        </mc:Fallback>
      </mc:AlternateContent>
    </p:spTree>
    <p:extLst>
      <p:ext uri="{BB962C8B-B14F-4D97-AF65-F5344CB8AC3E}">
        <p14:creationId xmlns:p14="http://schemas.microsoft.com/office/powerpoint/2010/main" val="5141737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420DE-6C1A-47D7-A079-4158A12AF1B4}"/>
              </a:ext>
            </a:extLst>
          </p:cNvPr>
          <p:cNvSpPr>
            <a:spLocks noGrp="1"/>
          </p:cNvSpPr>
          <p:nvPr>
            <p:ph type="title"/>
          </p:nvPr>
        </p:nvSpPr>
        <p:spPr>
          <a:xfrm>
            <a:off x="755073" y="854653"/>
            <a:ext cx="10515600" cy="832266"/>
          </a:xfrm>
        </p:spPr>
        <p:txBody>
          <a:bodyPr>
            <a:normAutofit/>
          </a:bodyPr>
          <a:lstStyle/>
          <a:p>
            <a:r>
              <a:rPr lang="en-US"/>
              <a:t>Sampling distribution of many means</a:t>
            </a:r>
          </a:p>
        </p:txBody>
      </p:sp>
      <p:pic>
        <p:nvPicPr>
          <p:cNvPr id="4" name="Picture 3">
            <a:extLst>
              <a:ext uri="{FF2B5EF4-FFF2-40B4-BE49-F238E27FC236}">
                <a16:creationId xmlns:a16="http://schemas.microsoft.com/office/drawing/2014/main" id="{31C099EA-4102-4DF8-8606-F2D6A5F5D28F}"/>
              </a:ext>
            </a:extLst>
          </p:cNvPr>
          <p:cNvPicPr>
            <a:picLocks noChangeAspect="1"/>
          </p:cNvPicPr>
          <p:nvPr/>
        </p:nvPicPr>
        <p:blipFill>
          <a:blip r:embed="rId2"/>
          <a:stretch>
            <a:fillRect/>
          </a:stretch>
        </p:blipFill>
        <p:spPr>
          <a:xfrm>
            <a:off x="3316772" y="2523454"/>
            <a:ext cx="5559374" cy="3226770"/>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B69F9E1-0B0B-4ED4-87A8-320469520A3E}"/>
                  </a:ext>
                </a:extLst>
              </p:cNvPr>
              <p:cNvSpPr txBox="1"/>
              <p:nvPr/>
            </p:nvSpPr>
            <p:spPr>
              <a:xfrm>
                <a:off x="5911686" y="5679292"/>
                <a:ext cx="375534" cy="370906"/>
              </a:xfrm>
              <a:prstGeom prst="rect">
                <a:avLst/>
              </a:prstGeom>
              <a:noFill/>
            </p:spPr>
            <p:txBody>
              <a:bodyPr wrap="square" rtlCol="0">
                <a:spAutoFit/>
              </a:bodyPr>
              <a:lstStyle/>
              <a:p>
                <a:pPr/>
                <a14:m>
                  <m:oMathPara xmlns:m="http://schemas.openxmlformats.org/officeDocument/2006/math">
                    <m:o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oMath>
                  </m:oMathPara>
                </a14:m>
                <a:endParaRPr lang="en-US"/>
              </a:p>
            </p:txBody>
          </p:sp>
        </mc:Choice>
        <mc:Fallback xmlns="">
          <p:sp>
            <p:nvSpPr>
              <p:cNvPr id="6" name="TextBox 5">
                <a:extLst>
                  <a:ext uri="{FF2B5EF4-FFF2-40B4-BE49-F238E27FC236}">
                    <a16:creationId xmlns:a16="http://schemas.microsoft.com/office/drawing/2014/main" id="{8B69F9E1-0B0B-4ED4-87A8-320469520A3E}"/>
                  </a:ext>
                </a:extLst>
              </p:cNvPr>
              <p:cNvSpPr txBox="1">
                <a:spLocks noRot="1" noChangeAspect="1" noMove="1" noResize="1" noEditPoints="1" noAdjustHandles="1" noChangeArrowheads="1" noChangeShapeType="1" noTextEdit="1"/>
              </p:cNvSpPr>
              <p:nvPr/>
            </p:nvSpPr>
            <p:spPr>
              <a:xfrm>
                <a:off x="5911686" y="5679292"/>
                <a:ext cx="375534" cy="370906"/>
              </a:xfrm>
              <a:prstGeom prst="rect">
                <a:avLst/>
              </a:prstGeom>
              <a:blipFill>
                <a:blip r:embed="rId3"/>
                <a:stretch>
                  <a:fillRect r="-22951"/>
                </a:stretch>
              </a:blipFill>
            </p:spPr>
            <p:txBody>
              <a:bodyPr/>
              <a:lstStyle/>
              <a:p>
                <a:r>
                  <a:rPr lang="en-US">
                    <a:noFill/>
                  </a:rPr>
                  <a:t> </a:t>
                </a:r>
              </a:p>
            </p:txBody>
          </p:sp>
        </mc:Fallback>
      </mc:AlternateContent>
    </p:spTree>
    <p:extLst>
      <p:ext uri="{BB962C8B-B14F-4D97-AF65-F5344CB8AC3E}">
        <p14:creationId xmlns:p14="http://schemas.microsoft.com/office/powerpoint/2010/main" val="39138280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E7165-4636-4F99-A881-969CAE994FAD}"/>
              </a:ext>
            </a:extLst>
          </p:cNvPr>
          <p:cNvSpPr>
            <a:spLocks noGrp="1"/>
          </p:cNvSpPr>
          <p:nvPr>
            <p:ph type="title"/>
          </p:nvPr>
        </p:nvSpPr>
        <p:spPr/>
        <p:txBody>
          <a:bodyPr/>
          <a:lstStyle/>
          <a:p>
            <a:r>
              <a:rPr lang="en-US"/>
              <a:t>Standard error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38F0F3A-3710-409D-939D-59F3E8691B64}"/>
                  </a:ext>
                </a:extLst>
              </p:cNvPr>
              <p:cNvSpPr>
                <a:spLocks noGrp="1"/>
              </p:cNvSpPr>
              <p:nvPr>
                <p:ph idx="1"/>
              </p:nvPr>
            </p:nvSpPr>
            <p:spPr/>
            <p:txBody>
              <a:bodyPr>
                <a:normAutofit/>
              </a:bodyPr>
              <a:lstStyle/>
              <a:p>
                <a:pPr>
                  <a:lnSpc>
                    <a:spcPct val="150000"/>
                  </a:lnSpc>
                  <a:spcBef>
                    <a:spcPts val="0"/>
                  </a:spcBef>
                  <a:spcAft>
                    <a:spcPts val="0"/>
                  </a:spcAft>
                </a:pPr>
                <a:r>
                  <a:rPr lang="en-US" sz="2000"/>
                  <a:t>The standard deviation of a statistic has a fancy name: </a:t>
                </a:r>
                <a:r>
                  <a:rPr lang="en-US" sz="2000" b="1"/>
                  <a:t>Standard error</a:t>
                </a:r>
                <a:endParaRPr lang="en-US" sz="3200" b="1"/>
              </a:p>
              <a:p>
                <a:pPr>
                  <a:lnSpc>
                    <a:spcPct val="150000"/>
                  </a:lnSpc>
                  <a:spcBef>
                    <a:spcPts val="0"/>
                  </a:spcBef>
                  <a:spcAft>
                    <a:spcPts val="0"/>
                  </a:spcAft>
                </a:pPr>
                <a:endParaRPr lang="en-US" sz="2000"/>
              </a:p>
              <a:p>
                <a:pPr>
                  <a:lnSpc>
                    <a:spcPct val="150000"/>
                  </a:lnSpc>
                  <a:spcBef>
                    <a:spcPts val="0"/>
                  </a:spcBef>
                  <a:spcAft>
                    <a:spcPts val="0"/>
                  </a:spcAft>
                </a:pPr>
                <a:r>
                  <a:rPr lang="en-US" sz="2000"/>
                  <a:t>We use </a:t>
                </a:r>
                <a14:m>
                  <m:oMath xmlns:m="http://schemas.openxmlformats.org/officeDocument/2006/math">
                    <m:r>
                      <a:rPr lang="en-US" sz="2000" b="0" i="1" smtClean="0">
                        <a:latin typeface="Cambria Math" panose="02040503050406030204" pitchFamily="18" charset="0"/>
                      </a:rPr>
                      <m:t>𝑆𝐸</m:t>
                    </m:r>
                    <m:r>
                      <a:rPr lang="en-US" sz="2000" b="0" i="1" smtClean="0">
                        <a:latin typeface="Cambria Math" panose="02040503050406030204" pitchFamily="18" charset="0"/>
                      </a:rPr>
                      <m:t>(⋅)</m:t>
                    </m:r>
                  </m:oMath>
                </a14:m>
                <a:r>
                  <a:rPr lang="en-US" sz="2000" i="1"/>
                  <a:t> </a:t>
                </a:r>
                <a:r>
                  <a:rPr lang="en-US" sz="2000"/>
                  <a:t>to refer to standard error of a statistic</a:t>
                </a:r>
              </a:p>
              <a:p>
                <a:pPr lvl="1">
                  <a:lnSpc>
                    <a:spcPct val="150000"/>
                  </a:lnSpc>
                  <a:spcBef>
                    <a:spcPts val="0"/>
                  </a:spcBef>
                  <a:spcAft>
                    <a:spcPts val="0"/>
                  </a:spcAft>
                </a:pPr>
                <a14:m>
                  <m:oMath xmlns:m="http://schemas.openxmlformats.org/officeDocument/2006/math">
                    <m:r>
                      <a:rPr lang="en-US" sz="1800" b="0" i="1" smtClean="0">
                        <a:latin typeface="Cambria Math" panose="02040503050406030204" pitchFamily="18" charset="0"/>
                      </a:rPr>
                      <m:t>𝑆𝐸</m:t>
                    </m:r>
                    <m:r>
                      <a:rPr lang="en-US" sz="1800" b="0" i="1" smtClean="0">
                        <a:latin typeface="Cambria Math" panose="02040503050406030204" pitchFamily="18" charset="0"/>
                      </a:rPr>
                      <m:t>(</m:t>
                    </m:r>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𝑝</m:t>
                        </m:r>
                      </m:e>
                    </m:acc>
                    <m:r>
                      <a:rPr lang="en-US" sz="1800" b="0" i="1" smtClean="0">
                        <a:latin typeface="Cambria Math" panose="02040503050406030204" pitchFamily="18" charset="0"/>
                      </a:rPr>
                      <m:t>)</m:t>
                    </m:r>
                  </m:oMath>
                </a14:m>
                <a:r>
                  <a:rPr lang="en-US" sz="1800"/>
                  <a:t> for standard error of sample percent</a:t>
                </a:r>
              </a:p>
              <a:p>
                <a:pPr lvl="1">
                  <a:lnSpc>
                    <a:spcPct val="150000"/>
                  </a:lnSpc>
                  <a:spcBef>
                    <a:spcPts val="0"/>
                  </a:spcBef>
                  <a:spcAft>
                    <a:spcPts val="0"/>
                  </a:spcAft>
                </a:pPr>
                <a14:m>
                  <m:oMath xmlns:m="http://schemas.openxmlformats.org/officeDocument/2006/math">
                    <m:r>
                      <a:rPr lang="en-US" sz="1800" i="1">
                        <a:latin typeface="Cambria Math" panose="02040503050406030204" pitchFamily="18" charset="0"/>
                      </a:rPr>
                      <m:t>𝑆𝐸</m:t>
                    </m:r>
                    <m:r>
                      <a:rPr lang="en-US" sz="1800" i="1">
                        <a:latin typeface="Cambria Math" panose="02040503050406030204" pitchFamily="18" charset="0"/>
                      </a:rPr>
                      <m:t>(</m:t>
                    </m:r>
                    <m:acc>
                      <m:accPr>
                        <m:chr m:val="̅"/>
                        <m:ctrlPr>
                          <a:rPr lang="en-US" sz="1800" i="1">
                            <a:latin typeface="Cambria Math" panose="02040503050406030204" pitchFamily="18" charset="0"/>
                          </a:rPr>
                        </m:ctrlPr>
                      </m:accPr>
                      <m:e>
                        <m:r>
                          <a:rPr lang="en-US" sz="1800" i="1">
                            <a:latin typeface="Cambria Math" panose="02040503050406030204" pitchFamily="18" charset="0"/>
                          </a:rPr>
                          <m:t>𝑥</m:t>
                        </m:r>
                      </m:e>
                    </m:acc>
                    <m:r>
                      <a:rPr lang="en-US" sz="1800" i="1">
                        <a:latin typeface="Cambria Math" panose="02040503050406030204" pitchFamily="18" charset="0"/>
                      </a:rPr>
                      <m:t>)</m:t>
                    </m:r>
                  </m:oMath>
                </a14:m>
                <a:r>
                  <a:rPr lang="en-US" sz="1800"/>
                  <a:t> for standard error of sample mean</a:t>
                </a:r>
              </a:p>
            </p:txBody>
          </p:sp>
        </mc:Choice>
        <mc:Fallback xmlns="">
          <p:sp>
            <p:nvSpPr>
              <p:cNvPr id="3" name="Content Placeholder 2">
                <a:extLst>
                  <a:ext uri="{FF2B5EF4-FFF2-40B4-BE49-F238E27FC236}">
                    <a16:creationId xmlns:a16="http://schemas.microsoft.com/office/drawing/2014/main" id="{138F0F3A-3710-409D-939D-59F3E8691B64}"/>
                  </a:ext>
                </a:extLst>
              </p:cNvPr>
              <p:cNvSpPr>
                <a:spLocks noGrp="1" noRot="1" noChangeAspect="1" noMove="1" noResize="1" noEditPoints="1" noAdjustHandles="1" noChangeArrowheads="1" noChangeShapeType="1" noTextEdit="1"/>
              </p:cNvSpPr>
              <p:nvPr>
                <p:ph idx="1"/>
              </p:nvPr>
            </p:nvSpPr>
            <p:spPr>
              <a:blipFill>
                <a:blip r:embed="rId2"/>
                <a:stretch>
                  <a:fillRect l="-442"/>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D69AC1E8-A776-4B2F-B11C-9BE50DA2FE4C}"/>
              </a:ext>
            </a:extLst>
          </p:cNvPr>
          <p:cNvSpPr>
            <a:spLocks noGrp="1"/>
          </p:cNvSpPr>
          <p:nvPr>
            <p:ph type="sldNum" sz="quarter" idx="12"/>
          </p:nvPr>
        </p:nvSpPr>
        <p:spPr/>
        <p:txBody>
          <a:bodyPr/>
          <a:lstStyle/>
          <a:p>
            <a:fld id="{08FED1EB-B815-4C98-A331-E6CCE502CA37}" type="slidenum">
              <a:rPr lang="en-US" smtClean="0"/>
              <a:t>14</a:t>
            </a:fld>
            <a:endParaRPr lang="en-US"/>
          </a:p>
        </p:txBody>
      </p:sp>
    </p:spTree>
    <p:extLst>
      <p:ext uri="{BB962C8B-B14F-4D97-AF65-F5344CB8AC3E}">
        <p14:creationId xmlns:p14="http://schemas.microsoft.com/office/powerpoint/2010/main" val="22699633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2CF97-9205-412C-B24F-067810052E56}"/>
              </a:ext>
            </a:extLst>
          </p:cNvPr>
          <p:cNvSpPr>
            <a:spLocks noGrp="1"/>
          </p:cNvSpPr>
          <p:nvPr>
            <p:ph type="title"/>
          </p:nvPr>
        </p:nvSpPr>
        <p:spPr/>
        <p:txBody>
          <a:bodyPr/>
          <a:lstStyle/>
          <a:p>
            <a:r>
              <a:rPr lang="en-US"/>
              <a:t>Good statistics</a:t>
            </a:r>
          </a:p>
        </p:txBody>
      </p:sp>
      <p:sp>
        <p:nvSpPr>
          <p:cNvPr id="3" name="Content Placeholder 2">
            <a:extLst>
              <a:ext uri="{FF2B5EF4-FFF2-40B4-BE49-F238E27FC236}">
                <a16:creationId xmlns:a16="http://schemas.microsoft.com/office/drawing/2014/main" id="{2D0180A6-03AB-4A89-B80C-ABB05363AAE2}"/>
              </a:ext>
            </a:extLst>
          </p:cNvPr>
          <p:cNvSpPr>
            <a:spLocks noGrp="1"/>
          </p:cNvSpPr>
          <p:nvPr>
            <p:ph idx="1"/>
          </p:nvPr>
        </p:nvSpPr>
        <p:spPr>
          <a:xfrm>
            <a:off x="581192" y="2180497"/>
            <a:ext cx="11029615" cy="1929686"/>
          </a:xfrm>
        </p:spPr>
        <p:txBody>
          <a:bodyPr>
            <a:normAutofit/>
          </a:bodyPr>
          <a:lstStyle/>
          <a:p>
            <a:pPr marL="514350" indent="-514350">
              <a:lnSpc>
                <a:spcPct val="150000"/>
              </a:lnSpc>
              <a:spcBef>
                <a:spcPts val="0"/>
              </a:spcBef>
              <a:spcAft>
                <a:spcPts val="0"/>
              </a:spcAft>
              <a:buFont typeface="+mj-lt"/>
              <a:buAutoNum type="arabicPeriod"/>
            </a:pPr>
            <a:r>
              <a:rPr lang="en-US" sz="2000"/>
              <a:t>Are unbiased (on average, equal to their population version)</a:t>
            </a:r>
          </a:p>
          <a:p>
            <a:pPr marL="514350" indent="-514350">
              <a:lnSpc>
                <a:spcPct val="150000"/>
              </a:lnSpc>
              <a:spcBef>
                <a:spcPts val="0"/>
              </a:spcBef>
              <a:spcAft>
                <a:spcPts val="0"/>
              </a:spcAft>
              <a:buFont typeface="+mj-lt"/>
              <a:buAutoNum type="arabicPeriod"/>
            </a:pPr>
            <a:endParaRPr lang="en-US" sz="2000"/>
          </a:p>
          <a:p>
            <a:pPr marL="514350" indent="-514350">
              <a:lnSpc>
                <a:spcPct val="150000"/>
              </a:lnSpc>
              <a:spcBef>
                <a:spcPts val="0"/>
              </a:spcBef>
              <a:spcAft>
                <a:spcPts val="0"/>
              </a:spcAft>
              <a:buFont typeface="+mj-lt"/>
              <a:buAutoNum type="arabicPeriod"/>
            </a:pPr>
            <a:r>
              <a:rPr lang="en-US" sz="2000"/>
              <a:t>Precise (small standard errors)</a:t>
            </a:r>
          </a:p>
        </p:txBody>
      </p:sp>
      <p:sp>
        <p:nvSpPr>
          <p:cNvPr id="4" name="Slide Number Placeholder 3">
            <a:extLst>
              <a:ext uri="{FF2B5EF4-FFF2-40B4-BE49-F238E27FC236}">
                <a16:creationId xmlns:a16="http://schemas.microsoft.com/office/drawing/2014/main" id="{6E2ABA2E-2634-4881-B722-E93F71477539}"/>
              </a:ext>
            </a:extLst>
          </p:cNvPr>
          <p:cNvSpPr>
            <a:spLocks noGrp="1"/>
          </p:cNvSpPr>
          <p:nvPr>
            <p:ph type="sldNum" sz="quarter" idx="12"/>
          </p:nvPr>
        </p:nvSpPr>
        <p:spPr/>
        <p:txBody>
          <a:bodyPr/>
          <a:lstStyle/>
          <a:p>
            <a:fld id="{08FED1EB-B815-4C98-A331-E6CCE502CA37}" type="slidenum">
              <a:rPr lang="en-US" smtClean="0"/>
              <a:t>15</a:t>
            </a:fld>
            <a:endParaRPr lang="en-US"/>
          </a:p>
        </p:txBody>
      </p:sp>
    </p:spTree>
    <p:extLst>
      <p:ext uri="{BB962C8B-B14F-4D97-AF65-F5344CB8AC3E}">
        <p14:creationId xmlns:p14="http://schemas.microsoft.com/office/powerpoint/2010/main" val="4628357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a:t>Sampling Distribution of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𝑋</m:t>
                        </m:r>
                      </m:e>
                    </m:acc>
                  </m:oMath>
                </a14:m>
                <a:endParaRPr lang="en-US"/>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2"/>
                <a:stretch>
                  <a:fillRect l="-1105" b="-1747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81193" y="1986532"/>
                <a:ext cx="11029615" cy="784377"/>
              </a:xfrm>
            </p:spPr>
            <p:txBody>
              <a:bodyPr/>
              <a:lstStyle/>
              <a:p>
                <a:r>
                  <a:rPr lang="en-US"/>
                  <a:t>Let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𝑖𝑖𝑑</m:t>
                    </m:r>
                    <m:r>
                      <a:rPr lang="en-US" b="0" i="1" smtClean="0">
                        <a:latin typeface="Cambria Math" panose="02040503050406030204" pitchFamily="18" charset="0"/>
                      </a:rPr>
                      <m:t> </m:t>
                    </m:r>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𝜎</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a14:m>
                <a:r>
                  <a:rPr lang="en-US"/>
                  <a:t>. Consider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𝑋</m:t>
                        </m:r>
                      </m:e>
                    </m:acc>
                    <m:r>
                      <a:rPr lang="en-US" b="0" i="1" dirty="0" smtClean="0">
                        <a:latin typeface="Cambria Math" panose="02040503050406030204" pitchFamily="18" charset="0"/>
                      </a:rPr>
                      <m:t>=</m:t>
                    </m:r>
                    <m:f>
                      <m:fPr>
                        <m:ctrlPr>
                          <a:rPr lang="en-US" i="1" dirty="0">
                            <a:latin typeface="Cambria Math" panose="02040503050406030204" pitchFamily="18" charset="0"/>
                          </a:rPr>
                        </m:ctrlPr>
                      </m:fPr>
                      <m:num>
                        <m:nary>
                          <m:naryPr>
                            <m:chr m:val="∑"/>
                            <m:ctrlPr>
                              <a:rPr lang="en-US" i="1" dirty="0">
                                <a:latin typeface="Cambria Math" panose="02040503050406030204" pitchFamily="18" charset="0"/>
                              </a:rPr>
                            </m:ctrlPr>
                          </m:naryPr>
                          <m:sub>
                            <m:r>
                              <m:rPr>
                                <m:brk m:alnAt="23"/>
                              </m:rPr>
                              <a:rPr lang="en-US" i="1" dirty="0">
                                <a:latin typeface="Cambria Math" panose="02040503050406030204" pitchFamily="18" charset="0"/>
                              </a:rPr>
                              <m:t>𝑖</m:t>
                            </m:r>
                            <m:r>
                              <a:rPr lang="en-US" i="1" dirty="0">
                                <a:latin typeface="Cambria Math" panose="02040503050406030204" pitchFamily="18" charset="0"/>
                              </a:rPr>
                              <m:t>=1</m:t>
                            </m:r>
                          </m:sub>
                          <m:sup>
                            <m:r>
                              <a:rPr lang="en-US" i="1" dirty="0">
                                <a:latin typeface="Cambria Math" panose="02040503050406030204" pitchFamily="18" charset="0"/>
                              </a:rPr>
                              <m:t>𝑛</m:t>
                            </m:r>
                          </m:sup>
                          <m:e>
                            <m:sSub>
                              <m:sSubPr>
                                <m:ctrlPr>
                                  <a:rPr lang="en-US" i="1" dirty="0">
                                    <a:latin typeface="Cambria Math" panose="02040503050406030204" pitchFamily="18" charset="0"/>
                                  </a:rPr>
                                </m:ctrlPr>
                              </m:sSubPr>
                              <m:e>
                                <m:r>
                                  <a:rPr lang="en-US" i="1" dirty="0">
                                    <a:latin typeface="Cambria Math" panose="02040503050406030204" pitchFamily="18" charset="0"/>
                                  </a:rPr>
                                  <m:t>𝑋</m:t>
                                </m:r>
                              </m:e>
                              <m:sub>
                                <m:r>
                                  <a:rPr lang="en-US" i="1" dirty="0">
                                    <a:latin typeface="Cambria Math" panose="02040503050406030204" pitchFamily="18" charset="0"/>
                                  </a:rPr>
                                  <m:t>𝑖</m:t>
                                </m:r>
                              </m:sub>
                            </m:sSub>
                          </m:e>
                        </m:nary>
                      </m:num>
                      <m:den>
                        <m:r>
                          <a:rPr lang="en-US" b="0" i="1" dirty="0" smtClean="0">
                            <a:latin typeface="Cambria Math" panose="02040503050406030204" pitchFamily="18" charset="0"/>
                          </a:rPr>
                          <m:t>𝑛</m:t>
                        </m:r>
                      </m:den>
                    </m:f>
                  </m:oMath>
                </a14:m>
                <a:r>
                  <a:rPr lang="en-US"/>
                  <a:t>. Find </a:t>
                </a:r>
                <a14:m>
                  <m:oMath xmlns:m="http://schemas.openxmlformats.org/officeDocument/2006/math">
                    <m:r>
                      <a:rPr lang="en-US" b="0" i="1" smtClean="0">
                        <a:latin typeface="Cambria Math" panose="02040503050406030204" pitchFamily="18" charset="0"/>
                      </a:rPr>
                      <m:t>𝐸</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𝑋</m:t>
                        </m:r>
                      </m:e>
                    </m:acc>
                    <m:r>
                      <a:rPr lang="en-US" b="0" i="1" smtClean="0">
                        <a:latin typeface="Cambria Math" panose="02040503050406030204" pitchFamily="18" charset="0"/>
                      </a:rPr>
                      <m:t>]</m:t>
                    </m:r>
                  </m:oMath>
                </a14:m>
                <a:r>
                  <a:rPr lang="en-US"/>
                  <a:t> and </a:t>
                </a:r>
                <a14:m>
                  <m:oMath xmlns:m="http://schemas.openxmlformats.org/officeDocument/2006/math">
                    <m:r>
                      <m:rPr>
                        <m:sty m:val="p"/>
                      </m:rPr>
                      <a:rPr lang="en-US" b="0" i="0" smtClean="0">
                        <a:latin typeface="Cambria Math" panose="02040503050406030204" pitchFamily="18" charset="0"/>
                      </a:rPr>
                      <m:t>Var</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𝑋</m:t>
                        </m:r>
                      </m:e>
                    </m:acc>
                    <m:r>
                      <a:rPr lang="en-US" b="0" i="1" smtClean="0">
                        <a:latin typeface="Cambria Math" panose="02040503050406030204" pitchFamily="18" charset="0"/>
                      </a:rPr>
                      <m:t>)</m:t>
                    </m:r>
                  </m:oMath>
                </a14:m>
                <a:endParaRPr lang="en-US"/>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81193" y="1986532"/>
                <a:ext cx="11029615" cy="784377"/>
              </a:xfrm>
              <a:blipFill>
                <a:blip r:embed="rId3"/>
                <a:stretch>
                  <a:fillRect l="-331"/>
                </a:stretch>
              </a:blipFill>
            </p:spPr>
            <p:txBody>
              <a:bodyPr/>
              <a:lstStyle/>
              <a:p>
                <a:r>
                  <a:rPr lang="en-US">
                    <a:noFill/>
                  </a:rPr>
                  <a:t> </a:t>
                </a:r>
              </a:p>
            </p:txBody>
          </p:sp>
        </mc:Fallback>
      </mc:AlternateContent>
    </p:spTree>
    <p:extLst>
      <p:ext uri="{BB962C8B-B14F-4D97-AF65-F5344CB8AC3E}">
        <p14:creationId xmlns:p14="http://schemas.microsoft.com/office/powerpoint/2010/main" val="38577664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1</a:t>
            </a:r>
          </a:p>
        </p:txBody>
      </p:sp>
      <p:sp>
        <p:nvSpPr>
          <p:cNvPr id="3" name="Content Placeholder 2"/>
          <p:cNvSpPr>
            <a:spLocks noGrp="1"/>
          </p:cNvSpPr>
          <p:nvPr>
            <p:ph idx="1"/>
          </p:nvPr>
        </p:nvSpPr>
        <p:spPr>
          <a:xfrm>
            <a:off x="581192" y="1977297"/>
            <a:ext cx="11029615" cy="1218486"/>
          </a:xfrm>
        </p:spPr>
        <p:txBody>
          <a:bodyPr/>
          <a:lstStyle/>
          <a:p>
            <a:r>
              <a:rPr lang="en-US"/>
              <a:t>If a sample of size of 144 is drawn from a normal distribution with mean 130 and variance 20, what is the distribution of the sample mean? (specify the values of the parameter(s))</a:t>
            </a:r>
          </a:p>
        </p:txBody>
      </p:sp>
    </p:spTree>
    <p:extLst>
      <p:ext uri="{BB962C8B-B14F-4D97-AF65-F5344CB8AC3E}">
        <p14:creationId xmlns:p14="http://schemas.microsoft.com/office/powerpoint/2010/main" val="224492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Sampling Distributions Activity</a:t>
            </a:r>
          </a:p>
        </p:txBody>
      </p:sp>
      <p:sp>
        <p:nvSpPr>
          <p:cNvPr id="3" name="Content Placeholder 2"/>
          <p:cNvSpPr>
            <a:spLocks noGrp="1"/>
          </p:cNvSpPr>
          <p:nvPr>
            <p:ph idx="1"/>
          </p:nvPr>
        </p:nvSpPr>
        <p:spPr>
          <a:xfrm>
            <a:off x="581192" y="2180496"/>
            <a:ext cx="11029615" cy="4368086"/>
          </a:xfrm>
        </p:spPr>
        <p:txBody>
          <a:bodyPr>
            <a:normAutofit/>
          </a:bodyPr>
          <a:lstStyle/>
          <a:p>
            <a:r>
              <a:rPr lang="en-US"/>
              <a:t>Go to the Sampling Distributions webpage at </a:t>
            </a:r>
            <a:r>
              <a:rPr lang="en-US">
                <a:hlinkClick r:id="rId2"/>
              </a:rPr>
              <a:t>http://onlinestatbook.com/stat_sim/sampling_dist/index.html</a:t>
            </a:r>
            <a:r>
              <a:rPr lang="en-US"/>
              <a:t> </a:t>
            </a:r>
          </a:p>
          <a:p>
            <a:r>
              <a:rPr lang="en-US"/>
              <a:t>Click begin</a:t>
            </a:r>
          </a:p>
          <a:p>
            <a:r>
              <a:rPr lang="en-US"/>
              <a:t>Steps</a:t>
            </a:r>
          </a:p>
          <a:p>
            <a:pPr lvl="1"/>
            <a:r>
              <a:rPr lang="en-US"/>
              <a:t>Select Normal Distribution for your parent population</a:t>
            </a:r>
          </a:p>
          <a:p>
            <a:pPr lvl="1"/>
            <a:r>
              <a:rPr lang="en-US"/>
              <a:t>Select N = 2</a:t>
            </a:r>
          </a:p>
          <a:p>
            <a:pPr lvl="1"/>
            <a:r>
              <a:rPr lang="en-US"/>
              <a:t>Click animate, click animate again, and again…</a:t>
            </a:r>
          </a:p>
          <a:p>
            <a:pPr lvl="1"/>
            <a:r>
              <a:rPr lang="en-US"/>
              <a:t>Click 10,000</a:t>
            </a:r>
          </a:p>
          <a:p>
            <a:pPr lvl="1"/>
            <a:r>
              <a:rPr lang="en-US"/>
              <a:t>Increase N to 25 and repeat</a:t>
            </a:r>
          </a:p>
          <a:p>
            <a:pPr lvl="1"/>
            <a:r>
              <a:rPr lang="en-US"/>
              <a:t>What do you notice about the mean and standard deviation of your parent population and sampling distributions?</a:t>
            </a:r>
          </a:p>
          <a:p>
            <a:r>
              <a:rPr lang="en-US"/>
              <a:t>Repeat steps above by changing the parent population to Uniform, Skewed, and Custom</a:t>
            </a:r>
          </a:p>
          <a:p>
            <a:r>
              <a:rPr lang="en-US"/>
              <a:t>What happens as you change your parent population? What changes as N increases?</a:t>
            </a:r>
          </a:p>
        </p:txBody>
      </p:sp>
    </p:spTree>
    <p:extLst>
      <p:ext uri="{BB962C8B-B14F-4D97-AF65-F5344CB8AC3E}">
        <p14:creationId xmlns:p14="http://schemas.microsoft.com/office/powerpoint/2010/main" val="1255983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a:t>Sampling Distribution of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𝑋</m:t>
                        </m:r>
                      </m:e>
                    </m:acc>
                  </m:oMath>
                </a14:m>
                <a:endParaRPr lang="en-US"/>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2"/>
                <a:stretch>
                  <a:fillRect l="-1105" b="-1747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81193" y="1986532"/>
                <a:ext cx="11029615" cy="3010341"/>
              </a:xfrm>
            </p:spPr>
            <p:txBody>
              <a:bodyPr>
                <a:normAutofit/>
              </a:bodyPr>
              <a:lstStyle/>
              <a:p>
                <a:pPr>
                  <a:lnSpc>
                    <a:spcPct val="150000"/>
                  </a:lnSpc>
                  <a:spcBef>
                    <a:spcPts val="0"/>
                  </a:spcBef>
                  <a:spcAft>
                    <a:spcPts val="0"/>
                  </a:spcAft>
                </a:pPr>
                <a:r>
                  <a:rPr lang="en-US" sz="2000"/>
                  <a:t>Properties:</a:t>
                </a:r>
              </a:p>
              <a:p>
                <a:pPr lvl="1">
                  <a:lnSpc>
                    <a:spcPct val="150000"/>
                  </a:lnSpc>
                  <a:spcBef>
                    <a:spcPts val="0"/>
                  </a:spcBef>
                  <a:spcAft>
                    <a:spcPts val="0"/>
                  </a:spcAft>
                  <a:buFont typeface="Wingdings" panose="05000000000000000000" pitchFamily="2" charset="2"/>
                  <a:buChar char="§"/>
                </a:pPr>
                <a:r>
                  <a:rPr lang="en-US" sz="1800"/>
                  <a:t>All unbiased (average  of </a:t>
                </a:r>
                <a14:m>
                  <m:oMath xmlns:m="http://schemas.openxmlformats.org/officeDocument/2006/math">
                    <m:acc>
                      <m:accPr>
                        <m:chr m:val="̅"/>
                        <m:ctrlPr>
                          <a:rPr lang="en-US" sz="1800" i="0">
                            <a:latin typeface="Cambria Math" panose="02040503050406030204" pitchFamily="18" charset="0"/>
                          </a:rPr>
                        </m:ctrlPr>
                      </m:accPr>
                      <m:e>
                        <m:r>
                          <m:rPr>
                            <m:sty m:val="p"/>
                          </m:rPr>
                          <a:rPr lang="en-US" sz="1800" i="0">
                            <a:latin typeface="Cambria Math" panose="02040503050406030204" pitchFamily="18" charset="0"/>
                          </a:rPr>
                          <m:t>x</m:t>
                        </m:r>
                      </m:e>
                    </m:acc>
                  </m:oMath>
                </a14:m>
                <a:r>
                  <a:rPr lang="en-US" sz="1800"/>
                  <a:t>’s is the same as the population mean)</a:t>
                </a:r>
              </a:p>
              <a:p>
                <a:pPr lvl="1">
                  <a:lnSpc>
                    <a:spcPct val="150000"/>
                  </a:lnSpc>
                  <a:spcBef>
                    <a:spcPts val="0"/>
                  </a:spcBef>
                  <a:spcAft>
                    <a:spcPts val="0"/>
                  </a:spcAft>
                  <a:buFont typeface="Wingdings" panose="05000000000000000000" pitchFamily="2" charset="2"/>
                  <a:buChar char="§"/>
                </a:pPr>
                <a:r>
                  <a:rPr lang="en-US" sz="1800"/>
                  <a:t>As </a:t>
                </a:r>
                <a14:m>
                  <m:oMath xmlns:m="http://schemas.openxmlformats.org/officeDocument/2006/math">
                    <m:r>
                      <m:rPr>
                        <m:sty m:val="p"/>
                      </m:rPr>
                      <a:rPr lang="en-US" sz="1800" i="0">
                        <a:latin typeface="Cambria Math" panose="02040503050406030204" pitchFamily="18" charset="0"/>
                      </a:rPr>
                      <m:t>n</m:t>
                    </m:r>
                  </m:oMath>
                </a14:m>
                <a:r>
                  <a:rPr lang="en-US" sz="1800"/>
                  <a:t> increases, SE of the means decreases</a:t>
                </a:r>
              </a:p>
              <a:p>
                <a:pPr lvl="1">
                  <a:lnSpc>
                    <a:spcPct val="150000"/>
                  </a:lnSpc>
                  <a:spcBef>
                    <a:spcPts val="0"/>
                  </a:spcBef>
                  <a:spcAft>
                    <a:spcPts val="0"/>
                  </a:spcAft>
                  <a:buFont typeface="Wingdings" panose="05000000000000000000" pitchFamily="2" charset="2"/>
                  <a:buChar char="§"/>
                </a:pPr>
                <a:r>
                  <a:rPr lang="en-US" sz="1800"/>
                  <a:t>Bell-shape!</a:t>
                </a:r>
                <a:endParaRPr lang="en-US"/>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81193" y="1986532"/>
                <a:ext cx="11029615" cy="3010341"/>
              </a:xfrm>
              <a:blipFill>
                <a:blip r:embed="rId3"/>
                <a:stretch>
                  <a:fillRect l="-442"/>
                </a:stretch>
              </a:blipFill>
            </p:spPr>
            <p:txBody>
              <a:bodyPr/>
              <a:lstStyle/>
              <a:p>
                <a:r>
                  <a:rPr lang="en-US">
                    <a:noFill/>
                  </a:rPr>
                  <a:t> </a:t>
                </a:r>
              </a:p>
            </p:txBody>
          </p:sp>
        </mc:Fallback>
      </mc:AlternateContent>
      <p:grpSp>
        <p:nvGrpSpPr>
          <p:cNvPr id="13" name="Group 12"/>
          <p:cNvGrpSpPr/>
          <p:nvPr/>
        </p:nvGrpSpPr>
        <p:grpSpPr>
          <a:xfrm>
            <a:off x="7307197" y="1893455"/>
            <a:ext cx="4303611" cy="4758780"/>
            <a:chOff x="3741262" y="1040457"/>
            <a:chExt cx="5330642" cy="5851923"/>
          </a:xfrm>
        </p:grpSpPr>
        <p:pic>
          <p:nvPicPr>
            <p:cNvPr id="7" name="Picture 6">
              <a:extLst>
                <a:ext uri="{FF2B5EF4-FFF2-40B4-BE49-F238E27FC236}">
                  <a16:creationId xmlns:a16="http://schemas.microsoft.com/office/drawing/2014/main" id="{70B253B4-828A-4C21-A844-2384ECD2B809}"/>
                </a:ext>
              </a:extLst>
            </p:cNvPr>
            <p:cNvPicPr>
              <a:picLocks noChangeAspect="1"/>
            </p:cNvPicPr>
            <p:nvPr/>
          </p:nvPicPr>
          <p:blipFill>
            <a:blip r:embed="rId4"/>
            <a:stretch>
              <a:fillRect/>
            </a:stretch>
          </p:blipFill>
          <p:spPr>
            <a:xfrm>
              <a:off x="3823124" y="3011817"/>
              <a:ext cx="5221493" cy="1921392"/>
            </a:xfrm>
            <a:prstGeom prst="rect">
              <a:avLst/>
            </a:prstGeom>
          </p:spPr>
        </p:pic>
        <p:pic>
          <p:nvPicPr>
            <p:cNvPr id="8" name="Picture 7">
              <a:extLst>
                <a:ext uri="{FF2B5EF4-FFF2-40B4-BE49-F238E27FC236}">
                  <a16:creationId xmlns:a16="http://schemas.microsoft.com/office/drawing/2014/main" id="{DF66879F-F3BC-4AAA-86A9-B3681FA1DF46}"/>
                </a:ext>
              </a:extLst>
            </p:cNvPr>
            <p:cNvPicPr>
              <a:picLocks noChangeAspect="1"/>
            </p:cNvPicPr>
            <p:nvPr/>
          </p:nvPicPr>
          <p:blipFill>
            <a:blip r:embed="rId5"/>
            <a:stretch>
              <a:fillRect/>
            </a:stretch>
          </p:blipFill>
          <p:spPr>
            <a:xfrm>
              <a:off x="3741262" y="1040457"/>
              <a:ext cx="5330642" cy="2126733"/>
            </a:xfrm>
            <a:prstGeom prst="rect">
              <a:avLst/>
            </a:prstGeom>
          </p:spPr>
        </p:pic>
        <p:pic>
          <p:nvPicPr>
            <p:cNvPr id="10" name="Picture 9">
              <a:extLst>
                <a:ext uri="{FF2B5EF4-FFF2-40B4-BE49-F238E27FC236}">
                  <a16:creationId xmlns:a16="http://schemas.microsoft.com/office/drawing/2014/main" id="{D8D85E73-AB37-4605-908C-8082ACE5B825}"/>
                </a:ext>
              </a:extLst>
            </p:cNvPr>
            <p:cNvPicPr>
              <a:picLocks noChangeAspect="1"/>
            </p:cNvPicPr>
            <p:nvPr/>
          </p:nvPicPr>
          <p:blipFill>
            <a:blip r:embed="rId6"/>
            <a:stretch>
              <a:fillRect/>
            </a:stretch>
          </p:blipFill>
          <p:spPr>
            <a:xfrm>
              <a:off x="3768549" y="4747266"/>
              <a:ext cx="5276068" cy="2145114"/>
            </a:xfrm>
            <a:prstGeom prst="rect">
              <a:avLst/>
            </a:prstGeom>
          </p:spPr>
        </p:pic>
      </p:gr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A6379FE-5DD6-4E1F-B02C-6013404F1267}"/>
                  </a:ext>
                </a:extLst>
              </p:cNvPr>
              <p:cNvSpPr txBox="1"/>
              <p:nvPr/>
            </p:nvSpPr>
            <p:spPr>
              <a:xfrm>
                <a:off x="7465646" y="1930399"/>
                <a:ext cx="1287084" cy="3416320"/>
              </a:xfrm>
              <a:prstGeom prst="rect">
                <a:avLst/>
              </a:prstGeom>
              <a:noFill/>
            </p:spPr>
            <p:txBody>
              <a:bodyPr wrap="none" rtlCol="0">
                <a:spAutoFit/>
              </a:bodyPr>
              <a:lstStyle/>
              <a:p>
                <a:r>
                  <a:rPr lang="en-US" b="0" i="1">
                    <a:latin typeface="Cambria Math" panose="02040503050406030204" pitchFamily="18" charset="0"/>
                  </a:rPr>
                  <a:t>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=100</m:t>
                    </m:r>
                  </m:oMath>
                </a14:m>
                <a:endParaRPr lang="en-US"/>
              </a:p>
              <a:p>
                <a:endParaRPr lang="en-US"/>
              </a:p>
              <a:p>
                <a:endParaRPr lang="en-US"/>
              </a:p>
              <a:p>
                <a:endParaRPr lang="en-US"/>
              </a:p>
              <a:p>
                <a:endParaRPr lang="en-US"/>
              </a:p>
              <a:p>
                <a:endParaRPr lang="en-US"/>
              </a:p>
              <a:p>
                <a:pPr/>
                <a14:m>
                  <m:oMathPara xmlns:m="http://schemas.openxmlformats.org/officeDocument/2006/math">
                    <m:oMath>
                      <m:r>
                        <a:rPr lang="en-US" b="0" i="1" smtClean="0">
                          <a:latin typeface="Cambria Math" panose="02040503050406030204" pitchFamily="18" charset="0"/>
                        </a:rPr>
                        <m:t>𝑛</m:t>
                      </m:r>
                      <m:r>
                        <a:rPr lang="en-US" b="0" i="1" smtClean="0">
                          <a:latin typeface="Cambria Math" panose="02040503050406030204" pitchFamily="18" charset="0"/>
                        </a:rPr>
                        <m:t>=500</m:t>
                      </m:r>
                    </m:oMath>
                  </m:oMathPara>
                </a14:m>
                <a:endParaRPr lang="en-US" b="0"/>
              </a:p>
              <a:p>
                <a:endParaRPr lang="en-US"/>
              </a:p>
              <a:p>
                <a:endParaRPr lang="en-US"/>
              </a:p>
              <a:p>
                <a:endParaRPr lang="en-US"/>
              </a:p>
              <a:p>
                <a:endParaRPr lang="en-US"/>
              </a:p>
              <a:p>
                <a:pPr/>
                <a14:m>
                  <m:oMathPara xmlns:m="http://schemas.openxmlformats.org/officeDocument/2006/math">
                    <m:oMath>
                      <m:r>
                        <a:rPr lang="en-US" b="0" i="1" smtClean="0">
                          <a:latin typeface="Cambria Math" panose="02040503050406030204" pitchFamily="18" charset="0"/>
                        </a:rPr>
                        <m:t>𝑛</m:t>
                      </m:r>
                      <m:r>
                        <a:rPr lang="en-US" b="0" i="1" smtClean="0">
                          <a:latin typeface="Cambria Math" panose="02040503050406030204" pitchFamily="18" charset="0"/>
                        </a:rPr>
                        <m:t>=1000</m:t>
                      </m:r>
                    </m:oMath>
                  </m:oMathPara>
                </a14:m>
                <a:endParaRPr lang="en-US"/>
              </a:p>
            </p:txBody>
          </p:sp>
        </mc:Choice>
        <mc:Fallback xmlns="">
          <p:sp>
            <p:nvSpPr>
              <p:cNvPr id="9" name="TextBox 8">
                <a:extLst>
                  <a:ext uri="{FF2B5EF4-FFF2-40B4-BE49-F238E27FC236}">
                    <a16:creationId xmlns:a16="http://schemas.microsoft.com/office/drawing/2014/main" id="{0A6379FE-5DD6-4E1F-B02C-6013404F1267}"/>
                  </a:ext>
                </a:extLst>
              </p:cNvPr>
              <p:cNvSpPr txBox="1">
                <a:spLocks noRot="1" noChangeAspect="1" noMove="1" noResize="1" noEditPoints="1" noAdjustHandles="1" noChangeArrowheads="1" noChangeShapeType="1" noTextEdit="1"/>
              </p:cNvSpPr>
              <p:nvPr/>
            </p:nvSpPr>
            <p:spPr>
              <a:xfrm>
                <a:off x="7465646" y="1930399"/>
                <a:ext cx="1287084" cy="3416320"/>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989938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0F71C-A94C-4543-92D2-2E77F21E651E}"/>
              </a:ext>
            </a:extLst>
          </p:cNvPr>
          <p:cNvSpPr>
            <a:spLocks noGrp="1"/>
          </p:cNvSpPr>
          <p:nvPr>
            <p:ph type="title"/>
          </p:nvPr>
        </p:nvSpPr>
        <p:spPr/>
        <p:txBody>
          <a:bodyPr/>
          <a:lstStyle/>
          <a:p>
            <a:r>
              <a:rPr lang="en-US"/>
              <a:t>Central limit theorem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7CDF0DC-914C-4C84-9C2C-3258A4327280}"/>
                  </a:ext>
                </a:extLst>
              </p:cNvPr>
              <p:cNvSpPr>
                <a:spLocks noGrp="1"/>
              </p:cNvSpPr>
              <p:nvPr>
                <p:ph idx="1"/>
              </p:nvPr>
            </p:nvSpPr>
            <p:spPr/>
            <p:txBody>
              <a:bodyPr>
                <a:normAutofit/>
              </a:bodyPr>
              <a:lstStyle/>
              <a:p>
                <a:r>
                  <a:rPr lang="en-US" dirty="0"/>
                  <a:t>The </a:t>
                </a:r>
                <a:r>
                  <a:rPr lang="en-US" b="1" dirty="0"/>
                  <a:t>central limit theorem for means</a:t>
                </a:r>
                <a:r>
                  <a:rPr lang="en-US" dirty="0"/>
                  <a:t> formalizes this</a:t>
                </a:r>
              </a:p>
              <a:p>
                <a:endParaRPr lang="en-US" dirty="0"/>
              </a:p>
              <a:p>
                <a:r>
                  <a:rPr lang="en-US" dirty="0"/>
                  <a:t>Let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i="1">
                            <a:latin typeface="Cambria Math"/>
                          </a:rPr>
                          <m:t>1</m:t>
                        </m:r>
                      </m:sub>
                    </m:sSub>
                    <m:r>
                      <a:rPr lang="en-US" i="1">
                        <a:latin typeface="Cambria Math"/>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i="1">
                            <a:latin typeface="Cambria Math"/>
                          </a:rPr>
                          <m:t>𝑛</m:t>
                        </m:r>
                      </m:sub>
                    </m:sSub>
                  </m:oMath>
                </a14:m>
                <a:r>
                  <a:rPr lang="en-US" dirty="0"/>
                  <a:t> be independent and identically distributed (</a:t>
                </a:r>
                <a:r>
                  <a:rPr lang="en-US" dirty="0" err="1"/>
                  <a:t>i.i.d.</a:t>
                </a:r>
                <a:r>
                  <a:rPr lang="en-US" dirty="0"/>
                  <a:t>) from a population with mean </a:t>
                </a:r>
                <a14:m>
                  <m:oMath xmlns:m="http://schemas.openxmlformats.org/officeDocument/2006/math">
                    <m:r>
                      <a:rPr lang="en-US" i="1">
                        <a:latin typeface="Cambria Math"/>
                      </a:rPr>
                      <m:t>𝜇</m:t>
                    </m:r>
                  </m:oMath>
                </a14:m>
                <a:r>
                  <a:rPr lang="en-US" dirty="0"/>
                  <a:t> and variance </a:t>
                </a:r>
                <a14:m>
                  <m:oMath xmlns:m="http://schemas.openxmlformats.org/officeDocument/2006/math">
                    <m:sSup>
                      <m:sSupPr>
                        <m:ctrlPr>
                          <a:rPr lang="en-US" i="1">
                            <a:latin typeface="Cambria Math"/>
                          </a:rPr>
                        </m:ctrlPr>
                      </m:sSupPr>
                      <m:e>
                        <m:r>
                          <a:rPr lang="en-US" i="1">
                            <a:latin typeface="Cambria Math"/>
                          </a:rPr>
                          <m:t>𝜎</m:t>
                        </m:r>
                      </m:e>
                      <m:sup>
                        <m:r>
                          <a:rPr lang="en-US" i="1">
                            <a:latin typeface="Cambria Math"/>
                          </a:rPr>
                          <m:t>2</m:t>
                        </m:r>
                      </m:sup>
                    </m:sSup>
                  </m:oMath>
                </a14:m>
                <a:r>
                  <a:rPr lang="en-US" dirty="0"/>
                  <a:t>.  </a:t>
                </a:r>
              </a:p>
              <a:p>
                <a:endParaRPr lang="en-US" dirty="0"/>
              </a:p>
              <a:p>
                <a:r>
                  <a:rPr lang="en-US" dirty="0"/>
                  <a:t>Let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𝑋</m:t>
                        </m:r>
                      </m:e>
                    </m:acc>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nary>
                          <m:naryPr>
                            <m:chr m:val="∑"/>
                            <m:ctrlPr>
                              <a:rPr lang="en-US" b="0" i="1" dirty="0" smtClean="0">
                                <a:latin typeface="Cambria Math" panose="02040503050406030204" pitchFamily="18" charset="0"/>
                              </a:rPr>
                            </m:ctrlPr>
                          </m:naryPr>
                          <m:sub>
                            <m:r>
                              <a:rPr lang="en-US" b="0" i="1" dirty="0" smtClean="0">
                                <a:latin typeface="Cambria Math" panose="02040503050406030204" pitchFamily="18" charset="0"/>
                              </a:rPr>
                              <m:t>𝑖</m:t>
                            </m:r>
                            <m:r>
                              <a:rPr lang="en-US" b="0" i="1" dirty="0" smtClean="0">
                                <a:latin typeface="Cambria Math" panose="02040503050406030204" pitchFamily="18" charset="0"/>
                              </a:rPr>
                              <m:t>=1</m:t>
                            </m:r>
                          </m:sub>
                          <m:sup>
                            <m:r>
                              <a:rPr lang="en-US" b="0" i="1" dirty="0" smtClean="0">
                                <a:latin typeface="Cambria Math" panose="02040503050406030204" pitchFamily="18" charset="0"/>
                              </a:rPr>
                              <m:t>𝑛</m:t>
                            </m:r>
                          </m:sup>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𝑋</m:t>
                                </m:r>
                              </m:e>
                              <m:sub>
                                <m:r>
                                  <a:rPr lang="en-US" b="0" i="1" dirty="0" smtClean="0">
                                    <a:latin typeface="Cambria Math" panose="02040503050406030204" pitchFamily="18" charset="0"/>
                                  </a:rPr>
                                  <m:t>𝑖</m:t>
                                </m:r>
                              </m:sub>
                            </m:sSub>
                          </m:e>
                        </m:nary>
                      </m:num>
                      <m:den>
                        <m:r>
                          <a:rPr lang="en-US" b="0" i="1" dirty="0" smtClean="0">
                            <a:latin typeface="Cambria Math" panose="02040503050406030204" pitchFamily="18" charset="0"/>
                          </a:rPr>
                          <m:t>𝑛</m:t>
                        </m:r>
                      </m:den>
                    </m:f>
                  </m:oMath>
                </a14:m>
                <a:endParaRPr lang="en-US" b="0" dirty="0"/>
              </a:p>
              <a:p>
                <a:endParaRPr lang="en-US" dirty="0"/>
              </a:p>
            </p:txBody>
          </p:sp>
        </mc:Choice>
        <mc:Fallback xmlns="">
          <p:sp>
            <p:nvSpPr>
              <p:cNvPr id="3" name="Content Placeholder 2">
                <a:extLst>
                  <a:ext uri="{FF2B5EF4-FFF2-40B4-BE49-F238E27FC236}">
                    <a16:creationId xmlns:a16="http://schemas.microsoft.com/office/drawing/2014/main" id="{C7CDF0DC-914C-4C84-9C2C-3258A4327280}"/>
                  </a:ext>
                </a:extLst>
              </p:cNvPr>
              <p:cNvSpPr>
                <a:spLocks noGrp="1" noRot="1" noChangeAspect="1" noMove="1" noResize="1" noEditPoints="1" noAdjustHandles="1" noChangeArrowheads="1" noChangeShapeType="1" noTextEdit="1"/>
              </p:cNvSpPr>
              <p:nvPr>
                <p:ph idx="1"/>
              </p:nvPr>
            </p:nvSpPr>
            <p:spPr>
              <a:blipFill>
                <a:blip r:embed="rId2"/>
                <a:stretch>
                  <a:fillRect l="-33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12AD6A24-7B07-4983-909D-4F03E6072C3F}"/>
              </a:ext>
            </a:extLst>
          </p:cNvPr>
          <p:cNvSpPr>
            <a:spLocks noGrp="1"/>
          </p:cNvSpPr>
          <p:nvPr>
            <p:ph type="sldNum" sz="quarter" idx="12"/>
          </p:nvPr>
        </p:nvSpPr>
        <p:spPr/>
        <p:txBody>
          <a:bodyPr/>
          <a:lstStyle/>
          <a:p>
            <a:fld id="{08FED1EB-B815-4C98-A331-E6CCE502CA37}" type="slidenum">
              <a:rPr lang="en-US" smtClean="0"/>
              <a:t>20</a:t>
            </a:fld>
            <a:endParaRPr lang="en-US"/>
          </a:p>
        </p:txBody>
      </p:sp>
    </p:spTree>
    <p:extLst>
      <p:ext uri="{BB962C8B-B14F-4D97-AF65-F5344CB8AC3E}">
        <p14:creationId xmlns:p14="http://schemas.microsoft.com/office/powerpoint/2010/main" val="17983933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0F71C-A94C-4543-92D2-2E77F21E651E}"/>
              </a:ext>
            </a:extLst>
          </p:cNvPr>
          <p:cNvSpPr>
            <a:spLocks noGrp="1"/>
          </p:cNvSpPr>
          <p:nvPr>
            <p:ph type="title"/>
          </p:nvPr>
        </p:nvSpPr>
        <p:spPr/>
        <p:txBody>
          <a:bodyPr/>
          <a:lstStyle/>
          <a:p>
            <a:r>
              <a:rPr lang="en-US"/>
              <a:t>Central limit theorem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7CDF0DC-914C-4C84-9C2C-3258A4327280}"/>
                  </a:ext>
                </a:extLst>
              </p:cNvPr>
              <p:cNvSpPr>
                <a:spLocks noGrp="1"/>
              </p:cNvSpPr>
              <p:nvPr>
                <p:ph idx="1"/>
              </p:nvPr>
            </p:nvSpPr>
            <p:spPr/>
            <p:txBody>
              <a:bodyPr>
                <a:normAutofit lnSpcReduction="10000"/>
              </a:bodyPr>
              <a:lstStyle/>
              <a:p>
                <a:endParaRPr lang="en-US" b="0"/>
              </a:p>
              <a:p>
                <a:r>
                  <a:rPr lang="en-US"/>
                  <a:t>Across repeated samples of size </a:t>
                </a:r>
                <a14:m>
                  <m:oMath xmlns:m="http://schemas.openxmlformats.org/officeDocument/2006/math">
                    <m:r>
                      <a:rPr lang="en-US" b="0" i="1" smtClean="0">
                        <a:latin typeface="Cambria Math" panose="02040503050406030204" pitchFamily="18" charset="0"/>
                      </a:rPr>
                      <m:t>𝑛</m:t>
                    </m:r>
                  </m:oMath>
                </a14:m>
                <a:r>
                  <a:rPr lang="en-US"/>
                  <a:t>:</a:t>
                </a:r>
              </a:p>
              <a:p>
                <a:endParaRPr lang="en-US"/>
              </a:p>
              <a:p>
                <a:pPr marL="514350" indent="-514350">
                  <a:buFont typeface="+mj-lt"/>
                  <a:buAutoNum type="arabicPeriod"/>
                </a:pPr>
                <a:r>
                  <a:rPr lang="en-US"/>
                  <a:t>The mean of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𝑋</m:t>
                        </m:r>
                      </m:e>
                    </m:acc>
                  </m:oMath>
                </a14:m>
                <a:r>
                  <a:rPr lang="en-US"/>
                  <a:t> is </a:t>
                </a:r>
                <a14:m>
                  <m:oMath xmlns:m="http://schemas.openxmlformats.org/officeDocument/2006/math">
                    <m:r>
                      <a:rPr lang="en-US" i="1">
                        <a:latin typeface="Cambria Math" panose="02040503050406030204" pitchFamily="18" charset="0"/>
                      </a:rPr>
                      <m:t>𝜇</m:t>
                    </m:r>
                  </m:oMath>
                </a14:m>
                <a:r>
                  <a:rPr lang="en-US"/>
                  <a:t>, the mean of the original population.</a:t>
                </a:r>
              </a:p>
              <a:p>
                <a:pPr marL="514350" indent="-514350">
                  <a:buFont typeface="+mj-lt"/>
                  <a:buAutoNum type="arabicPeriod"/>
                </a:pPr>
                <a:endParaRPr lang="en-US"/>
              </a:p>
              <a:p>
                <a:pPr marL="514350" indent="-514350">
                  <a:buFont typeface="+mj-lt"/>
                  <a:buAutoNum type="arabicPeriod"/>
                </a:pPr>
                <a:r>
                  <a:rPr lang="en-US"/>
                  <a:t>The standard deviation (aka standard error) of all of the sample means is given by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𝜎</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𝑛</m:t>
                            </m:r>
                          </m:e>
                        </m:rad>
                      </m:den>
                    </m:f>
                  </m:oMath>
                </a14:m>
                <a:r>
                  <a:rPr lang="en-US"/>
                  <a:t>, where </a:t>
                </a:r>
                <a14:m>
                  <m:oMath xmlns:m="http://schemas.openxmlformats.org/officeDocument/2006/math">
                    <m:r>
                      <a:rPr lang="en-US" i="1">
                        <a:latin typeface="Cambria Math" panose="02040503050406030204" pitchFamily="18" charset="0"/>
                      </a:rPr>
                      <m:t>𝜎</m:t>
                    </m:r>
                  </m:oMath>
                </a14:m>
                <a:r>
                  <a:rPr lang="en-US"/>
                  <a:t> is the standard deviation of the original population.</a:t>
                </a:r>
              </a:p>
              <a:p>
                <a:pPr marL="514350" indent="-514350">
                  <a:buFont typeface="+mj-lt"/>
                  <a:buAutoNum type="arabicPeriod"/>
                </a:pPr>
                <a:endParaRPr lang="en-US"/>
              </a:p>
              <a:p>
                <a:pPr marL="514350" indent="-514350">
                  <a:buFont typeface="+mj-lt"/>
                  <a:buAutoNum type="arabicPeriod"/>
                </a:pPr>
                <a:r>
                  <a:rPr lang="en-US"/>
                  <a:t>The shape of the distribution of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𝑋</m:t>
                        </m:r>
                      </m:e>
                    </m:acc>
                  </m:oMath>
                </a14:m>
                <a:r>
                  <a:rPr lang="en-US"/>
                  <a:t> becomes more and more bell shaped as the sample size </a:t>
                </a:r>
                <a14:m>
                  <m:oMath xmlns:m="http://schemas.openxmlformats.org/officeDocument/2006/math">
                    <m:r>
                      <a:rPr lang="en-US" i="1">
                        <a:latin typeface="Cambria Math" panose="02040503050406030204" pitchFamily="18" charset="0"/>
                      </a:rPr>
                      <m:t>𝑛</m:t>
                    </m:r>
                  </m:oMath>
                </a14:m>
                <a:r>
                  <a:rPr lang="en-US"/>
                  <a:t> grows and grows.</a:t>
                </a:r>
              </a:p>
              <a:p>
                <a:pPr marL="514350" indent="-514350">
                  <a:buFont typeface="+mj-lt"/>
                  <a:buAutoNum type="arabicPeriod"/>
                </a:pPr>
                <a:endParaRPr lang="en-US"/>
              </a:p>
              <a:p>
                <a:endParaRPr lang="en-US"/>
              </a:p>
            </p:txBody>
          </p:sp>
        </mc:Choice>
        <mc:Fallback xmlns="">
          <p:sp>
            <p:nvSpPr>
              <p:cNvPr id="3" name="Content Placeholder 2">
                <a:extLst>
                  <a:ext uri="{FF2B5EF4-FFF2-40B4-BE49-F238E27FC236}">
                    <a16:creationId xmlns:a16="http://schemas.microsoft.com/office/drawing/2014/main" id="{C7CDF0DC-914C-4C84-9C2C-3258A4327280}"/>
                  </a:ext>
                </a:extLst>
              </p:cNvPr>
              <p:cNvSpPr>
                <a:spLocks noGrp="1" noRot="1" noChangeAspect="1" noMove="1" noResize="1" noEditPoints="1" noAdjustHandles="1" noChangeArrowheads="1" noChangeShapeType="1" noTextEdit="1"/>
              </p:cNvSpPr>
              <p:nvPr>
                <p:ph idx="1"/>
              </p:nvPr>
            </p:nvSpPr>
            <p:spPr>
              <a:blipFill>
                <a:blip r:embed="rId2"/>
                <a:stretch>
                  <a:fillRect l="-331"/>
                </a:stretch>
              </a:blipFill>
            </p:spPr>
            <p:txBody>
              <a:bodyPr/>
              <a:lstStyle/>
              <a:p>
                <a:r>
                  <a:rPr lang="en-US">
                    <a:noFill/>
                  </a:rPr>
                  <a:t> </a:t>
                </a:r>
              </a:p>
            </p:txBody>
          </p:sp>
        </mc:Fallback>
      </mc:AlternateContent>
    </p:spTree>
    <p:extLst>
      <p:ext uri="{BB962C8B-B14F-4D97-AF65-F5344CB8AC3E}">
        <p14:creationId xmlns:p14="http://schemas.microsoft.com/office/powerpoint/2010/main" val="3499266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0F71C-A94C-4543-92D2-2E77F21E651E}"/>
              </a:ext>
            </a:extLst>
          </p:cNvPr>
          <p:cNvSpPr>
            <a:spLocks noGrp="1"/>
          </p:cNvSpPr>
          <p:nvPr>
            <p:ph type="title"/>
          </p:nvPr>
        </p:nvSpPr>
        <p:spPr/>
        <p:txBody>
          <a:bodyPr/>
          <a:lstStyle/>
          <a:p>
            <a:r>
              <a:rPr lang="en-US"/>
              <a:t>Implication of CLT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7CDF0DC-914C-4C84-9C2C-3258A4327280}"/>
                  </a:ext>
                </a:extLst>
              </p:cNvPr>
              <p:cNvSpPr>
                <a:spLocks noGrp="1"/>
              </p:cNvSpPr>
              <p:nvPr>
                <p:ph idx="1"/>
              </p:nvPr>
            </p:nvSpPr>
            <p:spPr/>
            <p:txBody>
              <a:bodyPr>
                <a:normAutofit/>
              </a:bodyPr>
              <a:lstStyle/>
              <a:p>
                <a:pPr marL="457200" lvl="1" indent="0">
                  <a:buNone/>
                </a:pPr>
                <a:endParaRPr lang="en-US"/>
              </a:p>
              <a:p>
                <a:r>
                  <a:rPr lang="en-US"/>
                  <a:t>Implication: can use normal probabilities by using the fact that for large </a:t>
                </a:r>
                <a14:m>
                  <m:oMath xmlns:m="http://schemas.openxmlformats.org/officeDocument/2006/math">
                    <m:r>
                      <a:rPr lang="en-US" b="0" i="1" smtClean="0">
                        <a:latin typeface="Cambria Math" panose="02040503050406030204" pitchFamily="18" charset="0"/>
                      </a:rPr>
                      <m:t>𝑛</m:t>
                    </m:r>
                  </m:oMath>
                </a14:m>
                <a:r>
                  <a:rPr lang="en-US"/>
                  <a:t>, </a:t>
                </a:r>
              </a:p>
              <a:p>
                <a:pPr marL="0" indent="0">
                  <a:buNone/>
                </a:pPr>
                <a:endParaRPr lang="en-US"/>
              </a:p>
              <a:p>
                <a:pPr marL="0" indent="0">
                  <a:buNone/>
                </a:pPr>
                <a14:m>
                  <m:oMathPara xmlns:m="http://schemas.openxmlformats.org/officeDocument/2006/math">
                    <m:o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𝑋</m:t>
                          </m:r>
                        </m:e>
                      </m:acc>
                      <m:r>
                        <a:rPr lang="en-US" b="0" i="1" dirty="0" smtClean="0">
                          <a:latin typeface="Cambria Math" panose="02040503050406030204" pitchFamily="18" charset="0"/>
                        </a:rPr>
                        <m:t>∼</m:t>
                      </m:r>
                      <m:r>
                        <a:rPr lang="en-US" b="0" i="1" dirty="0" smtClean="0">
                          <a:latin typeface="Cambria Math" panose="02040503050406030204" pitchFamily="18" charset="0"/>
                        </a:rPr>
                        <m:t>𝑁</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𝜇</m:t>
                          </m:r>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𝜎</m:t>
                              </m:r>
                            </m:num>
                            <m:den>
                              <m:rad>
                                <m:radPr>
                                  <m:degHide m:val="on"/>
                                  <m:ctrlPr>
                                    <a:rPr lang="en-US" b="0" i="1" dirty="0" smtClean="0">
                                      <a:latin typeface="Cambria Math" panose="02040503050406030204" pitchFamily="18" charset="0"/>
                                    </a:rPr>
                                  </m:ctrlPr>
                                </m:radPr>
                                <m:deg/>
                                <m:e>
                                  <m:r>
                                    <a:rPr lang="en-US" b="0" i="1" dirty="0" smtClean="0">
                                      <a:latin typeface="Cambria Math" panose="02040503050406030204" pitchFamily="18" charset="0"/>
                                    </a:rPr>
                                    <m:t>𝑛</m:t>
                                  </m:r>
                                </m:e>
                              </m:rad>
                            </m:den>
                          </m:f>
                        </m:e>
                      </m:d>
                    </m:oMath>
                  </m:oMathPara>
                </a14:m>
                <a:endParaRPr lang="en-US"/>
              </a:p>
              <a:p>
                <a:pPr marL="971550" lvl="1" indent="-514350">
                  <a:buFont typeface="+mj-lt"/>
                  <a:buAutoNum type="arabicPeriod"/>
                </a:pPr>
                <a:endParaRPr lang="en-US"/>
              </a:p>
              <a:p>
                <a:r>
                  <a:rPr lang="en-US"/>
                  <a:t>This is true </a:t>
                </a:r>
                <a:r>
                  <a:rPr lang="en-US" b="1"/>
                  <a:t>regardless of the distribution of parent population </a:t>
                </a:r>
                <a:endParaRPr lang="en-US"/>
              </a:p>
              <a:p>
                <a:endParaRPr lang="en-US"/>
              </a:p>
            </p:txBody>
          </p:sp>
        </mc:Choice>
        <mc:Fallback xmlns="">
          <p:sp>
            <p:nvSpPr>
              <p:cNvPr id="3" name="Content Placeholder 2">
                <a:extLst>
                  <a:ext uri="{FF2B5EF4-FFF2-40B4-BE49-F238E27FC236}">
                    <a16:creationId xmlns:a16="http://schemas.microsoft.com/office/drawing/2014/main" id="{C7CDF0DC-914C-4C84-9C2C-3258A4327280}"/>
                  </a:ext>
                </a:extLst>
              </p:cNvPr>
              <p:cNvSpPr>
                <a:spLocks noGrp="1" noRot="1" noChangeAspect="1" noMove="1" noResize="1" noEditPoints="1" noAdjustHandles="1" noChangeArrowheads="1" noChangeShapeType="1" noTextEdit="1"/>
              </p:cNvSpPr>
              <p:nvPr>
                <p:ph idx="1"/>
              </p:nvPr>
            </p:nvSpPr>
            <p:spPr>
              <a:blipFill>
                <a:blip r:embed="rId2"/>
                <a:stretch>
                  <a:fillRect l="-33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12AD6A24-7B07-4983-909D-4F03E6072C3F}"/>
              </a:ext>
            </a:extLst>
          </p:cNvPr>
          <p:cNvSpPr>
            <a:spLocks noGrp="1"/>
          </p:cNvSpPr>
          <p:nvPr>
            <p:ph type="sldNum" sz="quarter" idx="12"/>
          </p:nvPr>
        </p:nvSpPr>
        <p:spPr/>
        <p:txBody>
          <a:bodyPr/>
          <a:lstStyle/>
          <a:p>
            <a:fld id="{08FED1EB-B815-4C98-A331-E6CCE502CA37}" type="slidenum">
              <a:rPr lang="en-US" smtClean="0"/>
              <a:t>22</a:t>
            </a:fld>
            <a:endParaRPr lang="en-US"/>
          </a:p>
        </p:txBody>
      </p:sp>
    </p:spTree>
    <p:extLst>
      <p:ext uri="{BB962C8B-B14F-4D97-AF65-F5344CB8AC3E}">
        <p14:creationId xmlns:p14="http://schemas.microsoft.com/office/powerpoint/2010/main" val="38759948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CLT Formal definition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lnSpc>
                    <a:spcPct val="150000"/>
                  </a:lnSpc>
                  <a:spcBef>
                    <a:spcPts val="0"/>
                  </a:spcBef>
                  <a:spcAft>
                    <a:spcPts val="0"/>
                  </a:spcAft>
                </a:pPr>
                <a:r>
                  <a:rPr lang="en-US"/>
                  <a:t>Assume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𝑋</m:t>
                        </m:r>
                      </m:e>
                    </m:acc>
                  </m:oMath>
                </a14:m>
                <a:r>
                  <a:rPr lang="en-US"/>
                  <a:t> is the mean of a random sample of size </a:t>
                </a:r>
                <a14:m>
                  <m:oMath xmlns:m="http://schemas.openxmlformats.org/officeDocument/2006/math">
                    <m:r>
                      <a:rPr lang="en-US" b="0" i="1" smtClean="0">
                        <a:latin typeface="Cambria Math" panose="02040503050406030204" pitchFamily="18" charset="0"/>
                      </a:rPr>
                      <m:t>𝑛</m:t>
                    </m:r>
                  </m:oMath>
                </a14:m>
                <a:r>
                  <a:rPr lang="en-US"/>
                  <a:t> taken from a population with mean </a:t>
                </a:r>
                <a14:m>
                  <m:oMath xmlns:m="http://schemas.openxmlformats.org/officeDocument/2006/math">
                    <m:r>
                      <a:rPr lang="en-US" b="0" i="1" smtClean="0">
                        <a:latin typeface="Cambria Math" panose="02040503050406030204" pitchFamily="18" charset="0"/>
                      </a:rPr>
                      <m:t>𝜇</m:t>
                    </m:r>
                  </m:oMath>
                </a14:m>
                <a:r>
                  <a:rPr lang="en-US"/>
                  <a:t> and finite variance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𝜎</m:t>
                        </m:r>
                      </m:e>
                      <m:sup>
                        <m:r>
                          <a:rPr lang="en-US" b="0" i="1" smtClean="0">
                            <a:latin typeface="Cambria Math" panose="02040503050406030204" pitchFamily="18" charset="0"/>
                          </a:rPr>
                          <m:t>2</m:t>
                        </m:r>
                      </m:sup>
                    </m:sSup>
                  </m:oMath>
                </a14:m>
                <a:r>
                  <a:rPr lang="en-US"/>
                  <a:t>, then as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oMath>
                </a14:m>
                <a:r>
                  <a:rPr lang="en-US"/>
                  <a:t>, the limiting form of the distribution of </a:t>
                </a:r>
                <a14:m>
                  <m:oMath xmlns:m="http://schemas.openxmlformats.org/officeDocument/2006/math">
                    <m:r>
                      <a:rPr lang="en-US" b="0" i="1" smtClean="0">
                        <a:latin typeface="Cambria Math" panose="02040503050406030204" pitchFamily="18" charset="0"/>
                      </a:rPr>
                      <m:t>𝑍</m:t>
                    </m:r>
                    <m:r>
                      <a:rPr lang="en-US" b="0" i="1" smtClean="0">
                        <a:latin typeface="Cambria Math" panose="02040503050406030204" pitchFamily="18" charset="0"/>
                      </a:rPr>
                      <m:t>=</m:t>
                    </m:r>
                    <m:f>
                      <m:fPr>
                        <m:ctrlPr>
                          <a:rPr lang="en-US" b="0" i="1" smtClean="0">
                            <a:latin typeface="Cambria Math" panose="02040503050406030204" pitchFamily="18" charset="0"/>
                          </a:rPr>
                        </m:ctrlPr>
                      </m:fPr>
                      <m:num>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𝑋</m:t>
                            </m:r>
                          </m:e>
                        </m:acc>
                        <m:r>
                          <a:rPr lang="en-US" b="0" i="1" dirty="0" smtClean="0">
                            <a:latin typeface="Cambria Math" panose="02040503050406030204" pitchFamily="18" charset="0"/>
                          </a:rPr>
                          <m:t>−</m:t>
                        </m:r>
                        <m:r>
                          <a:rPr lang="en-US" b="0" i="1" dirty="0" smtClean="0">
                            <a:latin typeface="Cambria Math" panose="02040503050406030204" pitchFamily="18" charset="0"/>
                          </a:rPr>
                          <m:t>𝜇</m:t>
                        </m:r>
                      </m:num>
                      <m:den>
                        <m:r>
                          <a:rPr lang="en-US" b="0" i="1" smtClean="0">
                            <a:latin typeface="Cambria Math" panose="02040503050406030204" pitchFamily="18" charset="0"/>
                          </a:rPr>
                          <m:t>𝜎</m:t>
                        </m:r>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𝑛</m:t>
                            </m:r>
                          </m:e>
                        </m:rad>
                      </m:den>
                    </m:f>
                  </m:oMath>
                </a14:m>
                <a:r>
                  <a:rPr lang="en-US"/>
                  <a:t> is the standard normal distribution </a:t>
                </a:r>
                <a14:m>
                  <m:oMath xmlns:m="http://schemas.openxmlformats.org/officeDocument/2006/math">
                    <m:r>
                      <a:rPr lang="en-US" b="0" i="1" smtClean="0">
                        <a:latin typeface="Cambria Math" panose="02040503050406030204" pitchFamily="18" charset="0"/>
                      </a:rPr>
                      <m:t>𝑁</m:t>
                    </m:r>
                    <m:d>
                      <m:dPr>
                        <m:ctrlPr>
                          <a:rPr lang="en-US" b="0" i="1" smtClean="0">
                            <a:latin typeface="Cambria Math" panose="02040503050406030204" pitchFamily="18" charset="0"/>
                          </a:rPr>
                        </m:ctrlPr>
                      </m:dPr>
                      <m:e>
                        <m:r>
                          <a:rPr lang="en-US" b="0" i="1" smtClean="0">
                            <a:latin typeface="Cambria Math" panose="02040503050406030204" pitchFamily="18" charset="0"/>
                          </a:rPr>
                          <m:t>0,1</m:t>
                        </m:r>
                      </m:e>
                    </m:d>
                    <m:r>
                      <a:rPr lang="en-US" b="0" i="1" smtClean="0">
                        <a:latin typeface="Cambria Math" panose="02040503050406030204" pitchFamily="18" charset="0"/>
                      </a:rPr>
                      <m:t>.</m:t>
                    </m:r>
                  </m:oMath>
                </a14:m>
                <a:endParaRPr lang="en-US"/>
              </a:p>
              <a:p>
                <a:pPr marL="0" indent="0" algn="ctr">
                  <a:lnSpc>
                    <a:spcPct val="150000"/>
                  </a:lnSpc>
                  <a:spcBef>
                    <a:spcPts val="0"/>
                  </a:spcBef>
                  <a:spcAft>
                    <a:spcPts val="0"/>
                  </a:spcAft>
                  <a:buNone/>
                </a:pPr>
                <a14:m>
                  <m:oMath xmlns:m="http://schemas.openxmlformats.org/officeDocument/2006/math">
                    <m:r>
                      <a:rPr lang="en-US" b="0" i="1" smtClean="0">
                        <a:latin typeface="Cambria Math" panose="02040503050406030204" pitchFamily="18" charset="0"/>
                      </a:rPr>
                      <m:t>𝑍</m:t>
                    </m:r>
                    <m:r>
                      <a:rPr lang="en-US" b="0" i="1" smtClean="0">
                        <a:latin typeface="Cambria Math" panose="02040503050406030204" pitchFamily="18" charset="0"/>
                      </a:rPr>
                      <m:t>=</m:t>
                    </m:r>
                    <m:f>
                      <m:fPr>
                        <m:ctrlPr>
                          <a:rPr lang="en-US" i="1">
                            <a:latin typeface="Cambria Math" panose="02040503050406030204" pitchFamily="18" charset="0"/>
                          </a:rPr>
                        </m:ctrlPr>
                      </m:fPr>
                      <m:num>
                        <m:acc>
                          <m:accPr>
                            <m:chr m:val="̅"/>
                            <m:ctrlPr>
                              <a:rPr lang="en-US" i="1">
                                <a:latin typeface="Cambria Math" panose="02040503050406030204" pitchFamily="18" charset="0"/>
                              </a:rPr>
                            </m:ctrlPr>
                          </m:accPr>
                          <m:e>
                            <m:r>
                              <a:rPr lang="en-US" i="1">
                                <a:latin typeface="Cambria Math" panose="02040503050406030204" pitchFamily="18" charset="0"/>
                              </a:rPr>
                              <m:t>𝑋</m:t>
                            </m:r>
                          </m:e>
                        </m:acc>
                        <m:r>
                          <a:rPr lang="en-US" i="1" dirty="0">
                            <a:latin typeface="Cambria Math" panose="02040503050406030204" pitchFamily="18" charset="0"/>
                          </a:rPr>
                          <m:t>−</m:t>
                        </m:r>
                        <m:r>
                          <a:rPr lang="en-US" i="1" dirty="0">
                            <a:latin typeface="Cambria Math" panose="02040503050406030204" pitchFamily="18" charset="0"/>
                          </a:rPr>
                          <m:t>𝜇</m:t>
                        </m:r>
                      </m:num>
                      <m:den>
                        <m:r>
                          <a:rPr lang="en-US" i="1">
                            <a:latin typeface="Cambria Math" panose="02040503050406030204" pitchFamily="18" charset="0"/>
                          </a:rPr>
                          <m:t>𝜎</m:t>
                        </m:r>
                        <m:r>
                          <a:rPr lang="en-US" i="1">
                            <a:latin typeface="Cambria Math" panose="02040503050406030204" pitchFamily="18" charset="0"/>
                          </a:rPr>
                          <m:t>/</m:t>
                        </m:r>
                        <m:rad>
                          <m:radPr>
                            <m:degHide m:val="on"/>
                            <m:ctrlPr>
                              <a:rPr lang="en-US" i="1">
                                <a:latin typeface="Cambria Math" panose="02040503050406030204" pitchFamily="18" charset="0"/>
                              </a:rPr>
                            </m:ctrlPr>
                          </m:radPr>
                          <m:deg/>
                          <m:e>
                            <m:r>
                              <a:rPr lang="en-US" i="1">
                                <a:latin typeface="Cambria Math" panose="02040503050406030204" pitchFamily="18" charset="0"/>
                              </a:rPr>
                              <m:t>𝑛</m:t>
                            </m:r>
                          </m:e>
                        </m:rad>
                      </m:den>
                    </m:f>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(0,1)</m:t>
                    </m:r>
                  </m:oMath>
                </a14:m>
                <a:r>
                  <a:rPr lang="en-US"/>
                  <a:t> as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a:p>
              <a:p>
                <a:pPr marL="0" indent="0" algn="ctr">
                  <a:lnSpc>
                    <a:spcPct val="150000"/>
                  </a:lnSpc>
                  <a:spcBef>
                    <a:spcPts val="0"/>
                  </a:spcBef>
                  <a:spcAft>
                    <a:spcPts val="0"/>
                  </a:spcAft>
                  <a:buNone/>
                </a:pPr>
                <a:endParaRPr lang="en-US"/>
              </a:p>
              <a:p>
                <a:pPr>
                  <a:lnSpc>
                    <a:spcPct val="150000"/>
                  </a:lnSpc>
                  <a:spcBef>
                    <a:spcPts val="0"/>
                  </a:spcBef>
                  <a:spcAft>
                    <a:spcPts val="0"/>
                  </a:spcAft>
                </a:pPr>
                <a:r>
                  <a:rPr lang="en-US"/>
                  <a:t>For any parent distribution, the sampling distribution of the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𝑋</m:t>
                        </m:r>
                      </m:e>
                    </m:acc>
                  </m:oMath>
                </a14:m>
                <a:r>
                  <a:rPr lang="en-US"/>
                  <a:t> will look more and more like a normal distribution as the sample size gets larger and larger.</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331" r="-221"/>
                </a:stretch>
              </a:blipFill>
            </p:spPr>
            <p:txBody>
              <a:bodyPr/>
              <a:lstStyle/>
              <a:p>
                <a:r>
                  <a:rPr lang="en-US">
                    <a:noFill/>
                  </a:rPr>
                  <a:t> </a:t>
                </a:r>
              </a:p>
            </p:txBody>
          </p:sp>
        </mc:Fallback>
      </mc:AlternateContent>
    </p:spTree>
    <p:extLst>
      <p:ext uri="{BB962C8B-B14F-4D97-AF65-F5344CB8AC3E}">
        <p14:creationId xmlns:p14="http://schemas.microsoft.com/office/powerpoint/2010/main" val="32247543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0290" y="702156"/>
            <a:ext cx="6151419" cy="5925867"/>
          </a:xfrm>
          <a:prstGeom prst="rect">
            <a:avLst/>
          </a:prstGeom>
        </p:spPr>
      </p:pic>
    </p:spTree>
    <p:extLst>
      <p:ext uri="{BB962C8B-B14F-4D97-AF65-F5344CB8AC3E}">
        <p14:creationId xmlns:p14="http://schemas.microsoft.com/office/powerpoint/2010/main" val="30128996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2</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81192" y="1931115"/>
                <a:ext cx="11029615" cy="2114413"/>
              </a:xfrm>
            </p:spPr>
            <p:txBody>
              <a:bodyPr/>
              <a:lstStyle/>
              <a:p>
                <a:pPr lvl="0"/>
                <a:r>
                  <a:rPr lang="en-US"/>
                  <a:t>Consider a random variable X with PDF given by </a:t>
                </a:r>
                <a14:m>
                  <m:oMath xmlns:m="http://schemas.openxmlformats.org/officeDocument/2006/math">
                    <m:r>
                      <a:rPr lang="en-US" i="1" dirty="0" smtClean="0">
                        <a:latin typeface="Cambria Math" panose="02040503050406030204" pitchFamily="18" charset="0"/>
                      </a:rPr>
                      <m:t>𝑓</m:t>
                    </m:r>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smtClean="0">
                        <a:latin typeface="Cambria Math" panose="02040503050406030204" pitchFamily="18" charset="0"/>
                      </a:rPr>
                      <m:t>)=</m:t>
                    </m:r>
                    <m:f>
                      <m:fPr>
                        <m:ctrlPr>
                          <a:rPr lang="en-US" i="1" dirty="0" smtClean="0">
                            <a:latin typeface="Cambria Math" panose="02040503050406030204" pitchFamily="18" charset="0"/>
                          </a:rPr>
                        </m:ctrlPr>
                      </m:fPr>
                      <m:num>
                        <m:r>
                          <a:rPr lang="en-US" i="1" dirty="0" smtClean="0">
                            <a:latin typeface="Cambria Math" panose="02040503050406030204" pitchFamily="18" charset="0"/>
                          </a:rPr>
                          <m:t>1</m:t>
                        </m:r>
                      </m:num>
                      <m:den>
                        <m:r>
                          <a:rPr lang="en-US" i="1" dirty="0" smtClean="0">
                            <a:latin typeface="Cambria Math" panose="02040503050406030204" pitchFamily="18" charset="0"/>
                          </a:rPr>
                          <m:t>10</m:t>
                        </m:r>
                      </m:den>
                    </m:f>
                  </m:oMath>
                </a14:m>
                <a:r>
                  <a:rPr lang="en-US"/>
                  <a:t> for </a:t>
                </a:r>
                <a14:m>
                  <m:oMath xmlns:m="http://schemas.openxmlformats.org/officeDocument/2006/math">
                    <m:r>
                      <a:rPr lang="en-US" i="1" dirty="0" smtClean="0">
                        <a:latin typeface="Cambria Math" panose="02040503050406030204" pitchFamily="18" charset="0"/>
                      </a:rPr>
                      <m:t>𝑥</m:t>
                    </m:r>
                    <m:r>
                      <a:rPr lang="en-US" i="1" dirty="0" smtClean="0">
                        <a:latin typeface="Cambria Math" panose="02040503050406030204" pitchFamily="18" charset="0"/>
                      </a:rPr>
                      <m:t> = 0, 1, 2, … ,9</m:t>
                    </m:r>
                  </m:oMath>
                </a14:m>
                <a:r>
                  <a:rPr lang="en-US"/>
                  <a:t>. </a:t>
                </a:r>
              </a:p>
              <a:p>
                <a:pPr lvl="0"/>
                <a:r>
                  <a:rPr lang="en-US"/>
                  <a:t>Then </a:t>
                </a:r>
                <a14:m>
                  <m:oMath xmlns:m="http://schemas.openxmlformats.org/officeDocument/2006/math">
                    <m:r>
                      <a:rPr lang="en-US" i="1" dirty="0" smtClean="0">
                        <a:latin typeface="Cambria Math" panose="02040503050406030204" pitchFamily="18" charset="0"/>
                      </a:rPr>
                      <m:t>𝐸</m:t>
                    </m:r>
                    <m:r>
                      <a:rPr lang="en-US" b="0" i="1" dirty="0" smtClean="0">
                        <a:latin typeface="Cambria Math" panose="02040503050406030204" pitchFamily="18" charset="0"/>
                      </a:rPr>
                      <m:t>[</m:t>
                    </m:r>
                    <m:r>
                      <a:rPr lang="en-US" i="1" dirty="0" smtClean="0">
                        <a:latin typeface="Cambria Math" panose="02040503050406030204" pitchFamily="18" charset="0"/>
                      </a:rPr>
                      <m:t>𝑋</m:t>
                    </m:r>
                    <m:r>
                      <a:rPr lang="en-US" b="0" i="1" dirty="0" smtClean="0">
                        <a:latin typeface="Cambria Math" panose="02040503050406030204" pitchFamily="18" charset="0"/>
                      </a:rPr>
                      <m:t>]</m:t>
                    </m:r>
                    <m:r>
                      <a:rPr lang="en-US" i="1" dirty="0" smtClean="0">
                        <a:latin typeface="Cambria Math" panose="02040503050406030204" pitchFamily="18" charset="0"/>
                      </a:rPr>
                      <m:t> = 4.5 </m:t>
                    </m:r>
                  </m:oMath>
                </a14:m>
                <a:r>
                  <a:rPr lang="en-US"/>
                  <a:t>and </a:t>
                </a:r>
                <a14:m>
                  <m:oMath xmlns:m="http://schemas.openxmlformats.org/officeDocument/2006/math">
                    <m:r>
                      <m:rPr>
                        <m:sty m:val="p"/>
                      </m:rPr>
                      <a:rPr lang="en-US" i="0" dirty="0" smtClean="0">
                        <a:latin typeface="Cambria Math" panose="02040503050406030204" pitchFamily="18" charset="0"/>
                      </a:rPr>
                      <m:t>Var</m:t>
                    </m:r>
                    <m:r>
                      <a:rPr lang="en-US" i="1" dirty="0">
                        <a:latin typeface="Cambria Math" panose="02040503050406030204" pitchFamily="18" charset="0"/>
                      </a:rPr>
                      <m:t>(</m:t>
                    </m:r>
                    <m:r>
                      <a:rPr lang="en-US" i="1" dirty="0">
                        <a:latin typeface="Cambria Math" panose="02040503050406030204" pitchFamily="18" charset="0"/>
                      </a:rPr>
                      <m:t>𝑋</m:t>
                    </m:r>
                    <m:r>
                      <a:rPr lang="en-US" i="1" dirty="0">
                        <a:latin typeface="Cambria Math" panose="02040503050406030204" pitchFamily="18" charset="0"/>
                      </a:rPr>
                      <m:t>) = 8.25</m:t>
                    </m:r>
                  </m:oMath>
                </a14:m>
                <a:r>
                  <a:rPr lang="en-US"/>
                  <a:t>. </a:t>
                </a:r>
              </a:p>
              <a:p>
                <a:pPr lvl="0"/>
                <a:r>
                  <a:rPr lang="en-US"/>
                  <a:t>Consider taking a sample of 50 observations.</a:t>
                </a:r>
              </a:p>
              <a:p>
                <a:pPr lvl="0"/>
                <a:r>
                  <a:rPr lang="en-US"/>
                  <a:t>What is the distribution of the sample means?</a:t>
                </a:r>
              </a:p>
              <a:p>
                <a:pPr lvl="0"/>
                <a:r>
                  <a:rPr lang="en-US"/>
                  <a:t>Find the probability that the sample mean is above 4.</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81192" y="1931115"/>
                <a:ext cx="11029615" cy="2114413"/>
              </a:xfrm>
              <a:blipFill>
                <a:blip r:embed="rId2"/>
                <a:stretch>
                  <a:fillRect l="-331" b="-4323"/>
                </a:stretch>
              </a:blipFill>
            </p:spPr>
            <p:txBody>
              <a:bodyPr/>
              <a:lstStyle/>
              <a:p>
                <a:r>
                  <a:rPr lang="en-US">
                    <a:noFill/>
                  </a:rPr>
                  <a:t> </a:t>
                </a:r>
              </a:p>
            </p:txBody>
          </p:sp>
        </mc:Fallback>
      </mc:AlternateContent>
    </p:spTree>
    <p:extLst>
      <p:ext uri="{BB962C8B-B14F-4D97-AF65-F5344CB8AC3E}">
        <p14:creationId xmlns:p14="http://schemas.microsoft.com/office/powerpoint/2010/main" val="24374969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0F71C-A94C-4543-92D2-2E77F21E651E}"/>
              </a:ext>
            </a:extLst>
          </p:cNvPr>
          <p:cNvSpPr>
            <a:spLocks noGrp="1"/>
          </p:cNvSpPr>
          <p:nvPr>
            <p:ph type="title"/>
          </p:nvPr>
        </p:nvSpPr>
        <p:spPr/>
        <p:txBody>
          <a:bodyPr/>
          <a:lstStyle/>
          <a:p>
            <a:r>
              <a:rPr lang="en-US"/>
              <a:t>Central limit theorem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7CDF0DC-914C-4C84-9C2C-3258A4327280}"/>
                  </a:ext>
                </a:extLst>
              </p:cNvPr>
              <p:cNvSpPr>
                <a:spLocks noGrp="1"/>
              </p:cNvSpPr>
              <p:nvPr>
                <p:ph idx="1"/>
              </p:nvPr>
            </p:nvSpPr>
            <p:spPr/>
            <p:txBody>
              <a:bodyPr>
                <a:normAutofit lnSpcReduction="10000"/>
              </a:bodyPr>
              <a:lstStyle/>
              <a:p>
                <a:endParaRPr lang="en-US" b="0"/>
              </a:p>
              <a:p>
                <a:r>
                  <a:rPr lang="en-US"/>
                  <a:t>Across repeated samples of size </a:t>
                </a:r>
                <a14:m>
                  <m:oMath xmlns:m="http://schemas.openxmlformats.org/officeDocument/2006/math">
                    <m:r>
                      <a:rPr lang="en-US" b="0" i="1" smtClean="0">
                        <a:latin typeface="Cambria Math" panose="02040503050406030204" pitchFamily="18" charset="0"/>
                      </a:rPr>
                      <m:t>𝑛</m:t>
                    </m:r>
                  </m:oMath>
                </a14:m>
                <a:r>
                  <a:rPr lang="en-US"/>
                  <a:t>:</a:t>
                </a:r>
              </a:p>
              <a:p>
                <a:endParaRPr lang="en-US"/>
              </a:p>
              <a:p>
                <a:pPr marL="514350" indent="-514350">
                  <a:buFont typeface="+mj-lt"/>
                  <a:buAutoNum type="arabicPeriod"/>
                </a:pPr>
                <a:r>
                  <a:rPr lang="en-US"/>
                  <a:t>The mean of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𝑋</m:t>
                        </m:r>
                      </m:e>
                    </m:acc>
                  </m:oMath>
                </a14:m>
                <a:r>
                  <a:rPr lang="en-US"/>
                  <a:t> is </a:t>
                </a:r>
                <a14:m>
                  <m:oMath xmlns:m="http://schemas.openxmlformats.org/officeDocument/2006/math">
                    <m:r>
                      <a:rPr lang="en-US" i="1">
                        <a:latin typeface="Cambria Math" panose="02040503050406030204" pitchFamily="18" charset="0"/>
                      </a:rPr>
                      <m:t>𝜇</m:t>
                    </m:r>
                  </m:oMath>
                </a14:m>
                <a:r>
                  <a:rPr lang="en-US"/>
                  <a:t>, the mean of the original population.</a:t>
                </a:r>
              </a:p>
              <a:p>
                <a:pPr marL="514350" indent="-514350">
                  <a:buFont typeface="+mj-lt"/>
                  <a:buAutoNum type="arabicPeriod"/>
                </a:pPr>
                <a:endParaRPr lang="en-US"/>
              </a:p>
              <a:p>
                <a:pPr marL="514350" indent="-514350">
                  <a:buFont typeface="+mj-lt"/>
                  <a:buAutoNum type="arabicPeriod"/>
                </a:pPr>
                <a:r>
                  <a:rPr lang="en-US"/>
                  <a:t>The standard deviation (aka standard error) of all of the sample means is given by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𝜎</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𝑛</m:t>
                            </m:r>
                          </m:e>
                        </m:rad>
                      </m:den>
                    </m:f>
                  </m:oMath>
                </a14:m>
                <a:r>
                  <a:rPr lang="en-US"/>
                  <a:t>, where </a:t>
                </a:r>
                <a14:m>
                  <m:oMath xmlns:m="http://schemas.openxmlformats.org/officeDocument/2006/math">
                    <m:r>
                      <a:rPr lang="en-US" i="1">
                        <a:latin typeface="Cambria Math" panose="02040503050406030204" pitchFamily="18" charset="0"/>
                      </a:rPr>
                      <m:t>𝜎</m:t>
                    </m:r>
                  </m:oMath>
                </a14:m>
                <a:r>
                  <a:rPr lang="en-US"/>
                  <a:t> is the standard deviation of the original population.</a:t>
                </a:r>
              </a:p>
              <a:p>
                <a:pPr marL="514350" indent="-514350">
                  <a:buFont typeface="+mj-lt"/>
                  <a:buAutoNum type="arabicPeriod"/>
                </a:pPr>
                <a:endParaRPr lang="en-US"/>
              </a:p>
              <a:p>
                <a:pPr marL="514350" indent="-514350">
                  <a:buFont typeface="+mj-lt"/>
                  <a:buAutoNum type="arabicPeriod"/>
                </a:pPr>
                <a:r>
                  <a:rPr lang="en-US"/>
                  <a:t>The shape of the distribution of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𝑋</m:t>
                        </m:r>
                      </m:e>
                    </m:acc>
                  </m:oMath>
                </a14:m>
                <a:r>
                  <a:rPr lang="en-US"/>
                  <a:t> becomes more and more bell shaped as the sample size </a:t>
                </a:r>
                <a14:m>
                  <m:oMath xmlns:m="http://schemas.openxmlformats.org/officeDocument/2006/math">
                    <m:r>
                      <a:rPr lang="en-US" i="1">
                        <a:latin typeface="Cambria Math" panose="02040503050406030204" pitchFamily="18" charset="0"/>
                      </a:rPr>
                      <m:t>𝑛</m:t>
                    </m:r>
                  </m:oMath>
                </a14:m>
                <a:r>
                  <a:rPr lang="en-US"/>
                  <a:t> grows and grows.</a:t>
                </a:r>
              </a:p>
              <a:p>
                <a:pPr marL="514350" indent="-514350">
                  <a:buFont typeface="+mj-lt"/>
                  <a:buAutoNum type="arabicPeriod"/>
                </a:pPr>
                <a:endParaRPr lang="en-US"/>
              </a:p>
              <a:p>
                <a:endParaRPr lang="en-US"/>
              </a:p>
            </p:txBody>
          </p:sp>
        </mc:Choice>
        <mc:Fallback xmlns="">
          <p:sp>
            <p:nvSpPr>
              <p:cNvPr id="3" name="Content Placeholder 2">
                <a:extLst>
                  <a:ext uri="{FF2B5EF4-FFF2-40B4-BE49-F238E27FC236}">
                    <a16:creationId xmlns:a16="http://schemas.microsoft.com/office/drawing/2014/main" id="{C7CDF0DC-914C-4C84-9C2C-3258A4327280}"/>
                  </a:ext>
                </a:extLst>
              </p:cNvPr>
              <p:cNvSpPr>
                <a:spLocks noGrp="1" noRot="1" noChangeAspect="1" noMove="1" noResize="1" noEditPoints="1" noAdjustHandles="1" noChangeArrowheads="1" noChangeShapeType="1" noTextEdit="1"/>
              </p:cNvSpPr>
              <p:nvPr>
                <p:ph idx="1"/>
              </p:nvPr>
            </p:nvSpPr>
            <p:spPr>
              <a:blipFill>
                <a:blip r:embed="rId2"/>
                <a:stretch>
                  <a:fillRect l="-331"/>
                </a:stretch>
              </a:blipFill>
            </p:spPr>
            <p:txBody>
              <a:bodyPr/>
              <a:lstStyle/>
              <a:p>
                <a:r>
                  <a:rPr lang="en-US">
                    <a:noFill/>
                  </a:rPr>
                  <a:t> </a:t>
                </a:r>
              </a:p>
            </p:txBody>
          </p:sp>
        </mc:Fallback>
      </mc:AlternateContent>
    </p:spTree>
    <p:extLst>
      <p:ext uri="{BB962C8B-B14F-4D97-AF65-F5344CB8AC3E}">
        <p14:creationId xmlns:p14="http://schemas.microsoft.com/office/powerpoint/2010/main" val="15089078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0290" y="702156"/>
            <a:ext cx="6151419" cy="5925867"/>
          </a:xfrm>
          <a:prstGeom prst="rect">
            <a:avLst/>
          </a:prstGeom>
        </p:spPr>
      </p:pic>
    </p:spTree>
    <p:extLst>
      <p:ext uri="{BB962C8B-B14F-4D97-AF65-F5344CB8AC3E}">
        <p14:creationId xmlns:p14="http://schemas.microsoft.com/office/powerpoint/2010/main" val="6349615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F14F7-0A6A-47BC-9453-E44F3C700BC3}"/>
              </a:ext>
            </a:extLst>
          </p:cNvPr>
          <p:cNvSpPr>
            <a:spLocks noGrp="1"/>
          </p:cNvSpPr>
          <p:nvPr>
            <p:ph type="title"/>
          </p:nvPr>
        </p:nvSpPr>
        <p:spPr/>
        <p:txBody>
          <a:bodyPr/>
          <a:lstStyle/>
          <a:p>
            <a:r>
              <a:rPr lang="en-US"/>
              <a:t>Example 3</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3CAFD5E-CC9F-40EB-92F5-D4E604DF97C8}"/>
                  </a:ext>
                </a:extLst>
              </p:cNvPr>
              <p:cNvSpPr>
                <a:spLocks noGrp="1"/>
              </p:cNvSpPr>
              <p:nvPr>
                <p:ph idx="1"/>
              </p:nvPr>
            </p:nvSpPr>
            <p:spPr>
              <a:xfrm>
                <a:off x="581192" y="1986532"/>
                <a:ext cx="11029615" cy="2779432"/>
              </a:xfrm>
            </p:spPr>
            <p:txBody>
              <a:bodyPr>
                <a:normAutofit/>
              </a:bodyPr>
              <a:lstStyle/>
              <a:p>
                <a:pPr>
                  <a:spcBef>
                    <a:spcPts val="0"/>
                  </a:spcBef>
                  <a:spcAft>
                    <a:spcPts val="0"/>
                  </a:spcAft>
                </a:pPr>
                <a:r>
                  <a:rPr lang="en-US"/>
                  <a:t>An insurance company issues vision care insurance policies.  The number of claims filed by a single policyholder under a vision care insurance policy during one year is a Poisson random variable with on average a rate of 2 claims per policyholder per year.  </a:t>
                </a:r>
                <a:r>
                  <a:rPr lang="en-US" b="0"/>
                  <a:t>A company has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=1250</m:t>
                    </m:r>
                  </m:oMath>
                </a14:m>
                <a:r>
                  <a:rPr lang="en-US"/>
                  <a:t> policyholders</a:t>
                </a:r>
              </a:p>
              <a:p>
                <a:pPr lvl="1">
                  <a:spcBef>
                    <a:spcPts val="0"/>
                  </a:spcBef>
                  <a:spcAft>
                    <a:spcPts val="0"/>
                  </a:spcAft>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b="0" i="1" smtClean="0">
                            <a:latin typeface="Cambria Math" panose="02040503050406030204" pitchFamily="18" charset="0"/>
                          </a:rPr>
                          <m:t>𝑖</m:t>
                        </m:r>
                      </m:sub>
                    </m:sSub>
                    <m:r>
                      <a:rPr lang="en-US" b="0" i="1" smtClean="0">
                        <a:latin typeface="Cambria Math" panose="02040503050406030204" pitchFamily="18" charset="0"/>
                      </a:rPr>
                      <m:t>≡</m:t>
                    </m:r>
                  </m:oMath>
                </a14:m>
                <a:r>
                  <a:rPr lang="en-US"/>
                  <a:t> number of claims submitted by each policyholder in a year</a:t>
                </a:r>
              </a:p>
              <a:p>
                <a:pPr lvl="1">
                  <a:spcBef>
                    <a:spcPts val="0"/>
                  </a:spcBef>
                  <a:spcAft>
                    <a:spcPts val="0"/>
                  </a:spcAft>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r>
                      <a:rPr lang="en-US" i="1">
                        <a:latin typeface="Cambria Math" panose="02040503050406030204" pitchFamily="18" charset="0"/>
                      </a:rPr>
                      <m:t>∼</m:t>
                    </m:r>
                    <m:r>
                      <a:rPr lang="en-US" i="1">
                        <a:latin typeface="Cambria Math" panose="02040503050406030204" pitchFamily="18" charset="0"/>
                      </a:rPr>
                      <m:t>𝑃𝑂𝐼</m:t>
                    </m:r>
                    <m:d>
                      <m:dPr>
                        <m:ctrlPr>
                          <a:rPr lang="en-US" i="1">
                            <a:latin typeface="Cambria Math" panose="02040503050406030204" pitchFamily="18" charset="0"/>
                          </a:rPr>
                        </m:ctrlPr>
                      </m:dPr>
                      <m:e>
                        <m:r>
                          <a:rPr lang="en-US" i="1">
                            <a:latin typeface="Cambria Math" panose="02040503050406030204" pitchFamily="18" charset="0"/>
                          </a:rPr>
                          <m:t>𝜆</m:t>
                        </m:r>
                        <m:r>
                          <a:rPr lang="en-US" i="1">
                            <a:latin typeface="Cambria Math" panose="02040503050406030204" pitchFamily="18" charset="0"/>
                          </a:rPr>
                          <m:t>=2</m:t>
                        </m:r>
                      </m:e>
                    </m:d>
                    <m:r>
                      <a:rPr lang="en-US" i="1">
                        <a:latin typeface="Cambria Math" panose="02040503050406030204" pitchFamily="18" charset="0"/>
                      </a:rPr>
                      <m:t>, </m:t>
                    </m:r>
                    <m:r>
                      <a:rPr lang="en-US" i="1">
                        <a:latin typeface="Cambria Math" panose="02040503050406030204" pitchFamily="18" charset="0"/>
                      </a:rPr>
                      <m:t>𝑖</m:t>
                    </m:r>
                    <m:r>
                      <a:rPr lang="en-US" i="1">
                        <a:latin typeface="Cambria Math" panose="02040503050406030204" pitchFamily="18" charset="0"/>
                      </a:rPr>
                      <m:t>=1,2,…,1250</m:t>
                    </m:r>
                  </m:oMath>
                </a14:m>
                <a:endParaRPr lang="en-US"/>
              </a:p>
              <a:p>
                <a:pPr>
                  <a:spcBef>
                    <a:spcPts val="0"/>
                  </a:spcBef>
                  <a:spcAft>
                    <a:spcPts val="0"/>
                  </a:spcAft>
                </a:pPr>
                <a:r>
                  <a:rPr lang="en-US"/>
                  <a:t>What is </a:t>
                </a:r>
                <a14:m>
                  <m:oMath xmlns:m="http://schemas.openxmlformats.org/officeDocument/2006/math">
                    <m:r>
                      <a:rPr lang="en-US" i="1">
                        <a:latin typeface="Cambria Math" panose="02040503050406030204" pitchFamily="18" charset="0"/>
                      </a:rPr>
                      <m:t>𝐸</m:t>
                    </m:r>
                    <m:r>
                      <a:rPr lang="en-US" i="1">
                        <a:latin typeface="Cambria Math" panose="02040503050406030204" pitchFamily="18" charset="0"/>
                      </a:rPr>
                      <m:t>[</m:t>
                    </m:r>
                    <m:r>
                      <a:rPr lang="en-US" i="1">
                        <a:latin typeface="Cambria Math" panose="02040503050406030204" pitchFamily="18" charset="0"/>
                      </a:rPr>
                      <m:t>𝑋</m:t>
                    </m:r>
                    <m:r>
                      <a:rPr lang="en-US" i="1">
                        <a:latin typeface="Cambria Math" panose="02040503050406030204" pitchFamily="18" charset="0"/>
                      </a:rPr>
                      <m:t>]</m:t>
                    </m:r>
                  </m:oMath>
                </a14:m>
                <a:r>
                  <a:rPr lang="en-US"/>
                  <a:t> and </a:t>
                </a:r>
                <a14:m>
                  <m:oMath xmlns:m="http://schemas.openxmlformats.org/officeDocument/2006/math">
                    <m:r>
                      <m:rPr>
                        <m:sty m:val="p"/>
                      </m:rPr>
                      <a:rPr lang="en-US">
                        <a:latin typeface="Cambria Math" panose="02040503050406030204" pitchFamily="18" charset="0"/>
                      </a:rPr>
                      <m:t>Var</m:t>
                    </m:r>
                    <m:r>
                      <a:rPr lang="en-US" i="1">
                        <a:latin typeface="Cambria Math" panose="02040503050406030204" pitchFamily="18" charset="0"/>
                      </a:rPr>
                      <m:t>(</m:t>
                    </m:r>
                    <m:r>
                      <a:rPr lang="en-US" i="1">
                        <a:latin typeface="Cambria Math" panose="02040503050406030204" pitchFamily="18" charset="0"/>
                      </a:rPr>
                      <m:t>𝑋</m:t>
                    </m:r>
                    <m:r>
                      <a:rPr lang="en-US" i="1">
                        <a:latin typeface="Cambria Math" panose="02040503050406030204" pitchFamily="18" charset="0"/>
                      </a:rPr>
                      <m:t>)</m:t>
                    </m:r>
                  </m:oMath>
                </a14:m>
                <a:r>
                  <a:rPr lang="en-US"/>
                  <a:t>?</a:t>
                </a:r>
              </a:p>
              <a:p>
                <a:pPr>
                  <a:spcBef>
                    <a:spcPts val="0"/>
                  </a:spcBef>
                  <a:spcAft>
                    <a:spcPts val="0"/>
                  </a:spcAft>
                </a:pPr>
                <a:r>
                  <a:rPr lang="en-US"/>
                  <a:t>What is the distribution of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𝑋</m:t>
                        </m:r>
                      </m:e>
                    </m:acc>
                    <m:r>
                      <a:rPr lang="en-US" i="1" dirty="0">
                        <a:latin typeface="Cambria Math" panose="02040503050406030204" pitchFamily="18" charset="0"/>
                      </a:rPr>
                      <m:t>?</m:t>
                    </m:r>
                  </m:oMath>
                </a14:m>
                <a:endParaRPr lang="en-US"/>
              </a:p>
              <a:p>
                <a:pPr>
                  <a:spcBef>
                    <a:spcPts val="0"/>
                  </a:spcBef>
                  <a:spcAft>
                    <a:spcPts val="0"/>
                  </a:spcAft>
                </a:pPr>
                <a:r>
                  <a:rPr lang="en-US"/>
                  <a:t>What is the approximate probability that a sample of </a:t>
                </a:r>
                <a14:m>
                  <m:oMath xmlns:m="http://schemas.openxmlformats.org/officeDocument/2006/math">
                    <m:r>
                      <a:rPr lang="en-US" i="1">
                        <a:latin typeface="Cambria Math" panose="02040503050406030204" pitchFamily="18" charset="0"/>
                      </a:rPr>
                      <m:t>𝑛</m:t>
                    </m:r>
                    <m:r>
                      <a:rPr lang="en-US" i="1">
                        <a:latin typeface="Cambria Math" panose="02040503050406030204" pitchFamily="18" charset="0"/>
                      </a:rPr>
                      <m:t>=1250</m:t>
                    </m:r>
                  </m:oMath>
                </a14:m>
                <a:r>
                  <a:rPr lang="en-US"/>
                  <a:t> policyholders will submit 2550 claims or fewer? </a:t>
                </a:r>
              </a:p>
              <a:p>
                <a:pPr lvl="1">
                  <a:spcBef>
                    <a:spcPts val="0"/>
                  </a:spcBef>
                  <a:spcAft>
                    <a:spcPts val="0"/>
                  </a:spcAft>
                </a:pPr>
                <a:endParaRPr lang="en-US"/>
              </a:p>
              <a:p>
                <a:endParaRPr lang="en-US"/>
              </a:p>
              <a:p>
                <a:endParaRPr lang="en-US"/>
              </a:p>
            </p:txBody>
          </p:sp>
        </mc:Choice>
        <mc:Fallback xmlns="">
          <p:sp>
            <p:nvSpPr>
              <p:cNvPr id="3" name="Content Placeholder 2">
                <a:extLst>
                  <a:ext uri="{FF2B5EF4-FFF2-40B4-BE49-F238E27FC236}">
                    <a16:creationId xmlns:a16="http://schemas.microsoft.com/office/drawing/2014/main" id="{83CAFD5E-CC9F-40EB-92F5-D4E604DF97C8}"/>
                  </a:ext>
                </a:extLst>
              </p:cNvPr>
              <p:cNvSpPr>
                <a:spLocks noGrp="1" noRot="1" noChangeAspect="1" noMove="1" noResize="1" noEditPoints="1" noAdjustHandles="1" noChangeArrowheads="1" noChangeShapeType="1" noTextEdit="1"/>
              </p:cNvSpPr>
              <p:nvPr>
                <p:ph idx="1"/>
              </p:nvPr>
            </p:nvSpPr>
            <p:spPr>
              <a:xfrm>
                <a:off x="581192" y="1986532"/>
                <a:ext cx="11029615" cy="2779432"/>
              </a:xfrm>
              <a:blipFill>
                <a:blip r:embed="rId2"/>
                <a:stretch>
                  <a:fillRect l="-331" t="-8772"/>
                </a:stretch>
              </a:blipFill>
            </p:spPr>
            <p:txBody>
              <a:bodyPr/>
              <a:lstStyle/>
              <a:p>
                <a:r>
                  <a:rPr lang="en-US">
                    <a:noFill/>
                  </a:rPr>
                  <a:t> </a:t>
                </a:r>
              </a:p>
            </p:txBody>
          </p:sp>
        </mc:Fallback>
      </mc:AlternateContent>
    </p:spTree>
    <p:extLst>
      <p:ext uri="{BB962C8B-B14F-4D97-AF65-F5344CB8AC3E}">
        <p14:creationId xmlns:p14="http://schemas.microsoft.com/office/powerpoint/2010/main" val="41835545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4</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81192" y="1801805"/>
                <a:ext cx="11029615" cy="2022049"/>
              </a:xfrm>
            </p:spPr>
            <p:txBody>
              <a:bodyPr>
                <a:normAutofit/>
              </a:bodyPr>
              <a:lstStyle/>
              <a:p>
                <a:pPr lvl="0"/>
                <a:r>
                  <a:rPr lang="en-US"/>
                  <a:t>Suppose that it is reasonable to assume that a Grand </a:t>
                </a:r>
                <a:r>
                  <a:rPr lang="en-US" err="1"/>
                  <a:t>Am’s</a:t>
                </a:r>
                <a:r>
                  <a:rPr lang="en-US"/>
                  <a:t> MPG has a normal pdf with a mean of 24.3 and a standard deviation of 0.6. Let </a:t>
                </a:r>
                <a14:m>
                  <m:oMath xmlns:m="http://schemas.openxmlformats.org/officeDocument/2006/math">
                    <m:r>
                      <a:rPr lang="en-US" i="1" dirty="0" smtClean="0">
                        <a:latin typeface="Cambria Math" panose="02040503050406030204" pitchFamily="18" charset="0"/>
                      </a:rPr>
                      <m:t>𝑋</m:t>
                    </m:r>
                  </m:oMath>
                </a14:m>
                <a:r>
                  <a:rPr lang="en-US"/>
                  <a:t> denote the MPG of a Grand Am.</a:t>
                </a:r>
              </a:p>
              <a:p>
                <a:pPr lvl="1"/>
                <a:r>
                  <a:rPr lang="en-US"/>
                  <a:t>Find the probability that a randomly selected Grand Am gets less than 25 but more than 21 MPG.</a:t>
                </a:r>
              </a:p>
              <a:p>
                <a:pPr lvl="1"/>
                <a:r>
                  <a:rPr lang="en-US"/>
                  <a:t>Find the probability that 16 randomly selected Grand </a:t>
                </a:r>
                <a:r>
                  <a:rPr lang="en-US" err="1"/>
                  <a:t>Am’s</a:t>
                </a:r>
                <a:r>
                  <a:rPr lang="en-US"/>
                  <a:t> get less than 25 but more than 21 MPG on average.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81192" y="1801805"/>
                <a:ext cx="11029615" cy="2022049"/>
              </a:xfrm>
              <a:blipFill>
                <a:blip r:embed="rId2"/>
                <a:stretch>
                  <a:fillRect l="-331"/>
                </a:stretch>
              </a:blipFill>
            </p:spPr>
            <p:txBody>
              <a:bodyPr/>
              <a:lstStyle/>
              <a:p>
                <a:r>
                  <a:rPr lang="en-US">
                    <a:noFill/>
                  </a:rPr>
                  <a:t> </a:t>
                </a:r>
              </a:p>
            </p:txBody>
          </p:sp>
        </mc:Fallback>
      </mc:AlternateContent>
    </p:spTree>
    <p:extLst>
      <p:ext uri="{BB962C8B-B14F-4D97-AF65-F5344CB8AC3E}">
        <p14:creationId xmlns:p14="http://schemas.microsoft.com/office/powerpoint/2010/main" val="5404600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a:t>Sampling distribution of </a:t>
                </a:r>
                <a14:m>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𝑋</m:t>
                            </m:r>
                          </m:e>
                        </m:acc>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𝑋</m:t>
                            </m:r>
                          </m:e>
                        </m:acc>
                      </m:e>
                      <m:sub>
                        <m:r>
                          <a:rPr lang="en-US" b="0" i="1" dirty="0" smtClean="0">
                            <a:latin typeface="Cambria Math" panose="02040503050406030204" pitchFamily="18" charset="0"/>
                          </a:rPr>
                          <m:t>2</m:t>
                        </m:r>
                      </m:sub>
                    </m:sSub>
                  </m:oMath>
                </a14:m>
                <a:endParaRPr lang="en-US"/>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2"/>
                <a:stretch>
                  <a:fillRect l="-1105" b="-1747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81193" y="2097368"/>
                <a:ext cx="11029615" cy="4137177"/>
              </a:xfrm>
            </p:spPr>
            <p:txBody>
              <a:bodyPr>
                <a:noAutofit/>
              </a:bodyPr>
              <a:lstStyle/>
              <a:p>
                <a:r>
                  <a:rPr lang="en-US" sz="2000"/>
                  <a:t>Suppose you want to compare two different distributions.</a:t>
                </a:r>
              </a:p>
              <a:p>
                <a:pPr lvl="1"/>
                <a:r>
                  <a:rPr lang="en-US" sz="1800"/>
                  <a:t>i.e. two processes to produce the same part and you are interested in whether the means are the same for each process.</a:t>
                </a:r>
              </a:p>
              <a:p>
                <a:endParaRPr lang="en-US" sz="2000"/>
              </a:p>
              <a:p>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𝜇</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𝜇</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𝜇</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𝜇</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=0</m:t>
                    </m:r>
                  </m:oMath>
                </a14:m>
                <a:endParaRPr lang="en-US" sz="200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81193" y="2097368"/>
                <a:ext cx="11029615" cy="4137177"/>
              </a:xfrm>
              <a:blipFill>
                <a:blip r:embed="rId3"/>
                <a:stretch>
                  <a:fillRect l="-442"/>
                </a:stretch>
              </a:blipFill>
            </p:spPr>
            <p:txBody>
              <a:bodyPr/>
              <a:lstStyle/>
              <a:p>
                <a:r>
                  <a:rPr lang="en-US">
                    <a:noFill/>
                  </a:rPr>
                  <a:t> </a:t>
                </a:r>
              </a:p>
            </p:txBody>
          </p:sp>
        </mc:Fallback>
      </mc:AlternateContent>
    </p:spTree>
    <p:extLst>
      <p:ext uri="{BB962C8B-B14F-4D97-AF65-F5344CB8AC3E}">
        <p14:creationId xmlns:p14="http://schemas.microsoft.com/office/powerpoint/2010/main" val="14807159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a:t>Sampling distribution of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𝑋</m:t>
                            </m:r>
                          </m:e>
                        </m:acc>
                      </m:e>
                      <m:sub>
                        <m:r>
                          <a:rPr lang="en-US" i="1" dirty="0">
                            <a:latin typeface="Cambria Math" panose="02040503050406030204" pitchFamily="18" charset="0"/>
                          </a:rPr>
                          <m:t>1</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acc>
                          <m:accPr>
                            <m:chr m:val="̅"/>
                            <m:ctrlPr>
                              <a:rPr lang="en-US" i="1" dirty="0">
                                <a:latin typeface="Cambria Math" panose="02040503050406030204" pitchFamily="18" charset="0"/>
                              </a:rPr>
                            </m:ctrlPr>
                          </m:accPr>
                          <m:e>
                            <m:r>
                              <a:rPr lang="en-US" i="1" dirty="0">
                                <a:latin typeface="Cambria Math" panose="02040503050406030204" pitchFamily="18" charset="0"/>
                              </a:rPr>
                              <m:t>𝑋</m:t>
                            </m:r>
                          </m:e>
                        </m:acc>
                      </m:e>
                      <m:sub>
                        <m:r>
                          <a:rPr lang="en-US" i="1" dirty="0">
                            <a:latin typeface="Cambria Math" panose="02040503050406030204" pitchFamily="18" charset="0"/>
                          </a:rPr>
                          <m:t>2</m:t>
                        </m:r>
                      </m:sub>
                    </m:sSub>
                  </m:oMath>
                </a14:m>
                <a:endParaRPr lang="en-US"/>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2"/>
                <a:stretch>
                  <a:fillRect l="-1105" b="-1747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81192" y="1891445"/>
                <a:ext cx="11029615" cy="4885322"/>
              </a:xfrm>
            </p:spPr>
            <p:txBody>
              <a:bodyPr>
                <a:normAutofit/>
              </a:bodyPr>
              <a:lstStyle/>
              <a:p>
                <a:r>
                  <a:rPr lang="en-US" dirty="0"/>
                  <a:t>Assume two independent populations,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𝑁</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1</m:t>
                        </m:r>
                      </m:sub>
                    </m:sSub>
                    <m:sSubSup>
                      <m:sSubSupPr>
                        <m:ctrlPr>
                          <a:rPr lang="en-US" i="1">
                            <a:latin typeface="Cambria Math" panose="02040503050406030204" pitchFamily="18" charset="0"/>
                          </a:rPr>
                        </m:ctrlPr>
                      </m:sSubSupPr>
                      <m:e>
                        <m:r>
                          <a:rPr lang="en-US" i="1">
                            <a:latin typeface="Cambria Math" panose="02040503050406030204" pitchFamily="18" charset="0"/>
                          </a:rPr>
                          <m:t>𝜎</m:t>
                        </m:r>
                      </m:e>
                      <m:sub>
                        <m:r>
                          <a:rPr lang="en-US" i="1">
                            <a:latin typeface="Cambria Math" panose="02040503050406030204" pitchFamily="18" charset="0"/>
                          </a:rPr>
                          <m:t>1</m:t>
                        </m:r>
                      </m:sub>
                      <m:sup>
                        <m:r>
                          <a:rPr lang="en-US" i="1">
                            <a:latin typeface="Cambria Math" panose="02040503050406030204" pitchFamily="18" charset="0"/>
                          </a:rPr>
                          <m:t>2</m:t>
                        </m:r>
                      </m:sup>
                    </m:sSubSup>
                    <m:r>
                      <a:rPr lang="en-US" i="1">
                        <a:latin typeface="Cambria Math" panose="02040503050406030204" pitchFamily="18" charset="0"/>
                      </a:rPr>
                      <m:t>)</m:t>
                    </m:r>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𝑗</m:t>
                        </m:r>
                        <m:r>
                          <a:rPr lang="en-US" i="1">
                            <a:latin typeface="Cambria Math" panose="02040503050406030204" pitchFamily="18" charset="0"/>
                          </a:rPr>
                          <m:t>2</m:t>
                        </m:r>
                      </m:sub>
                    </m:sSub>
                    <m:r>
                      <a:rPr lang="en-US" i="1">
                        <a:latin typeface="Cambria Math" panose="02040503050406030204" pitchFamily="18" charset="0"/>
                      </a:rPr>
                      <m:t>~</m:t>
                    </m:r>
                    <m:r>
                      <a:rPr lang="en-US" i="1">
                        <a:latin typeface="Cambria Math" panose="02040503050406030204" pitchFamily="18" charset="0"/>
                      </a:rPr>
                      <m:t>𝑁</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2</m:t>
                        </m:r>
                      </m:sub>
                    </m:sSub>
                    <m:sSubSup>
                      <m:sSubSupPr>
                        <m:ctrlPr>
                          <a:rPr lang="en-US" i="1">
                            <a:latin typeface="Cambria Math" panose="02040503050406030204" pitchFamily="18" charset="0"/>
                          </a:rPr>
                        </m:ctrlPr>
                      </m:sSubSupPr>
                      <m:e>
                        <m:r>
                          <a:rPr lang="en-US" i="1">
                            <a:latin typeface="Cambria Math" panose="02040503050406030204" pitchFamily="18" charset="0"/>
                          </a:rPr>
                          <m:t>𝜎</m:t>
                        </m:r>
                      </m:e>
                      <m:sub>
                        <m:r>
                          <a:rPr lang="en-US" i="1">
                            <a:latin typeface="Cambria Math" panose="02040503050406030204" pitchFamily="18" charset="0"/>
                          </a:rPr>
                          <m:t>2</m:t>
                        </m:r>
                      </m:sub>
                      <m:sup>
                        <m:r>
                          <a:rPr lang="en-US" i="1">
                            <a:latin typeface="Cambria Math" panose="02040503050406030204" pitchFamily="18" charset="0"/>
                          </a:rPr>
                          <m:t>2</m:t>
                        </m:r>
                      </m:sup>
                    </m:sSubSup>
                    <m:r>
                      <a:rPr lang="en-US" i="1">
                        <a:latin typeface="Cambria Math" panose="02040503050406030204" pitchFamily="18" charset="0"/>
                      </a:rPr>
                      <m:t>)</m:t>
                    </m:r>
                  </m:oMath>
                </a14:m>
                <a:r>
                  <a:rPr lang="en-US" dirty="0"/>
                  <a:t>.</a:t>
                </a:r>
              </a:p>
              <a:p>
                <a:r>
                  <a:rPr lang="en-US" dirty="0"/>
                  <a:t>Assume random samples of size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1</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2</m:t>
                        </m:r>
                      </m:sub>
                    </m:sSub>
                  </m:oMath>
                </a14:m>
                <a:r>
                  <a:rPr lang="en-US" dirty="0"/>
                  <a:t> are drawn from each population.</a:t>
                </a:r>
              </a:p>
              <a:p>
                <a:r>
                  <a:rPr lang="en-US" dirty="0"/>
                  <a:t>What is the mean of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𝑋</m:t>
                            </m:r>
                          </m:e>
                        </m:acc>
                      </m:e>
                      <m:sub>
                        <m:r>
                          <a:rPr lang="en-US" i="1" dirty="0">
                            <a:latin typeface="Cambria Math" panose="02040503050406030204" pitchFamily="18" charset="0"/>
                          </a:rPr>
                          <m:t>1</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acc>
                          <m:accPr>
                            <m:chr m:val="̅"/>
                            <m:ctrlPr>
                              <a:rPr lang="en-US" i="1" dirty="0">
                                <a:latin typeface="Cambria Math" panose="02040503050406030204" pitchFamily="18" charset="0"/>
                              </a:rPr>
                            </m:ctrlPr>
                          </m:accPr>
                          <m:e>
                            <m:r>
                              <a:rPr lang="en-US" i="1" dirty="0">
                                <a:latin typeface="Cambria Math" panose="02040503050406030204" pitchFamily="18" charset="0"/>
                              </a:rPr>
                              <m:t>𝑋</m:t>
                            </m:r>
                          </m:e>
                        </m:acc>
                      </m:e>
                      <m:sub>
                        <m:r>
                          <a:rPr lang="en-US" i="1" dirty="0">
                            <a:latin typeface="Cambria Math" panose="02040503050406030204" pitchFamily="18" charset="0"/>
                          </a:rPr>
                          <m:t>2</m:t>
                        </m:r>
                      </m:sub>
                    </m:sSub>
                  </m:oMath>
                </a14:m>
                <a:r>
                  <a:rPr lang="en-US" dirty="0"/>
                  <a:t> and what is the variance?</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Note: The CLT holds and the two distributions do not need to be normally distributed.</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81192" y="1891445"/>
                <a:ext cx="11029615" cy="4885322"/>
              </a:xfrm>
              <a:blipFill>
                <a:blip r:embed="rId3"/>
                <a:stretch>
                  <a:fillRect l="-331" t="-125" b="-1746"/>
                </a:stretch>
              </a:blipFill>
            </p:spPr>
            <p:txBody>
              <a:bodyPr/>
              <a:lstStyle/>
              <a:p>
                <a:r>
                  <a:rPr lang="en-US">
                    <a:noFill/>
                  </a:rPr>
                  <a:t> </a:t>
                </a:r>
              </a:p>
            </p:txBody>
          </p:sp>
        </mc:Fallback>
      </mc:AlternateContent>
    </p:spTree>
    <p:extLst>
      <p:ext uri="{BB962C8B-B14F-4D97-AF65-F5344CB8AC3E}">
        <p14:creationId xmlns:p14="http://schemas.microsoft.com/office/powerpoint/2010/main" val="14787201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5</a:t>
            </a:r>
          </a:p>
        </p:txBody>
      </p:sp>
      <p:sp>
        <p:nvSpPr>
          <p:cNvPr id="3" name="Content Placeholder 2"/>
          <p:cNvSpPr>
            <a:spLocks noGrp="1"/>
          </p:cNvSpPr>
          <p:nvPr>
            <p:ph idx="1"/>
          </p:nvPr>
        </p:nvSpPr>
        <p:spPr>
          <a:xfrm>
            <a:off x="581192" y="1903405"/>
            <a:ext cx="11029615" cy="1504813"/>
          </a:xfrm>
        </p:spPr>
        <p:txBody>
          <a:bodyPr/>
          <a:lstStyle/>
          <a:p>
            <a:r>
              <a:rPr lang="en-US"/>
              <a:t>The television picture tubes of manufacturer </a:t>
            </a:r>
            <a:r>
              <a:rPr lang="en-US" i="1"/>
              <a:t>A </a:t>
            </a:r>
            <a:r>
              <a:rPr lang="en-US"/>
              <a:t>have an expected lifetime of 6.5 years and a standard deviation of 0.9 year, while those of manufacturer </a:t>
            </a:r>
            <a:r>
              <a:rPr lang="en-US" i="1"/>
              <a:t>B </a:t>
            </a:r>
            <a:r>
              <a:rPr lang="en-US"/>
              <a:t>have an expected lifetime of 6.0 years and a standard deviation of 0.8 year. What is the probability that a random sample of 36 tubes from manufacturer </a:t>
            </a:r>
            <a:r>
              <a:rPr lang="en-US" i="1"/>
              <a:t>A </a:t>
            </a:r>
            <a:r>
              <a:rPr lang="en-US"/>
              <a:t>will have a mean lifetime that is at least 1 year more than the mean lifetime of a sample of 49 tubes from manufacturer </a:t>
            </a:r>
            <a:r>
              <a:rPr lang="en-US" i="1"/>
              <a:t>B</a:t>
            </a:r>
            <a:r>
              <a:rPr lang="en-US"/>
              <a:t>?</a:t>
            </a:r>
          </a:p>
        </p:txBody>
      </p:sp>
    </p:spTree>
    <p:extLst>
      <p:ext uri="{BB962C8B-B14F-4D97-AF65-F5344CB8AC3E}">
        <p14:creationId xmlns:p14="http://schemas.microsoft.com/office/powerpoint/2010/main" val="40097226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Chi – Square distribution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lnSpc>
                    <a:spcPct val="150000"/>
                  </a:lnSpc>
                  <a:spcBef>
                    <a:spcPts val="0"/>
                  </a:spcBef>
                  <a:spcAft>
                    <a:spcPts val="0"/>
                  </a:spcAft>
                </a:pPr>
                <a:r>
                  <a:rPr lang="en-US" sz="2000" dirty="0"/>
                  <a:t>Recall, we briefly introduced the </a:t>
                </a:r>
                <a:r>
                  <a:rPr lang="en-US" sz="2000" b="1" dirty="0"/>
                  <a:t>Chi-Square Distribution</a:t>
                </a:r>
                <a:r>
                  <a:rPr lang="en-US" sz="2000" dirty="0"/>
                  <a:t> </a:t>
                </a:r>
                <a14:m>
                  <m:oMath xmlns:m="http://schemas.openxmlformats.org/officeDocument/2006/math">
                    <m:r>
                      <a:rPr lang="en-US" sz="2000" b="0" i="1" smtClean="0">
                        <a:latin typeface="Cambria Math" panose="02040503050406030204" pitchFamily="18" charset="0"/>
                      </a:rPr>
                      <m:t>(</m:t>
                    </m:r>
                    <m:sSubSup>
                      <m:sSubSupPr>
                        <m:ctrlPr>
                          <a:rPr lang="en-US" sz="2000" b="0" i="1" smtClean="0">
                            <a:latin typeface="Cambria Math" panose="02040503050406030204" pitchFamily="18" charset="0"/>
                          </a:rPr>
                        </m:ctrlPr>
                      </m:sSubSupPr>
                      <m:e>
                        <m:r>
                          <a:rPr lang="en-US" sz="2000" b="0" i="1" smtClean="0">
                            <a:latin typeface="Cambria Math" panose="02040503050406030204" pitchFamily="18" charset="0"/>
                          </a:rPr>
                          <m:t>𝜒</m:t>
                        </m:r>
                      </m:e>
                      <m:sub>
                        <m:r>
                          <a:rPr lang="en-US" sz="2000" b="0" i="1" smtClean="0">
                            <a:latin typeface="Cambria Math" panose="02040503050406030204" pitchFamily="18" charset="0"/>
                            <a:ea typeface="Cambria Math" panose="02040503050406030204" pitchFamily="18" charset="0"/>
                          </a:rPr>
                          <m:t>𝜈</m:t>
                        </m:r>
                      </m:sub>
                      <m:sup>
                        <m:r>
                          <a:rPr lang="en-US" sz="2000" b="0" i="1" smtClean="0">
                            <a:latin typeface="Cambria Math" panose="02040503050406030204" pitchFamily="18" charset="0"/>
                          </a:rPr>
                          <m:t>2</m:t>
                        </m:r>
                      </m:sup>
                    </m:sSubSup>
                    <m:r>
                      <a:rPr lang="en-US" sz="2000" b="0" i="1" smtClean="0">
                        <a:latin typeface="Cambria Math" panose="02040503050406030204" pitchFamily="18" charset="0"/>
                      </a:rPr>
                      <m:t>)</m:t>
                    </m:r>
                  </m:oMath>
                </a14:m>
                <a:r>
                  <a:rPr lang="en-US" sz="2000" dirty="0"/>
                  <a:t> in chapter 6.</a:t>
                </a:r>
              </a:p>
              <a:p>
                <a:pPr lvl="1">
                  <a:lnSpc>
                    <a:spcPct val="150000"/>
                  </a:lnSpc>
                  <a:spcBef>
                    <a:spcPts val="0"/>
                  </a:spcBef>
                  <a:spcAft>
                    <a:spcPts val="0"/>
                  </a:spcAft>
                </a:pPr>
                <a:r>
                  <a:rPr lang="en-US" sz="1800" dirty="0"/>
                  <a:t>Special case of the Gamma distribution with </a:t>
                </a:r>
                <a14:m>
                  <m:oMath xmlns:m="http://schemas.openxmlformats.org/officeDocument/2006/math">
                    <m:r>
                      <a:rPr lang="en-US" sz="1800" b="0" i="1" smtClean="0">
                        <a:latin typeface="Cambria Math" panose="02040503050406030204" pitchFamily="18" charset="0"/>
                      </a:rPr>
                      <m:t>𝛼</m:t>
                    </m:r>
                    <m:r>
                      <a:rPr lang="en-US" sz="1800" b="0" i="1" smtClean="0">
                        <a:latin typeface="Cambria Math" panose="02040503050406030204" pitchFamily="18" charset="0"/>
                      </a:rPr>
                      <m:t>=</m:t>
                    </m:r>
                    <m:f>
                      <m:fPr>
                        <m:ctrlPr>
                          <a:rPr lang="en-US" sz="1800" b="0" i="1" smtClean="0">
                            <a:latin typeface="Cambria Math" panose="02040503050406030204" pitchFamily="18" charset="0"/>
                            <a:ea typeface="Cambria Math" panose="02040503050406030204" pitchFamily="18" charset="0"/>
                          </a:rPr>
                        </m:ctrlPr>
                      </m:fPr>
                      <m:num>
                        <m:r>
                          <a:rPr lang="en-US" sz="1800" b="0" i="1" smtClean="0">
                            <a:latin typeface="Cambria Math" panose="02040503050406030204" pitchFamily="18" charset="0"/>
                            <a:ea typeface="Cambria Math" panose="02040503050406030204" pitchFamily="18" charset="0"/>
                          </a:rPr>
                          <m:t>𝜈</m:t>
                        </m:r>
                      </m:num>
                      <m:den>
                        <m:r>
                          <a:rPr lang="en-US" sz="1800" b="0" i="1" smtClean="0">
                            <a:latin typeface="Cambria Math" panose="02040503050406030204" pitchFamily="18" charset="0"/>
                            <a:ea typeface="Cambria Math" panose="02040503050406030204" pitchFamily="18" charset="0"/>
                          </a:rPr>
                          <m:t>2</m:t>
                        </m:r>
                      </m:den>
                    </m:f>
                  </m:oMath>
                </a14:m>
                <a:r>
                  <a:rPr lang="en-US" sz="1800" dirty="0"/>
                  <a:t> and </a:t>
                </a:r>
                <a14:m>
                  <m:oMath xmlns:m="http://schemas.openxmlformats.org/officeDocument/2006/math">
                    <m:r>
                      <a:rPr lang="en-US" sz="1800" b="0" i="1" smtClean="0">
                        <a:latin typeface="Cambria Math" panose="02040503050406030204" pitchFamily="18" charset="0"/>
                      </a:rPr>
                      <m:t>𝛽</m:t>
                    </m:r>
                    <m:r>
                      <a:rPr lang="en-US" sz="1800" b="0" i="1" smtClean="0">
                        <a:latin typeface="Cambria Math" panose="02040503050406030204" pitchFamily="18" charset="0"/>
                      </a:rPr>
                      <m:t>=2</m:t>
                    </m:r>
                  </m:oMath>
                </a14:m>
                <a:r>
                  <a:rPr lang="en-US" sz="1800" dirty="0"/>
                  <a:t> where </a:t>
                </a:r>
                <a14:m>
                  <m:oMath xmlns:m="http://schemas.openxmlformats.org/officeDocument/2006/math">
                    <m:r>
                      <a:rPr lang="en-US" sz="1800" b="0" i="1" smtClean="0">
                        <a:latin typeface="Cambria Math" panose="02040503050406030204" pitchFamily="18" charset="0"/>
                        <a:ea typeface="Cambria Math" panose="02040503050406030204" pitchFamily="18" charset="0"/>
                      </a:rPr>
                      <m:t>𝜈</m:t>
                    </m:r>
                  </m:oMath>
                </a14:m>
                <a:r>
                  <a:rPr lang="en-US" sz="1800" dirty="0"/>
                  <a:t> is the degrees of freedom.</a:t>
                </a:r>
              </a:p>
              <a:p>
                <a:pPr lvl="1">
                  <a:lnSpc>
                    <a:spcPct val="150000"/>
                  </a:lnSpc>
                  <a:spcBef>
                    <a:spcPts val="0"/>
                  </a:spcBef>
                  <a:spcAft>
                    <a:spcPts val="0"/>
                  </a:spcAft>
                </a:pPr>
                <a:endParaRPr lang="en-US" sz="1800" dirty="0"/>
              </a:p>
              <a:p>
                <a:pPr>
                  <a:lnSpc>
                    <a:spcPct val="150000"/>
                  </a:lnSpc>
                  <a:spcBef>
                    <a:spcPts val="0"/>
                  </a:spcBef>
                  <a:spcAft>
                    <a:spcPts val="0"/>
                  </a:spcAft>
                </a:pPr>
                <a:r>
                  <a:rPr lang="en-US" sz="2000" dirty="0"/>
                  <a:t>Properties:</a:t>
                </a:r>
              </a:p>
              <a:p>
                <a:pPr lvl="1">
                  <a:lnSpc>
                    <a:spcPct val="150000"/>
                  </a:lnSpc>
                  <a:spcBef>
                    <a:spcPts val="0"/>
                  </a:spcBef>
                  <a:spcAft>
                    <a:spcPts val="0"/>
                  </a:spcAft>
                </a:pPr>
                <a:r>
                  <a:rPr lang="en-US" sz="1800" dirty="0"/>
                  <a:t>If </a:t>
                </a:r>
                <a14:m>
                  <m:oMath xmlns:m="http://schemas.openxmlformats.org/officeDocument/2006/math">
                    <m:r>
                      <a:rPr lang="en-US" sz="1800" b="0" i="1" smtClean="0">
                        <a:latin typeface="Cambria Math" panose="02040503050406030204" pitchFamily="18" charset="0"/>
                      </a:rPr>
                      <m:t>𝑍</m:t>
                    </m:r>
                    <m:r>
                      <a:rPr lang="en-US" sz="1800" b="0" i="1" smtClean="0">
                        <a:latin typeface="Cambria Math" panose="02040503050406030204" pitchFamily="18" charset="0"/>
                      </a:rPr>
                      <m:t>~</m:t>
                    </m:r>
                    <m:r>
                      <a:rPr lang="en-US" sz="1800" b="0" i="1" smtClean="0">
                        <a:latin typeface="Cambria Math" panose="02040503050406030204" pitchFamily="18" charset="0"/>
                      </a:rPr>
                      <m:t>𝑁</m:t>
                    </m:r>
                    <m:r>
                      <a:rPr lang="en-US" sz="1800" b="0" i="1" smtClean="0">
                        <a:latin typeface="Cambria Math" panose="02040503050406030204" pitchFamily="18" charset="0"/>
                      </a:rPr>
                      <m:t>(0,1)</m:t>
                    </m:r>
                  </m:oMath>
                </a14:m>
                <a:r>
                  <a:rPr lang="en-US" sz="1800" dirty="0"/>
                  <a:t>, then </a:t>
                </a:r>
                <a14:m>
                  <m:oMath xmlns:m="http://schemas.openxmlformats.org/officeDocument/2006/math">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𝑍</m:t>
                        </m:r>
                      </m:e>
                      <m:sup>
                        <m:r>
                          <a:rPr lang="en-US" sz="1800" b="0" i="1" smtClean="0">
                            <a:latin typeface="Cambria Math" panose="02040503050406030204" pitchFamily="18" charset="0"/>
                          </a:rPr>
                          <m:t>2</m:t>
                        </m:r>
                      </m:sup>
                    </m:sSup>
                    <m:r>
                      <a:rPr lang="en-US" sz="1800" b="0" i="1" smtClean="0">
                        <a:latin typeface="Cambria Math" panose="02040503050406030204" pitchFamily="18" charset="0"/>
                      </a:rPr>
                      <m:t>~</m:t>
                    </m:r>
                    <m:sSubSup>
                      <m:sSubSupPr>
                        <m:ctrlPr>
                          <a:rPr lang="en-US" sz="1800" b="0" i="1" smtClean="0">
                            <a:latin typeface="Cambria Math" panose="02040503050406030204" pitchFamily="18" charset="0"/>
                          </a:rPr>
                        </m:ctrlPr>
                      </m:sSubSupPr>
                      <m:e>
                        <m:r>
                          <a:rPr lang="en-US" sz="1800" b="0" i="1" smtClean="0">
                            <a:latin typeface="Cambria Math" panose="02040503050406030204" pitchFamily="18" charset="0"/>
                          </a:rPr>
                          <m:t>𝜒</m:t>
                        </m:r>
                      </m:e>
                      <m:sub>
                        <m:r>
                          <a:rPr lang="en-US" sz="1800" b="0" i="1" smtClean="0">
                            <a:latin typeface="Cambria Math" panose="02040503050406030204" pitchFamily="18" charset="0"/>
                          </a:rPr>
                          <m:t>1</m:t>
                        </m:r>
                      </m:sub>
                      <m:sup>
                        <m:r>
                          <a:rPr lang="en-US" sz="1800" b="0" i="1" smtClean="0">
                            <a:latin typeface="Cambria Math" panose="02040503050406030204" pitchFamily="18" charset="0"/>
                          </a:rPr>
                          <m:t>2</m:t>
                        </m:r>
                      </m:sup>
                    </m:sSubSup>
                  </m:oMath>
                </a14:m>
                <a:endParaRPr lang="en-US" sz="1800" dirty="0"/>
              </a:p>
              <a:p>
                <a:pPr lvl="1">
                  <a:lnSpc>
                    <a:spcPct val="150000"/>
                  </a:lnSpc>
                  <a:spcBef>
                    <a:spcPts val="0"/>
                  </a:spcBef>
                  <a:spcAft>
                    <a:spcPts val="0"/>
                  </a:spcAft>
                </a:pPr>
                <a:r>
                  <a:rPr lang="en-US" sz="1800" dirty="0"/>
                  <a:t>If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𝑍</m:t>
                        </m:r>
                      </m:e>
                      <m:sub>
                        <m:r>
                          <a:rPr lang="en-US" sz="1800" b="0" i="1" smtClean="0">
                            <a:latin typeface="Cambria Math" panose="02040503050406030204" pitchFamily="18" charset="0"/>
                          </a:rPr>
                          <m:t>1</m:t>
                        </m:r>
                      </m:sub>
                    </m:sSub>
                  </m:oMath>
                </a14:m>
                <a:r>
                  <a:rPr lang="en-US" sz="1800" dirty="0"/>
                  <a:t>~ </a:t>
                </a:r>
                <a14:m>
                  <m:oMath xmlns:m="http://schemas.openxmlformats.org/officeDocument/2006/math">
                    <m:r>
                      <a:rPr lang="en-US" sz="1800" i="1">
                        <a:latin typeface="Cambria Math" panose="02040503050406030204" pitchFamily="18" charset="0"/>
                      </a:rPr>
                      <m:t>𝑁</m:t>
                    </m:r>
                    <m:r>
                      <a:rPr lang="en-US" sz="1800" i="1">
                        <a:latin typeface="Cambria Math" panose="02040503050406030204" pitchFamily="18" charset="0"/>
                      </a:rPr>
                      <m:t>(0,1)</m:t>
                    </m:r>
                  </m:oMath>
                </a14:m>
                <a:r>
                  <a:rPr lang="en-US" sz="1800" dirty="0"/>
                  <a:t> and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𝑍</m:t>
                        </m:r>
                      </m:e>
                      <m:sub>
                        <m:r>
                          <a:rPr lang="en-US" sz="1800" b="0" i="1" smtClean="0">
                            <a:latin typeface="Cambria Math" panose="02040503050406030204" pitchFamily="18" charset="0"/>
                          </a:rPr>
                          <m:t>2</m:t>
                        </m:r>
                      </m:sub>
                    </m:sSub>
                  </m:oMath>
                </a14:m>
                <a:r>
                  <a:rPr lang="en-US" sz="1800" dirty="0"/>
                  <a:t> ~</a:t>
                </a:r>
                <a14:m>
                  <m:oMath xmlns:m="http://schemas.openxmlformats.org/officeDocument/2006/math">
                    <m:r>
                      <a:rPr lang="en-US" sz="1800" i="1">
                        <a:latin typeface="Cambria Math" panose="02040503050406030204" pitchFamily="18" charset="0"/>
                      </a:rPr>
                      <m:t>𝑁</m:t>
                    </m:r>
                    <m:r>
                      <a:rPr lang="en-US" sz="1800" i="1">
                        <a:latin typeface="Cambria Math" panose="02040503050406030204" pitchFamily="18" charset="0"/>
                      </a:rPr>
                      <m:t>(0,1</m:t>
                    </m:r>
                  </m:oMath>
                </a14:m>
                <a:r>
                  <a:rPr lang="en-US" sz="1800" dirty="0"/>
                  <a:t>) are independent, then </a:t>
                </a:r>
                <a14:m>
                  <m:oMath xmlns:m="http://schemas.openxmlformats.org/officeDocument/2006/math">
                    <m:sSubSup>
                      <m:sSubSupPr>
                        <m:ctrlPr>
                          <a:rPr lang="en-US" sz="1800" b="0" i="1" smtClean="0">
                            <a:latin typeface="Cambria Math" panose="02040503050406030204" pitchFamily="18" charset="0"/>
                          </a:rPr>
                        </m:ctrlPr>
                      </m:sSubSupPr>
                      <m:e>
                        <m:r>
                          <a:rPr lang="en-US" sz="1800" b="0" i="1" smtClean="0">
                            <a:latin typeface="Cambria Math" panose="02040503050406030204" pitchFamily="18" charset="0"/>
                          </a:rPr>
                          <m:t>𝑍</m:t>
                        </m:r>
                      </m:e>
                      <m:sub>
                        <m:r>
                          <a:rPr lang="en-US" sz="1800" b="0" i="1" smtClean="0">
                            <a:latin typeface="Cambria Math" panose="02040503050406030204" pitchFamily="18" charset="0"/>
                          </a:rPr>
                          <m:t>1</m:t>
                        </m:r>
                      </m:sub>
                      <m:sup>
                        <m:r>
                          <a:rPr lang="en-US" sz="1800" b="0" i="1" smtClean="0">
                            <a:latin typeface="Cambria Math" panose="02040503050406030204" pitchFamily="18" charset="0"/>
                          </a:rPr>
                          <m:t>2</m:t>
                        </m:r>
                      </m:sup>
                    </m:sSubSup>
                    <m:r>
                      <a:rPr lang="en-US" sz="1800" b="0" i="1" smtClean="0">
                        <a:latin typeface="Cambria Math" panose="02040503050406030204" pitchFamily="18" charset="0"/>
                      </a:rPr>
                      <m:t>+</m:t>
                    </m:r>
                    <m:sSubSup>
                      <m:sSubSupPr>
                        <m:ctrlPr>
                          <a:rPr lang="en-US" sz="1800" b="0" i="1" smtClean="0">
                            <a:latin typeface="Cambria Math" panose="02040503050406030204" pitchFamily="18" charset="0"/>
                          </a:rPr>
                        </m:ctrlPr>
                      </m:sSubSupPr>
                      <m:e>
                        <m:r>
                          <a:rPr lang="en-US" sz="1800" b="0" i="1" smtClean="0">
                            <a:latin typeface="Cambria Math" panose="02040503050406030204" pitchFamily="18" charset="0"/>
                          </a:rPr>
                          <m:t>𝑍</m:t>
                        </m:r>
                      </m:e>
                      <m:sub>
                        <m:r>
                          <a:rPr lang="en-US" sz="1800" b="0" i="1" smtClean="0">
                            <a:latin typeface="Cambria Math" panose="02040503050406030204" pitchFamily="18" charset="0"/>
                          </a:rPr>
                          <m:t>2</m:t>
                        </m:r>
                      </m:sub>
                      <m:sup>
                        <m:r>
                          <a:rPr lang="en-US" sz="1800" b="0" i="1" smtClean="0">
                            <a:latin typeface="Cambria Math" panose="02040503050406030204" pitchFamily="18" charset="0"/>
                          </a:rPr>
                          <m:t>2</m:t>
                        </m:r>
                      </m:sup>
                    </m:sSubSup>
                    <m:r>
                      <a:rPr lang="en-US" sz="1800" b="0" i="1" smtClean="0">
                        <a:latin typeface="Cambria Math" panose="02040503050406030204" pitchFamily="18" charset="0"/>
                      </a:rPr>
                      <m:t>~</m:t>
                    </m:r>
                    <m:sSubSup>
                      <m:sSubSupPr>
                        <m:ctrlPr>
                          <a:rPr lang="en-US" sz="1800" b="0" i="1" smtClean="0">
                            <a:latin typeface="Cambria Math" panose="02040503050406030204" pitchFamily="18" charset="0"/>
                          </a:rPr>
                        </m:ctrlPr>
                      </m:sSubSupPr>
                      <m:e>
                        <m:r>
                          <a:rPr lang="en-US" sz="1800" b="0" i="1" smtClean="0">
                            <a:latin typeface="Cambria Math" panose="02040503050406030204" pitchFamily="18" charset="0"/>
                          </a:rPr>
                          <m:t>𝜒</m:t>
                        </m:r>
                      </m:e>
                      <m:sub>
                        <m:r>
                          <a:rPr lang="en-US" sz="1800" b="0" i="1" smtClean="0">
                            <a:latin typeface="Cambria Math" panose="02040503050406030204" pitchFamily="18" charset="0"/>
                          </a:rPr>
                          <m:t>2</m:t>
                        </m:r>
                      </m:sub>
                      <m:sup>
                        <m:r>
                          <a:rPr lang="en-US" sz="1800" b="0" i="1" smtClean="0">
                            <a:latin typeface="Cambria Math" panose="02040503050406030204" pitchFamily="18" charset="0"/>
                          </a:rPr>
                          <m:t>2</m:t>
                        </m:r>
                      </m:sup>
                    </m:sSubSup>
                  </m:oMath>
                </a14:m>
                <a:endParaRPr lang="en-US" sz="1800" dirty="0"/>
              </a:p>
              <a:p>
                <a:pPr lvl="1">
                  <a:lnSpc>
                    <a:spcPct val="150000"/>
                  </a:lnSpc>
                  <a:spcBef>
                    <a:spcPts val="0"/>
                  </a:spcBef>
                  <a:spcAft>
                    <a:spcPts val="0"/>
                  </a:spcAft>
                </a:pPr>
                <a:r>
                  <a:rPr lang="en-US" sz="1800" dirty="0"/>
                  <a:t>As an extension…if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𝑍</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𝑍</m:t>
                        </m:r>
                      </m:e>
                      <m:sub>
                        <m:r>
                          <a:rPr lang="en-US" sz="1800" b="0" i="1" smtClean="0">
                            <a:latin typeface="Cambria Math" panose="02040503050406030204" pitchFamily="18" charset="0"/>
                          </a:rPr>
                          <m:t>2</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𝑍</m:t>
                        </m:r>
                      </m:e>
                      <m:sub>
                        <m:r>
                          <a:rPr lang="en-US" sz="1800" b="0" i="1" smtClean="0">
                            <a:latin typeface="Cambria Math" panose="02040503050406030204" pitchFamily="18" charset="0"/>
                            <a:ea typeface="Cambria Math" panose="02040503050406030204" pitchFamily="18" charset="0"/>
                          </a:rPr>
                          <m:t>𝜈</m:t>
                        </m:r>
                      </m:sub>
                    </m:sSub>
                  </m:oMath>
                </a14:m>
                <a:r>
                  <a:rPr lang="en-US" sz="1800" dirty="0"/>
                  <a:t> are </a:t>
                </a:r>
                <a:r>
                  <a:rPr lang="en-US" sz="1800" dirty="0" err="1"/>
                  <a:t>iid</a:t>
                </a:r>
                <a14:m>
                  <m:oMath xmlns:m="http://schemas.openxmlformats.org/officeDocument/2006/math">
                    <m:r>
                      <a:rPr lang="en-US" sz="1800" b="0" i="1" smtClean="0">
                        <a:latin typeface="Cambria Math" panose="02040503050406030204" pitchFamily="18" charset="0"/>
                      </a:rPr>
                      <m:t>~</m:t>
                    </m:r>
                    <m:r>
                      <a:rPr lang="en-US" sz="1800" b="0" i="1" smtClean="0">
                        <a:latin typeface="Cambria Math" panose="02040503050406030204" pitchFamily="18" charset="0"/>
                      </a:rPr>
                      <m:t>𝑁</m:t>
                    </m:r>
                    <m:r>
                      <a:rPr lang="en-US" sz="1800" b="0" i="1" smtClean="0">
                        <a:latin typeface="Cambria Math" panose="02040503050406030204" pitchFamily="18" charset="0"/>
                      </a:rPr>
                      <m:t>(0,1)</m:t>
                    </m:r>
                  </m:oMath>
                </a14:m>
                <a:r>
                  <a:rPr lang="en-US" sz="1800" dirty="0"/>
                  <a:t>, then </a:t>
                </a:r>
                <a14:m>
                  <m:oMath xmlns:m="http://schemas.openxmlformats.org/officeDocument/2006/math">
                    <m:nary>
                      <m:naryPr>
                        <m:chr m:val="∑"/>
                        <m:ctrlPr>
                          <a:rPr lang="en-US" sz="1800" b="0" i="1" smtClean="0">
                            <a:latin typeface="Cambria Math" panose="02040503050406030204" pitchFamily="18" charset="0"/>
                          </a:rPr>
                        </m:ctrlPr>
                      </m:naryPr>
                      <m:sub>
                        <m:r>
                          <m:rPr>
                            <m:brk m:alnAt="23"/>
                          </m:rPr>
                          <a:rPr lang="en-US" sz="1800" b="0" i="1" smtClean="0">
                            <a:latin typeface="Cambria Math" panose="02040503050406030204" pitchFamily="18" charset="0"/>
                          </a:rPr>
                          <m:t>𝑖</m:t>
                        </m:r>
                        <m:r>
                          <a:rPr lang="en-US" sz="1800" b="0" i="1" smtClean="0">
                            <a:latin typeface="Cambria Math" panose="02040503050406030204" pitchFamily="18" charset="0"/>
                          </a:rPr>
                          <m:t>=1</m:t>
                        </m:r>
                      </m:sub>
                      <m:sup>
                        <m:r>
                          <a:rPr lang="en-US" sz="1800" i="1" smtClean="0">
                            <a:latin typeface="Cambria Math" panose="02040503050406030204" pitchFamily="18" charset="0"/>
                            <a:ea typeface="Cambria Math" panose="02040503050406030204" pitchFamily="18" charset="0"/>
                          </a:rPr>
                          <m:t>𝜈</m:t>
                        </m:r>
                      </m:sup>
                      <m:e>
                        <m:sSubSup>
                          <m:sSubSupPr>
                            <m:ctrlPr>
                              <a:rPr lang="en-US" sz="1800" b="0" i="1" smtClean="0">
                                <a:latin typeface="Cambria Math" panose="02040503050406030204" pitchFamily="18" charset="0"/>
                              </a:rPr>
                            </m:ctrlPr>
                          </m:sSubSupPr>
                          <m:e>
                            <m:r>
                              <a:rPr lang="en-US" sz="1800" b="0" i="1" smtClean="0">
                                <a:latin typeface="Cambria Math" panose="02040503050406030204" pitchFamily="18" charset="0"/>
                              </a:rPr>
                              <m:t>𝑍</m:t>
                            </m:r>
                          </m:e>
                          <m:sub>
                            <m:r>
                              <a:rPr lang="en-US" sz="1800" b="0" i="1" smtClean="0">
                                <a:latin typeface="Cambria Math" panose="02040503050406030204" pitchFamily="18" charset="0"/>
                              </a:rPr>
                              <m:t>𝑖</m:t>
                            </m:r>
                          </m:sub>
                          <m:sup>
                            <m:r>
                              <a:rPr lang="en-US" sz="1800" b="0" i="1" smtClean="0">
                                <a:latin typeface="Cambria Math" panose="02040503050406030204" pitchFamily="18" charset="0"/>
                              </a:rPr>
                              <m:t>2</m:t>
                            </m:r>
                          </m:sup>
                        </m:sSubSup>
                      </m:e>
                    </m:nary>
                    <m:r>
                      <a:rPr lang="en-US" sz="1800" b="0" i="1" smtClean="0">
                        <a:latin typeface="Cambria Math" panose="02040503050406030204" pitchFamily="18" charset="0"/>
                      </a:rPr>
                      <m:t>~</m:t>
                    </m:r>
                    <m:sSubSup>
                      <m:sSubSupPr>
                        <m:ctrlPr>
                          <a:rPr lang="en-US" sz="1800" b="0" i="1" smtClean="0">
                            <a:latin typeface="Cambria Math" panose="02040503050406030204" pitchFamily="18" charset="0"/>
                          </a:rPr>
                        </m:ctrlPr>
                      </m:sSubSupPr>
                      <m:e>
                        <m:r>
                          <a:rPr lang="en-US" sz="1800" b="0" i="1" smtClean="0">
                            <a:latin typeface="Cambria Math" panose="02040503050406030204" pitchFamily="18" charset="0"/>
                          </a:rPr>
                          <m:t>𝜒</m:t>
                        </m:r>
                      </m:e>
                      <m:sub>
                        <m:r>
                          <a:rPr lang="en-US" sz="1800" b="0" i="1" smtClean="0">
                            <a:latin typeface="Cambria Math" panose="02040503050406030204" pitchFamily="18" charset="0"/>
                            <a:ea typeface="Cambria Math" panose="02040503050406030204" pitchFamily="18" charset="0"/>
                          </a:rPr>
                          <m:t>𝜈</m:t>
                        </m:r>
                      </m:sub>
                      <m:sup>
                        <m:r>
                          <a:rPr lang="en-US" sz="1800" b="0" i="1" smtClean="0">
                            <a:latin typeface="Cambria Math" panose="02040503050406030204" pitchFamily="18" charset="0"/>
                          </a:rPr>
                          <m:t>2</m:t>
                        </m:r>
                      </m:sup>
                    </m:sSubSup>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442" b="-12106"/>
                </a:stretch>
              </a:blipFill>
            </p:spPr>
            <p:txBody>
              <a:bodyPr/>
              <a:lstStyle/>
              <a:p>
                <a:r>
                  <a:rPr lang="en-US">
                    <a:noFill/>
                  </a:rPr>
                  <a:t> </a:t>
                </a:r>
              </a:p>
            </p:txBody>
          </p:sp>
        </mc:Fallback>
      </mc:AlternateContent>
    </p:spTree>
    <p:extLst>
      <p:ext uri="{BB962C8B-B14F-4D97-AF65-F5344CB8AC3E}">
        <p14:creationId xmlns:p14="http://schemas.microsoft.com/office/powerpoint/2010/main" val="21330552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a:t>Sampling distribution of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2</m:t>
                        </m:r>
                      </m:sup>
                    </m:sSup>
                  </m:oMath>
                </a14:m>
                <a:endParaRPr lang="en-US"/>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2"/>
                <a:stretch>
                  <a:fillRect l="-1105" b="-1747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81193" y="2235913"/>
                <a:ext cx="11029615" cy="3268959"/>
              </a:xfrm>
            </p:spPr>
            <p:txBody>
              <a:bodyPr/>
              <a:lstStyle/>
              <a:p>
                <a:r>
                  <a:rPr lang="en-US"/>
                  <a:t>Recall the sample variance is given by</a:t>
                </a:r>
              </a:p>
              <a:p>
                <a:pPr marL="0" indent="0">
                  <a:buNone/>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2</m:t>
                          </m:r>
                        </m:sup>
                      </m:sSup>
                      <m:r>
                        <a:rPr lang="en-US" b="0" i="1" smtClean="0">
                          <a:latin typeface="Cambria Math" panose="02040503050406030204" pitchFamily="18" charset="0"/>
                        </a:rPr>
                        <m:t>=</m:t>
                      </m:r>
                      <m:f>
                        <m:fPr>
                          <m:ctrlPr>
                            <a:rPr lang="en-US" b="0" i="1" smtClean="0">
                              <a:latin typeface="Cambria Math" panose="02040503050406030204" pitchFamily="18" charset="0"/>
                            </a:rPr>
                          </m:ctrlPr>
                        </m:fPr>
                        <m:num>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𝑋</m:t>
                                          </m:r>
                                        </m:e>
                                      </m:acc>
                                    </m:e>
                                  </m:d>
                                </m:e>
                                <m:sup>
                                  <m:r>
                                    <a:rPr lang="en-US" b="0" i="1" smtClean="0">
                                      <a:latin typeface="Cambria Math" panose="02040503050406030204" pitchFamily="18" charset="0"/>
                                    </a:rPr>
                                    <m:t>2</m:t>
                                  </m:r>
                                </m:sup>
                              </m:sSup>
                            </m:e>
                          </m:nary>
                        </m:num>
                        <m:den>
                          <m:r>
                            <a:rPr lang="en-US" b="0" i="1" smtClean="0">
                              <a:latin typeface="Cambria Math" panose="02040503050406030204" pitchFamily="18" charset="0"/>
                            </a:rPr>
                            <m:t>𝑛</m:t>
                          </m:r>
                          <m:r>
                            <a:rPr lang="en-US" b="0" i="1" smtClean="0">
                              <a:latin typeface="Cambria Math" panose="02040503050406030204" pitchFamily="18" charset="0"/>
                            </a:rPr>
                            <m:t>−1</m:t>
                          </m:r>
                        </m:den>
                      </m:f>
                    </m:oMath>
                  </m:oMathPara>
                </a14:m>
                <a:endParaRPr lang="en-US"/>
              </a:p>
              <a:p>
                <a:endParaRPr lang="en-US"/>
              </a:p>
              <a:p>
                <a:r>
                  <a:rPr lang="en-US"/>
                  <a:t>The result below follows,</a:t>
                </a:r>
              </a:p>
              <a:p>
                <a:pPr marL="0" indent="0">
                  <a:buNone/>
                </a:pPr>
                <a14:m>
                  <m:oMathPara xmlns:m="http://schemas.openxmlformats.org/officeDocument/2006/math">
                    <m:oMath>
                      <m:f>
                        <m:fPr>
                          <m:ctrlPr>
                            <a:rPr lang="en-US" b="0" i="1" smtClean="0">
                              <a:latin typeface="Cambria Math" panose="02040503050406030204" pitchFamily="18" charset="0"/>
                            </a:rPr>
                          </m:ctrlPr>
                        </m:fPr>
                        <m:num>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−1</m:t>
                              </m:r>
                            </m:e>
                          </m:d>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2</m:t>
                              </m:r>
                            </m:sup>
                          </m:sSup>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𝜎</m:t>
                              </m:r>
                            </m:e>
                            <m:sup>
                              <m:r>
                                <a:rPr lang="en-US" b="0" i="1" smtClean="0">
                                  <a:latin typeface="Cambria Math" panose="02040503050406030204" pitchFamily="18" charset="0"/>
                                </a:rPr>
                                <m:t>2</m:t>
                              </m:r>
                            </m:sup>
                          </m:sSup>
                        </m:den>
                      </m:f>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𝜒</m:t>
                          </m:r>
                        </m:e>
                        <m:sub>
                          <m:r>
                            <a:rPr lang="en-US" b="0" i="1" smtClean="0">
                              <a:latin typeface="Cambria Math" panose="02040503050406030204" pitchFamily="18" charset="0"/>
                            </a:rPr>
                            <m:t>𝑛</m:t>
                          </m:r>
                          <m:r>
                            <a:rPr lang="en-US" b="0" i="1" smtClean="0">
                              <a:latin typeface="Cambria Math" panose="02040503050406030204" pitchFamily="18" charset="0"/>
                            </a:rPr>
                            <m:t>−1</m:t>
                          </m:r>
                        </m:sub>
                        <m:sup>
                          <m:r>
                            <a:rPr lang="en-US" b="0" i="1" smtClean="0">
                              <a:latin typeface="Cambria Math" panose="02040503050406030204" pitchFamily="18" charset="0"/>
                            </a:rPr>
                            <m:t>2</m:t>
                          </m:r>
                        </m:sup>
                      </m:sSubSup>
                    </m:oMath>
                  </m:oMathPara>
                </a14:m>
                <a:endParaRPr lang="en-US"/>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81193" y="2235913"/>
                <a:ext cx="11029615" cy="3268959"/>
              </a:xfrm>
              <a:blipFill>
                <a:blip r:embed="rId3"/>
                <a:stretch>
                  <a:fillRect l="-331"/>
                </a:stretch>
              </a:blipFill>
            </p:spPr>
            <p:txBody>
              <a:bodyPr/>
              <a:lstStyle/>
              <a:p>
                <a:r>
                  <a:rPr lang="en-US">
                    <a:noFill/>
                  </a:rPr>
                  <a:t> </a:t>
                </a:r>
              </a:p>
            </p:txBody>
          </p:sp>
        </mc:Fallback>
      </mc:AlternateContent>
    </p:spTree>
    <p:extLst>
      <p:ext uri="{BB962C8B-B14F-4D97-AF65-F5344CB8AC3E}">
        <p14:creationId xmlns:p14="http://schemas.microsoft.com/office/powerpoint/2010/main" val="25448518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Chi-square table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81191" y="1823217"/>
                <a:ext cx="11029615" cy="849031"/>
              </a:xfrm>
            </p:spPr>
            <p:txBody>
              <a:bodyPr/>
              <a:lstStyle/>
              <a:p>
                <a:r>
                  <a:rPr lang="en-US"/>
                  <a:t>The chi-square table gives the quantile </a:t>
                </a:r>
                <a14:m>
                  <m:oMath xmlns:m="http://schemas.openxmlformats.org/officeDocument/2006/math">
                    <m:r>
                      <a:rPr lang="en-US" b="0" i="1" smtClean="0">
                        <a:latin typeface="Cambria Math" panose="02040503050406030204" pitchFamily="18" charset="0"/>
                      </a:rPr>
                      <m:t>𝑐</m:t>
                    </m:r>
                  </m:oMath>
                </a14:m>
                <a:r>
                  <a:rPr lang="en-US"/>
                  <a:t> such that </a:t>
                </a: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𝜒</m:t>
                            </m:r>
                          </m:e>
                          <m:sub>
                            <m:r>
                              <a:rPr lang="en-US" b="0" i="1" smtClean="0">
                                <a:latin typeface="Cambria Math" panose="02040503050406030204" pitchFamily="18" charset="0"/>
                                <a:ea typeface="Cambria Math" panose="02040503050406030204" pitchFamily="18" charset="0"/>
                              </a:rPr>
                              <m:t>𝜈</m:t>
                            </m:r>
                          </m:sub>
                          <m:sup>
                            <m:r>
                              <a:rPr lang="en-US" b="0" i="1" smtClean="0">
                                <a:latin typeface="Cambria Math" panose="02040503050406030204" pitchFamily="18" charset="0"/>
                              </a:rPr>
                              <m:t>2</m:t>
                            </m:r>
                          </m:sup>
                        </m:sSubSup>
                        <m:r>
                          <a:rPr lang="en-US" b="0" i="1" smtClean="0">
                            <a:latin typeface="Cambria Math" panose="02040503050406030204" pitchFamily="18" charset="0"/>
                          </a:rPr>
                          <m:t>&gt;</m:t>
                        </m:r>
                        <m:r>
                          <a:rPr lang="en-US" b="0" i="1" smtClean="0">
                            <a:latin typeface="Cambria Math" panose="02040503050406030204" pitchFamily="18" charset="0"/>
                          </a:rPr>
                          <m:t>𝑐</m:t>
                        </m:r>
                      </m:e>
                    </m:d>
                    <m:r>
                      <a:rPr lang="en-US" b="0" i="1" smtClean="0">
                        <a:latin typeface="Cambria Math" panose="02040503050406030204" pitchFamily="18" charset="0"/>
                      </a:rPr>
                      <m:t>=</m:t>
                    </m:r>
                    <m:r>
                      <a:rPr lang="en-US" b="0" i="1" smtClean="0">
                        <a:latin typeface="Cambria Math" panose="02040503050406030204" pitchFamily="18" charset="0"/>
                      </a:rPr>
                      <m:t>𝑝</m:t>
                    </m:r>
                  </m:oMath>
                </a14:m>
                <a:endParaRPr lang="en-US"/>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81191" y="1823217"/>
                <a:ext cx="11029615" cy="849031"/>
              </a:xfrm>
              <a:blipFill>
                <a:blip r:embed="rId2"/>
                <a:stretch>
                  <a:fillRect l="-331"/>
                </a:stretch>
              </a:blipFill>
            </p:spPr>
            <p:txBody>
              <a:bodyPr/>
              <a:lstStyle/>
              <a:p>
                <a:r>
                  <a:rPr lang="en-US">
                    <a:noFill/>
                  </a:rPr>
                  <a:t> </a:t>
                </a:r>
              </a:p>
            </p:txBody>
          </p:sp>
        </mc:Fallback>
      </mc:AlternateContent>
      <p:pic>
        <p:nvPicPr>
          <p:cNvPr id="4" name="Picture 3"/>
          <p:cNvPicPr>
            <a:picLocks noChangeAspect="1"/>
          </p:cNvPicPr>
          <p:nvPr/>
        </p:nvPicPr>
        <p:blipFill rotWithShape="1">
          <a:blip r:embed="rId3"/>
          <a:srcRect b="17766"/>
          <a:stretch/>
        </p:blipFill>
        <p:spPr>
          <a:xfrm>
            <a:off x="2443882" y="2672248"/>
            <a:ext cx="7304232" cy="4014165"/>
          </a:xfrm>
          <a:prstGeom prst="rect">
            <a:avLst/>
          </a:prstGeom>
        </p:spPr>
      </p:pic>
      <p:cxnSp>
        <p:nvCxnSpPr>
          <p:cNvPr id="6" name="Curved Connector 5"/>
          <p:cNvCxnSpPr/>
          <p:nvPr/>
        </p:nvCxnSpPr>
        <p:spPr>
          <a:xfrm rot="10800000" flipV="1">
            <a:off x="9356436" y="3694544"/>
            <a:ext cx="628073" cy="581891"/>
          </a:xfrm>
          <a:prstGeom prst="curvedConnector3">
            <a:avLst/>
          </a:prstGeom>
          <a:ln w="19050">
            <a:tailEnd type="triangle"/>
          </a:ln>
        </p:spPr>
        <p:style>
          <a:lnRef idx="1">
            <a:schemeClr val="dk1"/>
          </a:lnRef>
          <a:fillRef idx="0">
            <a:schemeClr val="dk1"/>
          </a:fillRef>
          <a:effectRef idx="0">
            <a:schemeClr val="dk1"/>
          </a:effectRef>
          <a:fontRef idx="minor">
            <a:schemeClr val="tx1"/>
          </a:fontRef>
        </p:style>
      </p:cxnSp>
      <p:sp>
        <p:nvSpPr>
          <p:cNvPr id="7" name="TextBox 6"/>
          <p:cNvSpPr txBox="1"/>
          <p:nvPr/>
        </p:nvSpPr>
        <p:spPr>
          <a:xfrm>
            <a:off x="5638800" y="2974109"/>
            <a:ext cx="65" cy="276999"/>
          </a:xfrm>
          <a:prstGeom prst="rect">
            <a:avLst/>
          </a:prstGeom>
          <a:noFill/>
        </p:spPr>
        <p:txBody>
          <a:bodyPr wrap="none" lIns="0" tIns="0" rIns="0" bIns="0" rtlCol="0">
            <a:spAutoFit/>
          </a:bodyPr>
          <a:lstStyle/>
          <a:p>
            <a:endParaRPr lang="en-US"/>
          </a:p>
        </p:txBody>
      </p:sp>
      <p:sp>
        <p:nvSpPr>
          <p:cNvPr id="8" name="TextBox 7"/>
          <p:cNvSpPr txBox="1"/>
          <p:nvPr/>
        </p:nvSpPr>
        <p:spPr>
          <a:xfrm>
            <a:off x="9984509" y="3334328"/>
            <a:ext cx="1385455" cy="646331"/>
          </a:xfrm>
          <a:prstGeom prst="rect">
            <a:avLst/>
          </a:prstGeom>
          <a:noFill/>
        </p:spPr>
        <p:txBody>
          <a:bodyPr wrap="square" rtlCol="0">
            <a:spAutoFit/>
          </a:bodyPr>
          <a:lstStyle/>
          <a:p>
            <a:r>
              <a:rPr lang="en-US"/>
              <a:t>Find probability</a:t>
            </a:r>
          </a:p>
        </p:txBody>
      </p:sp>
      <p:cxnSp>
        <p:nvCxnSpPr>
          <p:cNvPr id="10" name="Curved Connector 9"/>
          <p:cNvCxnSpPr/>
          <p:nvPr/>
        </p:nvCxnSpPr>
        <p:spPr>
          <a:xfrm>
            <a:off x="1884221" y="3916215"/>
            <a:ext cx="729672" cy="655784"/>
          </a:xfrm>
          <a:prstGeom prst="curvedConnector3">
            <a:avLst/>
          </a:prstGeom>
          <a:ln w="19050">
            <a:tailEnd type="triangle"/>
          </a:ln>
        </p:spPr>
        <p:style>
          <a:lnRef idx="1">
            <a:schemeClr val="dk1"/>
          </a:lnRef>
          <a:fillRef idx="0">
            <a:schemeClr val="dk1"/>
          </a:fillRef>
          <a:effectRef idx="0">
            <a:schemeClr val="dk1"/>
          </a:effectRef>
          <a:fontRef idx="minor">
            <a:schemeClr val="tx1"/>
          </a:fontRef>
        </p:style>
      </p:cxnSp>
      <p:sp>
        <p:nvSpPr>
          <p:cNvPr id="12" name="TextBox 11"/>
          <p:cNvSpPr txBox="1"/>
          <p:nvPr/>
        </p:nvSpPr>
        <p:spPr>
          <a:xfrm>
            <a:off x="676996" y="3473871"/>
            <a:ext cx="1385455" cy="646331"/>
          </a:xfrm>
          <a:prstGeom prst="rect">
            <a:avLst/>
          </a:prstGeom>
          <a:noFill/>
        </p:spPr>
        <p:txBody>
          <a:bodyPr wrap="square" rtlCol="0">
            <a:spAutoFit/>
          </a:bodyPr>
          <a:lstStyle/>
          <a:p>
            <a:r>
              <a:rPr lang="en-US"/>
              <a:t>Find degrees of freedom</a:t>
            </a:r>
          </a:p>
        </p:txBody>
      </p:sp>
    </p:spTree>
    <p:extLst>
      <p:ext uri="{BB962C8B-B14F-4D97-AF65-F5344CB8AC3E}">
        <p14:creationId xmlns:p14="http://schemas.microsoft.com/office/powerpoint/2010/main" val="14964492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6</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81192" y="1995769"/>
                <a:ext cx="11029615" cy="1153831"/>
              </a:xfrm>
            </p:spPr>
            <p:txBody>
              <a:bodyPr>
                <a:normAutofit lnSpcReduction="10000"/>
              </a:bodyPr>
              <a:lstStyle/>
              <a:p>
                <a:r>
                  <a:rPr lang="en-US"/>
                  <a:t>The scores on a placement test given to college freshmen for the past five years are approximately normally distributed with mean </a:t>
                </a:r>
                <a14:m>
                  <m:oMath xmlns:m="http://schemas.openxmlformats.org/officeDocument/2006/math">
                    <m:r>
                      <a:rPr lang="en-US" i="1">
                        <a:latin typeface="Cambria Math" panose="02040503050406030204" pitchFamily="18" charset="0"/>
                      </a:rPr>
                      <m:t>𝜇</m:t>
                    </m:r>
                    <m:r>
                      <a:rPr lang="en-US" i="1">
                        <a:latin typeface="Cambria Math" panose="02040503050406030204" pitchFamily="18" charset="0"/>
                      </a:rPr>
                      <m:t>=74</m:t>
                    </m:r>
                  </m:oMath>
                </a14:m>
                <a:r>
                  <a:rPr lang="en-US"/>
                  <a:t> and variance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i="1">
                            <a:latin typeface="Cambria Math" panose="02040503050406030204" pitchFamily="18" charset="0"/>
                          </a:rPr>
                          <m:t>2</m:t>
                        </m:r>
                      </m:sup>
                    </m:sSup>
                    <m:r>
                      <a:rPr lang="en-US" i="1">
                        <a:latin typeface="Cambria Math" panose="02040503050406030204" pitchFamily="18" charset="0"/>
                      </a:rPr>
                      <m:t>=8</m:t>
                    </m:r>
                  </m:oMath>
                </a14:m>
                <a:r>
                  <a:rPr lang="en-US"/>
                  <a:t>. Would you still consider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𝜎</m:t>
                        </m:r>
                      </m:e>
                      <m:sup>
                        <m:r>
                          <a:rPr lang="en-US" i="1">
                            <a:latin typeface="Cambria Math" panose="02040503050406030204" pitchFamily="18" charset="0"/>
                          </a:rPr>
                          <m:t>2</m:t>
                        </m:r>
                      </m:sup>
                    </m:sSup>
                    <m:r>
                      <a:rPr lang="en-US" i="1">
                        <a:latin typeface="Cambria Math" panose="02040503050406030204" pitchFamily="18" charset="0"/>
                      </a:rPr>
                      <m:t>=8</m:t>
                    </m:r>
                  </m:oMath>
                </a14:m>
                <a:r>
                  <a:rPr lang="en-US"/>
                  <a:t> to be a valid value for the variance if a random sample of 20 students who take the placement test this year obtain a value of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2</m:t>
                        </m:r>
                      </m:sup>
                    </m:sSup>
                    <m:r>
                      <a:rPr lang="en-US" i="1">
                        <a:latin typeface="Cambria Math" panose="02040503050406030204" pitchFamily="18" charset="0"/>
                      </a:rPr>
                      <m:t>=</m:t>
                    </m:r>
                    <m:r>
                      <a:rPr lang="en-US" b="0" i="1" smtClean="0">
                        <a:latin typeface="Cambria Math" panose="02040503050406030204" pitchFamily="18" charset="0"/>
                      </a:rPr>
                      <m:t>1</m:t>
                    </m:r>
                    <m:r>
                      <a:rPr lang="en-US" b="0" i="0" smtClean="0">
                        <a:latin typeface="Cambria Math" panose="02040503050406030204" pitchFamily="18" charset="0"/>
                      </a:rPr>
                      <m:t>0</m:t>
                    </m:r>
                  </m:oMath>
                </a14:m>
                <a:r>
                  <a:rPr lang="en-US"/>
                  <a:t>? How about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2</m:t>
                        </m:r>
                      </m:sup>
                    </m:sSup>
                    <m:r>
                      <a:rPr lang="en-US" b="0" i="1" smtClean="0">
                        <a:latin typeface="Cambria Math" panose="02040503050406030204" pitchFamily="18" charset="0"/>
                      </a:rPr>
                      <m:t>=20?</m:t>
                    </m:r>
                  </m:oMath>
                </a14:m>
                <a:r>
                  <a:rPr lang="en-US"/>
                  <a:t> Note, the top 5% of variance values are invalid.</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81192" y="1995769"/>
                <a:ext cx="11029615" cy="1153831"/>
              </a:xfrm>
              <a:blipFill>
                <a:blip r:embed="rId2"/>
                <a:stretch>
                  <a:fillRect l="-331" t="-1579" b="-5263"/>
                </a:stretch>
              </a:blipFill>
            </p:spPr>
            <p:txBody>
              <a:bodyPr/>
              <a:lstStyle/>
              <a:p>
                <a:r>
                  <a:rPr lang="en-US">
                    <a:noFill/>
                  </a:rPr>
                  <a:t> </a:t>
                </a:r>
              </a:p>
            </p:txBody>
          </p:sp>
        </mc:Fallback>
      </mc:AlternateContent>
    </p:spTree>
    <p:extLst>
      <p:ext uri="{BB962C8B-B14F-4D97-AF65-F5344CB8AC3E}">
        <p14:creationId xmlns:p14="http://schemas.microsoft.com/office/powerpoint/2010/main" val="35096610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Technology</a:t>
            </a:r>
          </a:p>
        </p:txBody>
      </p:sp>
      <p:pic>
        <p:nvPicPr>
          <p:cNvPr id="4" name="Picture 3"/>
          <p:cNvPicPr>
            <a:picLocks noChangeAspect="1"/>
          </p:cNvPicPr>
          <p:nvPr/>
        </p:nvPicPr>
        <p:blipFill>
          <a:blip r:embed="rId2"/>
          <a:stretch>
            <a:fillRect/>
          </a:stretch>
        </p:blipFill>
        <p:spPr>
          <a:xfrm>
            <a:off x="6027911" y="2115127"/>
            <a:ext cx="5745020" cy="3986068"/>
          </a:xfrm>
          <a:prstGeom prst="rect">
            <a:avLst/>
          </a:prstGeom>
        </p:spPr>
      </p:pic>
      <p:pic>
        <p:nvPicPr>
          <p:cNvPr id="5" name="Picture 4"/>
          <p:cNvPicPr>
            <a:picLocks noChangeAspect="1"/>
          </p:cNvPicPr>
          <p:nvPr/>
        </p:nvPicPr>
        <p:blipFill>
          <a:blip r:embed="rId3"/>
          <a:stretch>
            <a:fillRect/>
          </a:stretch>
        </p:blipFill>
        <p:spPr>
          <a:xfrm>
            <a:off x="193818" y="2115127"/>
            <a:ext cx="5834093" cy="3986068"/>
          </a:xfrm>
          <a:prstGeom prst="rect">
            <a:avLst/>
          </a:prstGeom>
        </p:spPr>
      </p:pic>
      <p:sp>
        <p:nvSpPr>
          <p:cNvPr id="6" name="Cloud 5"/>
          <p:cNvSpPr/>
          <p:nvPr/>
        </p:nvSpPr>
        <p:spPr>
          <a:xfrm>
            <a:off x="1690255" y="3288145"/>
            <a:ext cx="1182254" cy="581891"/>
          </a:xfrm>
          <a:prstGeom prst="cloud">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760616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950316" y="725343"/>
            <a:ext cx="8625320" cy="5183586"/>
          </a:xfrm>
          <a:prstGeom prst="rect">
            <a:avLst/>
          </a:prstGeom>
        </p:spPr>
      </p:pic>
      <p:sp>
        <p:nvSpPr>
          <p:cNvPr id="3" name="Rectangle 2"/>
          <p:cNvSpPr/>
          <p:nvPr/>
        </p:nvSpPr>
        <p:spPr>
          <a:xfrm>
            <a:off x="5652656" y="1385455"/>
            <a:ext cx="738909" cy="452347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2096655" y="5680364"/>
            <a:ext cx="8257309" cy="22856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loud 4"/>
          <p:cNvSpPr/>
          <p:nvPr/>
        </p:nvSpPr>
        <p:spPr>
          <a:xfrm>
            <a:off x="5347855" y="5458691"/>
            <a:ext cx="1339272" cy="803564"/>
          </a:xfrm>
          <a:prstGeom prst="cloud">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47001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In-class</a:t>
            </a:r>
          </a:p>
        </p:txBody>
      </p:sp>
      <p:sp>
        <p:nvSpPr>
          <p:cNvPr id="3" name="Content Placeholder 2"/>
          <p:cNvSpPr>
            <a:spLocks noGrp="1"/>
          </p:cNvSpPr>
          <p:nvPr>
            <p:ph idx="1"/>
          </p:nvPr>
        </p:nvSpPr>
        <p:spPr>
          <a:xfrm>
            <a:off x="581193" y="2005006"/>
            <a:ext cx="11029615" cy="1477104"/>
          </a:xfrm>
        </p:spPr>
        <p:txBody>
          <a:bodyPr/>
          <a:lstStyle/>
          <a:p>
            <a:r>
              <a:rPr lang="en-US"/>
              <a:t>The time (in hours) that a technician requires to perform preventive maintenance on an air-conditioning unit is governed by the exponential distribution with mean 1 hour. Your company has a contract to maintain 70 of these units in an apartment building. You must schedule technicians’ time for a visit to this building. Is it safe to budget an average of 1.1 hour for each unit? Or should you budget an average of 1.25 hours?</a:t>
            </a:r>
          </a:p>
        </p:txBody>
      </p:sp>
    </p:spTree>
    <p:extLst>
      <p:ext uri="{BB962C8B-B14F-4D97-AF65-F5344CB8AC3E}">
        <p14:creationId xmlns:p14="http://schemas.microsoft.com/office/powerpoint/2010/main" val="26154433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 – distribution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a:lnSpc>
                    <a:spcPct val="150000"/>
                  </a:lnSpc>
                  <a:spcBef>
                    <a:spcPts val="0"/>
                  </a:spcBef>
                  <a:spcAft>
                    <a:spcPts val="0"/>
                  </a:spcAft>
                </a:pPr>
                <a:r>
                  <a:rPr lang="en-US" sz="2000"/>
                  <a:t>Previously, we discussed the uses for the Central Limit Theorem.</a:t>
                </a:r>
              </a:p>
              <a:p>
                <a:pPr lvl="1">
                  <a:lnSpc>
                    <a:spcPct val="150000"/>
                  </a:lnSpc>
                  <a:spcBef>
                    <a:spcPts val="0"/>
                  </a:spcBef>
                  <a:spcAft>
                    <a:spcPts val="0"/>
                  </a:spcAft>
                </a:pPr>
                <a:r>
                  <a:rPr lang="en-US" sz="1800"/>
                  <a:t>IMPORTANT: Assumed the population standard deviation, </a:t>
                </a:r>
                <a14:m>
                  <m:oMath xmlns:m="http://schemas.openxmlformats.org/officeDocument/2006/math">
                    <m:r>
                      <a:rPr lang="en-US" sz="1800" b="0" i="1" smtClean="0">
                        <a:latin typeface="Cambria Math" panose="02040503050406030204" pitchFamily="18" charset="0"/>
                      </a:rPr>
                      <m:t>𝜎</m:t>
                    </m:r>
                  </m:oMath>
                </a14:m>
                <a:r>
                  <a:rPr lang="en-US" sz="1800"/>
                  <a:t>, was known.</a:t>
                </a:r>
              </a:p>
              <a:p>
                <a:pPr lvl="1">
                  <a:lnSpc>
                    <a:spcPct val="150000"/>
                  </a:lnSpc>
                  <a:spcBef>
                    <a:spcPts val="0"/>
                  </a:spcBef>
                  <a:spcAft>
                    <a:spcPts val="0"/>
                  </a:spcAft>
                </a:pPr>
                <a:endParaRPr lang="en-US" sz="1800"/>
              </a:p>
              <a:p>
                <a:pPr>
                  <a:lnSpc>
                    <a:spcPct val="150000"/>
                  </a:lnSpc>
                  <a:spcBef>
                    <a:spcPts val="0"/>
                  </a:spcBef>
                  <a:spcAft>
                    <a:spcPts val="0"/>
                  </a:spcAft>
                </a:pPr>
                <a:r>
                  <a:rPr lang="en-US" sz="2000"/>
                  <a:t>This assumption is often unreasonable.</a:t>
                </a:r>
              </a:p>
              <a:p>
                <a:pPr>
                  <a:lnSpc>
                    <a:spcPct val="150000"/>
                  </a:lnSpc>
                  <a:spcBef>
                    <a:spcPts val="0"/>
                  </a:spcBef>
                  <a:spcAft>
                    <a:spcPts val="0"/>
                  </a:spcAft>
                </a:pPr>
                <a:r>
                  <a:rPr lang="en-US" sz="2000"/>
                  <a:t>We must estimate </a:t>
                </a:r>
                <a14:m>
                  <m:oMath xmlns:m="http://schemas.openxmlformats.org/officeDocument/2006/math">
                    <m:r>
                      <a:rPr lang="en-US" sz="2000" b="0" i="1" smtClean="0">
                        <a:latin typeface="Cambria Math" panose="02040503050406030204" pitchFamily="18" charset="0"/>
                      </a:rPr>
                      <m:t>𝜎</m:t>
                    </m:r>
                  </m:oMath>
                </a14:m>
                <a:r>
                  <a:rPr lang="en-US" sz="2000"/>
                  <a:t> from the same sample that produces the mean estimate, </a:t>
                </a:r>
                <a14:m>
                  <m:oMath xmlns:m="http://schemas.openxmlformats.org/officeDocument/2006/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𝑥</m:t>
                        </m:r>
                      </m:e>
                    </m:acc>
                  </m:oMath>
                </a14:m>
                <a:r>
                  <a:rPr lang="en-US" sz="200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442"/>
                </a:stretch>
              </a:blipFill>
            </p:spPr>
            <p:txBody>
              <a:bodyPr/>
              <a:lstStyle/>
              <a:p>
                <a:r>
                  <a:rPr lang="en-US">
                    <a:noFill/>
                  </a:rPr>
                  <a:t> </a:t>
                </a:r>
              </a:p>
            </p:txBody>
          </p:sp>
        </mc:Fallback>
      </mc:AlternateContent>
    </p:spTree>
    <p:extLst>
      <p:ext uri="{BB962C8B-B14F-4D97-AF65-F5344CB8AC3E}">
        <p14:creationId xmlns:p14="http://schemas.microsoft.com/office/powerpoint/2010/main" val="15833388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 – Distribution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81192" y="1634836"/>
                <a:ext cx="11029615" cy="5310909"/>
              </a:xfrm>
            </p:spPr>
            <p:txBody>
              <a:bodyPr>
                <a:normAutofit/>
              </a:bodyPr>
              <a:lstStyle/>
              <a:p>
                <a:r>
                  <a:rPr lang="en-US" sz="2000"/>
                  <a:t>Recall… </a:t>
                </a:r>
                <a14:m>
                  <m:oMath xmlns:m="http://schemas.openxmlformats.org/officeDocument/2006/math">
                    <m:r>
                      <a:rPr lang="en-US" sz="2000" b="0" i="1" smtClean="0">
                        <a:latin typeface="Cambria Math" panose="02040503050406030204" pitchFamily="18" charset="0"/>
                      </a:rPr>
                      <m:t>𝑍</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𝑋</m:t>
                            </m:r>
                          </m:e>
                        </m:acc>
                        <m:r>
                          <a:rPr lang="en-US" sz="2000" b="0" i="1" dirty="0" smtClean="0">
                            <a:latin typeface="Cambria Math" panose="02040503050406030204" pitchFamily="18" charset="0"/>
                          </a:rPr>
                          <m:t>−</m:t>
                        </m:r>
                        <m:r>
                          <a:rPr lang="en-US" sz="2000" b="0" i="1" dirty="0" smtClean="0">
                            <a:latin typeface="Cambria Math" panose="02040503050406030204" pitchFamily="18" charset="0"/>
                          </a:rPr>
                          <m:t>𝜇</m:t>
                        </m:r>
                      </m:num>
                      <m:den>
                        <m:r>
                          <a:rPr lang="en-US" sz="2000" b="0" i="1" smtClean="0">
                            <a:latin typeface="Cambria Math" panose="02040503050406030204" pitchFamily="18" charset="0"/>
                          </a:rPr>
                          <m:t>𝜎</m:t>
                        </m:r>
                        <m:r>
                          <a:rPr lang="en-US" sz="2000" b="0" i="1" smtClean="0">
                            <a:latin typeface="Cambria Math" panose="02040503050406030204" pitchFamily="18" charset="0"/>
                          </a:rPr>
                          <m:t>/</m:t>
                        </m:r>
                        <m:rad>
                          <m:radPr>
                            <m:degHide m:val="on"/>
                            <m:ctrlPr>
                              <a:rPr lang="en-US" sz="2000" b="0" i="1" smtClean="0">
                                <a:latin typeface="Cambria Math" panose="02040503050406030204" pitchFamily="18" charset="0"/>
                              </a:rPr>
                            </m:ctrlPr>
                          </m:radPr>
                          <m:deg/>
                          <m:e>
                            <m:r>
                              <a:rPr lang="en-US" sz="2000" b="0" i="1" smtClean="0">
                                <a:latin typeface="Cambria Math" panose="02040503050406030204" pitchFamily="18" charset="0"/>
                              </a:rPr>
                              <m:t>𝑛</m:t>
                            </m:r>
                          </m:e>
                        </m:rad>
                      </m:den>
                    </m:f>
                  </m:oMath>
                </a14:m>
                <a:endParaRPr lang="en-US" sz="2000"/>
              </a:p>
              <a:p>
                <a:r>
                  <a:rPr lang="en-US" sz="2000"/>
                  <a:t>What happens if we don’t know </a:t>
                </a:r>
                <a14:m>
                  <m:oMath xmlns:m="http://schemas.openxmlformats.org/officeDocument/2006/math">
                    <m:r>
                      <a:rPr lang="en-US" sz="2000" b="0" i="1" smtClean="0">
                        <a:latin typeface="Cambria Math" panose="02040503050406030204" pitchFamily="18" charset="0"/>
                      </a:rPr>
                      <m:t>𝜎</m:t>
                    </m:r>
                    <m:r>
                      <a:rPr lang="en-US" sz="2000" b="0" i="1" smtClean="0">
                        <a:latin typeface="Cambria Math" panose="02040503050406030204" pitchFamily="18" charset="0"/>
                      </a:rPr>
                      <m:t>?</m:t>
                    </m:r>
                  </m:oMath>
                </a14:m>
                <a:r>
                  <a:rPr lang="en-US" sz="2000"/>
                  <a:t> Estimate it!</a:t>
                </a:r>
              </a:p>
              <a:p>
                <a:pPr marL="0" indent="0" algn="ctr">
                  <a:buNone/>
                </a:pPr>
                <a14:m>
                  <m:oMath xmlns:m="http://schemas.openxmlformats.org/officeDocument/2006/math">
                    <m:r>
                      <a:rPr lang="en-US" sz="2000" b="0" i="1" smtClean="0">
                        <a:latin typeface="Cambria Math" panose="02040503050406030204" pitchFamily="18" charset="0"/>
                      </a:rPr>
                      <m:t>𝑇</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𝑋</m:t>
                            </m:r>
                          </m:e>
                        </m:acc>
                        <m:r>
                          <a:rPr lang="en-US" sz="2000" b="0" i="1" dirty="0" smtClean="0">
                            <a:latin typeface="Cambria Math" panose="02040503050406030204" pitchFamily="18" charset="0"/>
                          </a:rPr>
                          <m:t>−</m:t>
                        </m:r>
                        <m:r>
                          <a:rPr lang="en-US" sz="2000" b="0" i="1" dirty="0" smtClean="0">
                            <a:latin typeface="Cambria Math" panose="02040503050406030204" pitchFamily="18" charset="0"/>
                          </a:rPr>
                          <m:t>𝜇</m:t>
                        </m:r>
                      </m:num>
                      <m:den>
                        <m:r>
                          <a:rPr lang="en-US" sz="2000" b="0" i="1" smtClean="0">
                            <a:latin typeface="Cambria Math" panose="02040503050406030204" pitchFamily="18" charset="0"/>
                          </a:rPr>
                          <m:t>𝑠</m:t>
                        </m:r>
                        <m:r>
                          <a:rPr lang="en-US" sz="2000" b="0" i="1" smtClean="0">
                            <a:latin typeface="Cambria Math" panose="02040503050406030204" pitchFamily="18" charset="0"/>
                          </a:rPr>
                          <m:t>/</m:t>
                        </m:r>
                        <m:rad>
                          <m:radPr>
                            <m:degHide m:val="on"/>
                            <m:ctrlPr>
                              <a:rPr lang="en-US" sz="2000" b="0" i="1" smtClean="0">
                                <a:latin typeface="Cambria Math" panose="02040503050406030204" pitchFamily="18" charset="0"/>
                              </a:rPr>
                            </m:ctrlPr>
                          </m:radPr>
                          <m:deg/>
                          <m:e>
                            <m:r>
                              <a:rPr lang="en-US" sz="2000" b="0" i="1" smtClean="0">
                                <a:latin typeface="Cambria Math" panose="02040503050406030204" pitchFamily="18" charset="0"/>
                              </a:rPr>
                              <m:t>𝑛</m:t>
                            </m:r>
                          </m:e>
                        </m:rad>
                      </m:den>
                    </m:f>
                  </m:oMath>
                </a14:m>
                <a:r>
                  <a:rPr lang="en-US" sz="2000"/>
                  <a:t> </a:t>
                </a:r>
              </a:p>
              <a:p>
                <a:r>
                  <a:rPr lang="en-US" sz="2000"/>
                  <a:t>Consider two independent random variables:</a:t>
                </a:r>
              </a:p>
              <a:p>
                <a:pPr lvl="1"/>
                <a14:m>
                  <m:oMath xmlns:m="http://schemas.openxmlformats.org/officeDocument/2006/math">
                    <m:r>
                      <a:rPr lang="en-US" sz="1800" b="0" i="1" smtClean="0">
                        <a:latin typeface="Cambria Math" panose="02040503050406030204" pitchFamily="18" charset="0"/>
                      </a:rPr>
                      <m:t>𝑍</m:t>
                    </m:r>
                    <m:r>
                      <a:rPr lang="en-US" sz="1800" b="0" i="1" smtClean="0">
                        <a:latin typeface="Cambria Math" panose="02040503050406030204" pitchFamily="18" charset="0"/>
                      </a:rPr>
                      <m:t>~</m:t>
                    </m:r>
                    <m:r>
                      <a:rPr lang="en-US" sz="1800" b="0" i="1" smtClean="0">
                        <a:latin typeface="Cambria Math" panose="02040503050406030204" pitchFamily="18" charset="0"/>
                      </a:rPr>
                      <m:t>𝑁</m:t>
                    </m:r>
                    <m:r>
                      <a:rPr lang="en-US" sz="1800" b="0" i="1" smtClean="0">
                        <a:latin typeface="Cambria Math" panose="02040503050406030204" pitchFamily="18" charset="0"/>
                      </a:rPr>
                      <m:t>(0,1)</m:t>
                    </m:r>
                  </m:oMath>
                </a14:m>
                <a:endParaRPr lang="en-US" sz="1800"/>
              </a:p>
              <a:p>
                <a:pPr lvl="1"/>
                <a14:m>
                  <m:oMath xmlns:m="http://schemas.openxmlformats.org/officeDocument/2006/math">
                    <m:r>
                      <a:rPr lang="en-US" sz="1800" b="0" i="1" smtClean="0">
                        <a:latin typeface="Cambria Math" panose="02040503050406030204" pitchFamily="18" charset="0"/>
                      </a:rPr>
                      <m:t>𝑌</m:t>
                    </m:r>
                    <m:r>
                      <a:rPr lang="en-US" sz="1800" b="0" i="1" smtClean="0">
                        <a:latin typeface="Cambria Math" panose="02040503050406030204" pitchFamily="18" charset="0"/>
                      </a:rPr>
                      <m:t>~</m:t>
                    </m:r>
                    <m:sSubSup>
                      <m:sSubSupPr>
                        <m:ctrlPr>
                          <a:rPr lang="en-US" sz="1800" b="0" i="1" smtClean="0">
                            <a:latin typeface="Cambria Math" panose="02040503050406030204" pitchFamily="18" charset="0"/>
                          </a:rPr>
                        </m:ctrlPr>
                      </m:sSubSupPr>
                      <m:e>
                        <m:r>
                          <a:rPr lang="en-US" sz="1800" b="0" i="1" smtClean="0">
                            <a:latin typeface="Cambria Math" panose="02040503050406030204" pitchFamily="18" charset="0"/>
                          </a:rPr>
                          <m:t>𝜒</m:t>
                        </m:r>
                      </m:e>
                      <m:sub>
                        <m:r>
                          <a:rPr lang="en-US" sz="1800" b="0" i="1" smtClean="0">
                            <a:latin typeface="Cambria Math" panose="02040503050406030204" pitchFamily="18" charset="0"/>
                          </a:rPr>
                          <m:t>𝑣</m:t>
                        </m:r>
                      </m:sub>
                      <m:sup>
                        <m:r>
                          <a:rPr lang="en-US" sz="1800" b="0" i="1" smtClean="0">
                            <a:latin typeface="Cambria Math" panose="02040503050406030204" pitchFamily="18" charset="0"/>
                          </a:rPr>
                          <m:t>2</m:t>
                        </m:r>
                      </m:sup>
                    </m:sSubSup>
                  </m:oMath>
                </a14:m>
                <a:endParaRPr lang="en-US" sz="1800"/>
              </a:p>
              <a:p>
                <a:r>
                  <a:rPr lang="en-US" sz="2000"/>
                  <a:t>Then</a:t>
                </a:r>
              </a:p>
              <a:p>
                <a:pPr marL="324000" lvl="1" indent="0" algn="ctr">
                  <a:buNone/>
                </a:pPr>
                <a14:m>
                  <m:oMath xmlns:m="http://schemas.openxmlformats.org/officeDocument/2006/math">
                    <m:r>
                      <a:rPr lang="en-US" sz="1800" b="0" i="1" smtClean="0">
                        <a:latin typeface="Cambria Math" panose="02040503050406030204" pitchFamily="18" charset="0"/>
                      </a:rPr>
                      <m:t>𝑇</m:t>
                    </m:r>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𝑍</m:t>
                        </m:r>
                      </m:num>
                      <m:den>
                        <m:rad>
                          <m:radPr>
                            <m:degHide m:val="on"/>
                            <m:ctrlPr>
                              <a:rPr lang="en-US" sz="1800" b="0" i="1" smtClean="0">
                                <a:latin typeface="Cambria Math" panose="02040503050406030204" pitchFamily="18" charset="0"/>
                              </a:rPr>
                            </m:ctrlPr>
                          </m:radPr>
                          <m:deg/>
                          <m:e>
                            <m:r>
                              <a:rPr lang="en-US" sz="1800" b="0" i="1" smtClean="0">
                                <a:latin typeface="Cambria Math" panose="02040503050406030204" pitchFamily="18" charset="0"/>
                              </a:rPr>
                              <m:t>𝑌</m:t>
                            </m:r>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𝜈</m:t>
                            </m:r>
                          </m:e>
                        </m:rad>
                      </m:den>
                    </m:f>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𝑡</m:t>
                        </m:r>
                      </m:e>
                      <m:sub>
                        <m:r>
                          <a:rPr lang="en-US" sz="1800" b="0" i="1" smtClean="0">
                            <a:latin typeface="Cambria Math" panose="02040503050406030204" pitchFamily="18" charset="0"/>
                            <a:ea typeface="Cambria Math" panose="02040503050406030204" pitchFamily="18" charset="0"/>
                          </a:rPr>
                          <m:t>𝜈</m:t>
                        </m:r>
                      </m:sub>
                    </m:sSub>
                  </m:oMath>
                </a14:m>
                <a:r>
                  <a:rPr lang="en-US"/>
                  <a:t> (t – distribution)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81192" y="1634836"/>
                <a:ext cx="11029615" cy="5310909"/>
              </a:xfrm>
              <a:blipFill>
                <a:blip r:embed="rId2"/>
                <a:stretch>
                  <a:fillRect l="-442"/>
                </a:stretch>
              </a:blipFill>
            </p:spPr>
            <p:txBody>
              <a:bodyPr/>
              <a:lstStyle/>
              <a:p>
                <a:r>
                  <a:rPr lang="en-US">
                    <a:noFill/>
                  </a:rPr>
                  <a:t> </a:t>
                </a:r>
              </a:p>
            </p:txBody>
          </p:sp>
        </mc:Fallback>
      </mc:AlternateContent>
    </p:spTree>
    <p:extLst>
      <p:ext uri="{BB962C8B-B14F-4D97-AF65-F5344CB8AC3E}">
        <p14:creationId xmlns:p14="http://schemas.microsoft.com/office/powerpoint/2010/main" val="17907353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 - distribution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lnSpc>
                    <a:spcPct val="150000"/>
                  </a:lnSpc>
                  <a:spcBef>
                    <a:spcPts val="0"/>
                  </a:spcBef>
                  <a:spcAft>
                    <a:spcPts val="0"/>
                  </a:spcAft>
                </a:pPr>
                <a:r>
                  <a:rPr lang="en-US" sz="2000"/>
                  <a:t>Bell – shaped symmetric around 0.</a:t>
                </a:r>
              </a:p>
              <a:p>
                <a:pPr>
                  <a:lnSpc>
                    <a:spcPct val="150000"/>
                  </a:lnSpc>
                  <a:spcBef>
                    <a:spcPts val="0"/>
                  </a:spcBef>
                  <a:spcAft>
                    <a:spcPts val="0"/>
                  </a:spcAft>
                </a:pPr>
                <a:r>
                  <a:rPr lang="en-US" sz="2000"/>
                  <a:t>Close to the standard normal distribution for large sample </a:t>
                </a:r>
                <a14:m>
                  <m:oMath xmlns:m="http://schemas.openxmlformats.org/officeDocument/2006/math">
                    <m:r>
                      <a:rPr lang="en-US" sz="2000" b="0" i="1" smtClean="0">
                        <a:latin typeface="Cambria Math" panose="02040503050406030204" pitchFamily="18" charset="0"/>
                      </a:rPr>
                      <m:t>(</m:t>
                    </m:r>
                    <m:r>
                      <a:rPr lang="en-US" sz="2000" b="0" i="1" smtClean="0">
                        <a:latin typeface="Cambria Math" panose="02040503050406030204" pitchFamily="18" charset="0"/>
                      </a:rPr>
                      <m:t>𝑛</m:t>
                    </m:r>
                    <m:r>
                      <a:rPr lang="en-US" sz="2000" b="0" i="1" smtClean="0">
                        <a:latin typeface="Cambria Math" panose="02040503050406030204" pitchFamily="18" charset="0"/>
                      </a:rPr>
                      <m:t>&gt;30)</m:t>
                    </m:r>
                  </m:oMath>
                </a14:m>
                <a:endParaRPr lang="en-US" sz="2000"/>
              </a:p>
              <a:p>
                <a:pPr>
                  <a:lnSpc>
                    <a:spcPct val="150000"/>
                  </a:lnSpc>
                  <a:spcBef>
                    <a:spcPts val="0"/>
                  </a:spcBef>
                  <a:spcAft>
                    <a:spcPts val="0"/>
                  </a:spcAft>
                </a:pPr>
                <a:endParaRPr lang="en-US" sz="2000"/>
              </a:p>
              <a:p>
                <a:pPr>
                  <a:lnSpc>
                    <a:spcPct val="150000"/>
                  </a:lnSpc>
                  <a:spcBef>
                    <a:spcPts val="0"/>
                  </a:spcBef>
                  <a:spcAft>
                    <a:spcPts val="0"/>
                  </a:spcAft>
                </a:pPr>
                <a:r>
                  <a:rPr lang="en-US" sz="2000"/>
                  <a:t>To find probabilities about the population mean when the population variance is unknown, standardize the sample mean </a:t>
                </a:r>
                <a14:m>
                  <m:oMath xmlns:m="http://schemas.openxmlformats.org/officeDocument/2006/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𝑋</m:t>
                        </m:r>
                      </m:e>
                    </m:acc>
                  </m:oMath>
                </a14:m>
                <a:r>
                  <a:rPr lang="en-US" sz="2000"/>
                  <a:t> using the t – statistic.</a:t>
                </a:r>
              </a:p>
              <a:p>
                <a:pPr marL="0" indent="0">
                  <a:lnSpc>
                    <a:spcPct val="150000"/>
                  </a:lnSpc>
                  <a:spcBef>
                    <a:spcPts val="0"/>
                  </a:spcBef>
                  <a:spcAft>
                    <a:spcPts val="0"/>
                  </a:spcAft>
                  <a:buNone/>
                </a:pPr>
                <a14:m>
                  <m:oMathPara xmlns:m="http://schemas.openxmlformats.org/officeDocument/2006/math">
                    <m:oMath>
                      <m:r>
                        <a:rPr lang="en-US" sz="2000" b="0" i="1" smtClean="0">
                          <a:latin typeface="Cambria Math" panose="02040503050406030204" pitchFamily="18" charset="0"/>
                        </a:rPr>
                        <m:t>𝑡</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𝑋</m:t>
                              </m:r>
                            </m:e>
                          </m:acc>
                          <m:r>
                            <a:rPr lang="en-US" sz="2000" b="0" i="1" dirty="0" smtClean="0">
                              <a:latin typeface="Cambria Math" panose="02040503050406030204" pitchFamily="18" charset="0"/>
                            </a:rPr>
                            <m:t>−</m:t>
                          </m:r>
                          <m:r>
                            <a:rPr lang="en-US" sz="2000" b="0" i="1" dirty="0" smtClean="0">
                              <a:latin typeface="Cambria Math" panose="02040503050406030204" pitchFamily="18" charset="0"/>
                            </a:rPr>
                            <m:t>𝜇</m:t>
                          </m:r>
                        </m:num>
                        <m:den>
                          <m:r>
                            <a:rPr lang="en-US" sz="2000" b="0" i="1" smtClean="0">
                              <a:latin typeface="Cambria Math" panose="02040503050406030204" pitchFamily="18" charset="0"/>
                            </a:rPr>
                            <m:t>𝑠</m:t>
                          </m:r>
                          <m:r>
                            <a:rPr lang="en-US" sz="2000" b="0" i="1" smtClean="0">
                              <a:latin typeface="Cambria Math" panose="02040503050406030204" pitchFamily="18" charset="0"/>
                            </a:rPr>
                            <m:t>/</m:t>
                          </m:r>
                          <m:rad>
                            <m:radPr>
                              <m:degHide m:val="on"/>
                              <m:ctrlPr>
                                <a:rPr lang="en-US" sz="2000" b="0" i="1" smtClean="0">
                                  <a:latin typeface="Cambria Math" panose="02040503050406030204" pitchFamily="18" charset="0"/>
                                </a:rPr>
                              </m:ctrlPr>
                            </m:radPr>
                            <m:deg/>
                            <m:e>
                              <m:r>
                                <a:rPr lang="en-US" sz="2000" b="0" i="1" smtClean="0">
                                  <a:latin typeface="Cambria Math" panose="02040503050406030204" pitchFamily="18" charset="0"/>
                                </a:rPr>
                                <m:t>𝑛</m:t>
                              </m:r>
                            </m:e>
                          </m:rad>
                        </m:den>
                      </m:f>
                    </m:oMath>
                  </m:oMathPara>
                </a14:m>
                <a:endParaRPr lang="en-US"/>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442"/>
                </a:stretch>
              </a:blipFill>
            </p:spPr>
            <p:txBody>
              <a:bodyPr/>
              <a:lstStyle/>
              <a:p>
                <a:r>
                  <a:rPr lang="en-US">
                    <a:noFill/>
                  </a:rPr>
                  <a:t> </a:t>
                </a:r>
              </a:p>
            </p:txBody>
          </p:sp>
        </mc:Fallback>
      </mc:AlternateContent>
    </p:spTree>
    <p:extLst>
      <p:ext uri="{BB962C8B-B14F-4D97-AF65-F5344CB8AC3E}">
        <p14:creationId xmlns:p14="http://schemas.microsoft.com/office/powerpoint/2010/main" val="174574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283645" y="666038"/>
            <a:ext cx="9593290" cy="6085743"/>
          </a:xfrm>
          <a:prstGeom prst="rect">
            <a:avLst/>
          </a:prstGeom>
        </p:spPr>
      </p:pic>
    </p:spTree>
    <p:extLst>
      <p:ext uri="{BB962C8B-B14F-4D97-AF65-F5344CB8AC3E}">
        <p14:creationId xmlns:p14="http://schemas.microsoft.com/office/powerpoint/2010/main" val="10306844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241841" y="587146"/>
            <a:ext cx="7908924" cy="5604176"/>
          </a:xfrm>
          <a:prstGeom prst="rect">
            <a:avLst/>
          </a:prstGeom>
        </p:spPr>
      </p:pic>
      <mc:AlternateContent xmlns:mc="http://schemas.openxmlformats.org/markup-compatibility/2006" xmlns:a14="http://schemas.microsoft.com/office/drawing/2010/main">
        <mc:Choice Requires="a14">
          <p:sp>
            <p:nvSpPr>
              <p:cNvPr id="3" name="Content Placeholder 2"/>
              <p:cNvSpPr txBox="1">
                <a:spLocks/>
              </p:cNvSpPr>
              <p:nvPr/>
            </p:nvSpPr>
            <p:spPr>
              <a:xfrm>
                <a:off x="681495" y="730387"/>
                <a:ext cx="11029615" cy="1061465"/>
              </a:xfrm>
              <a:prstGeom prst="rect">
                <a:avLst/>
              </a:prstGeom>
            </p:spPr>
            <p:txBody>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fr-FR"/>
                  <a:t>Gives positive critical values, </a:t>
                </a:r>
                <a14:m>
                  <m:oMath xmlns:m="http://schemas.openxmlformats.org/officeDocument/2006/math">
                    <m:r>
                      <a:rPr lang="en-US" b="0" i="1" smtClean="0">
                        <a:latin typeface="Cambria Math" panose="02040503050406030204" pitchFamily="18" charset="0"/>
                      </a:rPr>
                      <m:t>𝑡</m:t>
                    </m:r>
                  </m:oMath>
                </a14:m>
                <a:r>
                  <a:rPr lang="fr-FR"/>
                  <a:t>, </a:t>
                </a:r>
                <a:r>
                  <a:rPr lang="fr-FR" err="1"/>
                  <a:t>such</a:t>
                </a:r>
                <a:r>
                  <a:rPr lang="fr-FR"/>
                  <a:t> that </a:t>
                </a: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𝑇</m:t>
                        </m:r>
                        <m:r>
                          <a:rPr lang="en-US" b="0" i="1" smtClean="0">
                            <a:latin typeface="Cambria Math" panose="02040503050406030204" pitchFamily="18" charset="0"/>
                          </a:rPr>
                          <m:t>&gt;</m:t>
                        </m:r>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𝛼</m:t>
                    </m:r>
                  </m:oMath>
                </a14:m>
                <a:endParaRPr lang="fr-FR"/>
              </a:p>
              <a:p>
                <a:r>
                  <a:rPr lang="fr-FR"/>
                  <a:t>Note that </a:t>
                </a:r>
                <a14:m>
                  <m:oMath xmlns:m="http://schemas.openxmlformats.org/officeDocument/2006/math">
                    <m:r>
                      <a:rPr lang="fr-FR" i="1" dirty="0" smtClean="0">
                        <a:latin typeface="Cambria Math" panose="02040503050406030204" pitchFamily="18" charset="0"/>
                      </a:rPr>
                      <m:t>𝑃</m:t>
                    </m:r>
                    <m:r>
                      <a:rPr lang="fr-FR" i="1" dirty="0" smtClean="0">
                        <a:latin typeface="Cambria Math" panose="02040503050406030204" pitchFamily="18" charset="0"/>
                      </a:rPr>
                      <m:t>(</m:t>
                    </m:r>
                    <m:r>
                      <a:rPr lang="fr-FR" i="1" dirty="0" smtClean="0">
                        <a:latin typeface="Cambria Math" panose="02040503050406030204" pitchFamily="18" charset="0"/>
                      </a:rPr>
                      <m:t>𝑇</m:t>
                    </m:r>
                    <m:r>
                      <a:rPr lang="fr-FR" i="1" dirty="0" smtClean="0">
                        <a:latin typeface="Cambria Math" panose="02040503050406030204" pitchFamily="18" charset="0"/>
                      </a:rPr>
                      <m:t> &gt; </m:t>
                    </m:r>
                    <m:r>
                      <a:rPr lang="fr-FR" i="1" dirty="0" smtClean="0">
                        <a:latin typeface="Cambria Math" panose="02040503050406030204" pitchFamily="18" charset="0"/>
                      </a:rPr>
                      <m:t>𝑡</m:t>
                    </m:r>
                    <m:r>
                      <a:rPr lang="fr-FR" i="1" dirty="0" smtClean="0">
                        <a:latin typeface="Cambria Math" panose="02040503050406030204" pitchFamily="18" charset="0"/>
                      </a:rPr>
                      <m:t>) = </m:t>
                    </m:r>
                    <m:r>
                      <a:rPr lang="fr-FR" i="1" dirty="0" smtClean="0">
                        <a:latin typeface="Cambria Math" panose="02040503050406030204" pitchFamily="18" charset="0"/>
                      </a:rPr>
                      <m:t>𝑃</m:t>
                    </m:r>
                    <m:r>
                      <a:rPr lang="fr-FR" i="1" dirty="0" smtClean="0">
                        <a:latin typeface="Cambria Math" panose="02040503050406030204" pitchFamily="18" charset="0"/>
                      </a:rPr>
                      <m:t>(</m:t>
                    </m:r>
                    <m:r>
                      <a:rPr lang="fr-FR" i="1" dirty="0" smtClean="0">
                        <a:latin typeface="Cambria Math" panose="02040503050406030204" pitchFamily="18" charset="0"/>
                      </a:rPr>
                      <m:t>𝑇</m:t>
                    </m:r>
                    <m:r>
                      <a:rPr lang="fr-FR" i="1" dirty="0" smtClean="0">
                        <a:latin typeface="Cambria Math" panose="02040503050406030204" pitchFamily="18" charset="0"/>
                      </a:rPr>
                      <m:t> &lt;−</m:t>
                    </m:r>
                    <m:r>
                      <a:rPr lang="fr-FR" i="1" dirty="0" smtClean="0">
                        <a:latin typeface="Cambria Math" panose="02040503050406030204" pitchFamily="18" charset="0"/>
                      </a:rPr>
                      <m:t>𝑡</m:t>
                    </m:r>
                    <m:r>
                      <a:rPr lang="fr-FR" i="1" dirty="0" smtClean="0">
                        <a:latin typeface="Cambria Math" panose="02040503050406030204" pitchFamily="18" charset="0"/>
                      </a:rPr>
                      <m:t>)</m:t>
                    </m:r>
                  </m:oMath>
                </a14:m>
                <a:endParaRPr lang="en-US"/>
              </a:p>
            </p:txBody>
          </p:sp>
        </mc:Choice>
        <mc:Fallback xmlns="">
          <p:sp>
            <p:nvSpPr>
              <p:cNvPr id="3" name="Content Placeholder 2"/>
              <p:cNvSpPr txBox="1">
                <a:spLocks noRot="1" noChangeAspect="1" noMove="1" noResize="1" noEditPoints="1" noAdjustHandles="1" noChangeArrowheads="1" noChangeShapeType="1" noTextEdit="1"/>
              </p:cNvSpPr>
              <p:nvPr/>
            </p:nvSpPr>
            <p:spPr>
              <a:xfrm>
                <a:off x="681495" y="730387"/>
                <a:ext cx="11029615" cy="1061465"/>
              </a:xfrm>
              <a:prstGeom prst="rect">
                <a:avLst/>
              </a:prstGeom>
              <a:blipFill>
                <a:blip r:embed="rId3"/>
                <a:stretch>
                  <a:fillRect l="-387" t="-3448"/>
                </a:stretch>
              </a:blipFill>
            </p:spPr>
            <p:txBody>
              <a:bodyPr/>
              <a:lstStyle/>
              <a:p>
                <a:r>
                  <a:rPr lang="en-US">
                    <a:noFill/>
                  </a:rPr>
                  <a:t> </a:t>
                </a:r>
              </a:p>
            </p:txBody>
          </p:sp>
        </mc:Fallback>
      </mc:AlternateContent>
      <p:cxnSp>
        <p:nvCxnSpPr>
          <p:cNvPr id="4" name="Curved Connector 3"/>
          <p:cNvCxnSpPr/>
          <p:nvPr/>
        </p:nvCxnSpPr>
        <p:spPr>
          <a:xfrm rot="10800000" flipV="1">
            <a:off x="9836728" y="1791853"/>
            <a:ext cx="628073" cy="581891"/>
          </a:xfrm>
          <a:prstGeom prst="curvedConnector3">
            <a:avLst/>
          </a:prstGeom>
          <a:ln w="19050">
            <a:tailEnd type="triangle"/>
          </a:ln>
        </p:spPr>
        <p:style>
          <a:lnRef idx="1">
            <a:schemeClr val="dk1"/>
          </a:lnRef>
          <a:fillRef idx="0">
            <a:schemeClr val="dk1"/>
          </a:fillRef>
          <a:effectRef idx="0">
            <a:schemeClr val="dk1"/>
          </a:effectRef>
          <a:fontRef idx="minor">
            <a:schemeClr val="tx1"/>
          </a:fontRef>
        </p:style>
      </p:cxnSp>
      <p:sp>
        <p:nvSpPr>
          <p:cNvPr id="5" name="TextBox 4"/>
          <p:cNvSpPr txBox="1"/>
          <p:nvPr/>
        </p:nvSpPr>
        <p:spPr>
          <a:xfrm>
            <a:off x="10464801" y="1427098"/>
            <a:ext cx="1385455" cy="646331"/>
          </a:xfrm>
          <a:prstGeom prst="rect">
            <a:avLst/>
          </a:prstGeom>
          <a:noFill/>
        </p:spPr>
        <p:txBody>
          <a:bodyPr wrap="square" rtlCol="0">
            <a:spAutoFit/>
          </a:bodyPr>
          <a:lstStyle/>
          <a:p>
            <a:r>
              <a:rPr lang="en-US"/>
              <a:t>Find probability</a:t>
            </a:r>
          </a:p>
        </p:txBody>
      </p:sp>
      <p:sp>
        <p:nvSpPr>
          <p:cNvPr id="6" name="TextBox 5"/>
          <p:cNvSpPr txBox="1"/>
          <p:nvPr/>
        </p:nvSpPr>
        <p:spPr>
          <a:xfrm>
            <a:off x="676996" y="3473871"/>
            <a:ext cx="1385455" cy="646331"/>
          </a:xfrm>
          <a:prstGeom prst="rect">
            <a:avLst/>
          </a:prstGeom>
          <a:noFill/>
        </p:spPr>
        <p:txBody>
          <a:bodyPr wrap="square" rtlCol="0">
            <a:spAutoFit/>
          </a:bodyPr>
          <a:lstStyle/>
          <a:p>
            <a:r>
              <a:rPr lang="en-US"/>
              <a:t>Find degrees of freedom</a:t>
            </a:r>
          </a:p>
        </p:txBody>
      </p:sp>
      <p:cxnSp>
        <p:nvCxnSpPr>
          <p:cNvPr id="7" name="Curved Connector 6"/>
          <p:cNvCxnSpPr/>
          <p:nvPr/>
        </p:nvCxnSpPr>
        <p:spPr>
          <a:xfrm>
            <a:off x="1884221" y="3916215"/>
            <a:ext cx="729672" cy="655784"/>
          </a:xfrm>
          <a:prstGeom prst="curvedConnector3">
            <a:avLst/>
          </a:prstGeom>
          <a:ln w="1905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537896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2637" y="619077"/>
            <a:ext cx="5708163" cy="6157120"/>
          </a:xfrm>
          <a:prstGeom prst="rect">
            <a:avLst/>
          </a:prstGeom>
        </p:spPr>
      </p:pic>
    </p:spTree>
    <p:extLst>
      <p:ext uri="{BB962C8B-B14F-4D97-AF65-F5344CB8AC3E}">
        <p14:creationId xmlns:p14="http://schemas.microsoft.com/office/powerpoint/2010/main" val="26397950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7</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lnSpc>
                    <a:spcPct val="150000"/>
                  </a:lnSpc>
                  <a:spcBef>
                    <a:spcPts val="0"/>
                  </a:spcBef>
                  <a:spcAft>
                    <a:spcPts val="0"/>
                  </a:spcAft>
                </a:pPr>
                <a:r>
                  <a:rPr lang="en-US"/>
                  <a:t>Find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0.025</m:t>
                        </m:r>
                      </m:sub>
                    </m:sSub>
                  </m:oMath>
                </a14:m>
                <a:r>
                  <a:rPr lang="en-US"/>
                  <a:t> when </a:t>
                </a:r>
                <a14:m>
                  <m:oMath xmlns:m="http://schemas.openxmlformats.org/officeDocument/2006/math">
                    <m:r>
                      <a:rPr lang="en-US" i="1" smtClean="0">
                        <a:latin typeface="Cambria Math" panose="02040503050406030204" pitchFamily="18" charset="0"/>
                        <a:ea typeface="Cambria Math" panose="02040503050406030204" pitchFamily="18" charset="0"/>
                      </a:rPr>
                      <m:t>𝜈</m:t>
                    </m:r>
                    <m:r>
                      <a:rPr lang="en-US" b="0" i="1" smtClean="0">
                        <a:latin typeface="Cambria Math" panose="02040503050406030204" pitchFamily="18" charset="0"/>
                        <a:ea typeface="Cambria Math" panose="02040503050406030204" pitchFamily="18" charset="0"/>
                      </a:rPr>
                      <m:t>=21</m:t>
                    </m:r>
                  </m:oMath>
                </a14:m>
                <a:r>
                  <a:rPr lang="en-US"/>
                  <a:t>.</a:t>
                </a:r>
              </a:p>
              <a:p>
                <a:pPr marL="0" indent="0">
                  <a:lnSpc>
                    <a:spcPct val="150000"/>
                  </a:lnSpc>
                  <a:spcBef>
                    <a:spcPts val="0"/>
                  </a:spcBef>
                  <a:spcAft>
                    <a:spcPts val="0"/>
                  </a:spcAft>
                  <a:buNone/>
                </a:pPr>
                <a:endParaRPr lang="en-US"/>
              </a:p>
              <a:p>
                <a:pPr>
                  <a:lnSpc>
                    <a:spcPct val="150000"/>
                  </a:lnSpc>
                  <a:spcBef>
                    <a:spcPts val="0"/>
                  </a:spcBef>
                  <a:spcAft>
                    <a:spcPts val="0"/>
                  </a:spcAft>
                </a:pPr>
                <a:r>
                  <a:rPr lang="en-US"/>
                  <a:t>Find </a:t>
                </a:r>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0.10</m:t>
                        </m:r>
                      </m:sub>
                    </m:sSub>
                  </m:oMath>
                </a14:m>
                <a:r>
                  <a:rPr lang="en-US"/>
                  <a:t> when </a:t>
                </a:r>
                <a14:m>
                  <m:oMath xmlns:m="http://schemas.openxmlformats.org/officeDocument/2006/math">
                    <m:r>
                      <a:rPr lang="en-US" i="1" smtClean="0">
                        <a:latin typeface="Cambria Math" panose="02040503050406030204" pitchFamily="18" charset="0"/>
                        <a:ea typeface="Cambria Math" panose="02040503050406030204" pitchFamily="18" charset="0"/>
                      </a:rPr>
                      <m:t>𝜈</m:t>
                    </m:r>
                    <m:r>
                      <a:rPr lang="en-US" b="0" i="1" smtClean="0">
                        <a:latin typeface="Cambria Math" panose="02040503050406030204" pitchFamily="18" charset="0"/>
                        <a:ea typeface="Cambria Math" panose="02040503050406030204" pitchFamily="18" charset="0"/>
                      </a:rPr>
                      <m:t>=14</m:t>
                    </m:r>
                  </m:oMath>
                </a14:m>
                <a:endParaRPr lang="en-US"/>
              </a:p>
              <a:p>
                <a:pPr marL="0" indent="0">
                  <a:lnSpc>
                    <a:spcPct val="150000"/>
                  </a:lnSpc>
                  <a:spcBef>
                    <a:spcPts val="0"/>
                  </a:spcBef>
                  <a:spcAft>
                    <a:spcPts val="0"/>
                  </a:spcAft>
                  <a:buNone/>
                </a:pPr>
                <a:endParaRPr lang="en-US"/>
              </a:p>
              <a:p>
                <a:pPr>
                  <a:lnSpc>
                    <a:spcPct val="150000"/>
                  </a:lnSpc>
                  <a:spcBef>
                    <a:spcPts val="0"/>
                  </a:spcBef>
                  <a:spcAft>
                    <a:spcPts val="0"/>
                  </a:spcAft>
                </a:pPr>
                <a:r>
                  <a:rPr lang="en-US"/>
                  <a:t>Find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𝑇</m:t>
                    </m:r>
                    <m:r>
                      <a:rPr lang="en-US" b="0" i="1" smtClean="0">
                        <a:latin typeface="Cambria Math" panose="02040503050406030204" pitchFamily="18" charset="0"/>
                      </a:rPr>
                      <m:t>&gt;1.943)</m:t>
                    </m:r>
                  </m:oMath>
                </a14:m>
                <a:r>
                  <a:rPr lang="en-US"/>
                  <a:t> when </a:t>
                </a:r>
                <a14:m>
                  <m:oMath xmlns:m="http://schemas.openxmlformats.org/officeDocument/2006/math">
                    <m:r>
                      <a:rPr lang="en-US" i="1" smtClean="0">
                        <a:latin typeface="Cambria Math" panose="02040503050406030204" pitchFamily="18" charset="0"/>
                        <a:ea typeface="Cambria Math" panose="02040503050406030204" pitchFamily="18" charset="0"/>
                      </a:rPr>
                      <m:t>𝜈</m:t>
                    </m:r>
                    <m:r>
                      <a:rPr lang="en-US" b="0" i="1" smtClean="0">
                        <a:latin typeface="Cambria Math" panose="02040503050406030204" pitchFamily="18" charset="0"/>
                        <a:ea typeface="Cambria Math" panose="02040503050406030204" pitchFamily="18" charset="0"/>
                      </a:rPr>
                      <m:t>=6</m:t>
                    </m:r>
                  </m:oMath>
                </a14:m>
                <a:endParaRPr lang="en-US"/>
              </a:p>
              <a:p>
                <a:pPr marL="0" indent="0">
                  <a:lnSpc>
                    <a:spcPct val="150000"/>
                  </a:lnSpc>
                  <a:spcBef>
                    <a:spcPts val="0"/>
                  </a:spcBef>
                  <a:spcAft>
                    <a:spcPts val="0"/>
                  </a:spcAft>
                  <a:buNone/>
                </a:pPr>
                <a:endParaRPr lang="en-US"/>
              </a:p>
              <a:p>
                <a:pPr>
                  <a:lnSpc>
                    <a:spcPct val="150000"/>
                  </a:lnSpc>
                  <a:spcBef>
                    <a:spcPts val="0"/>
                  </a:spcBef>
                  <a:spcAft>
                    <a:spcPts val="0"/>
                  </a:spcAft>
                </a:pPr>
                <a:r>
                  <a:rPr lang="en-US"/>
                  <a:t>Find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 </m:t>
                    </m:r>
                  </m:oMath>
                </a14:m>
                <a:r>
                  <a:rPr lang="en-US"/>
                  <a:t>such that </a:t>
                </a: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−1.44&lt;</m:t>
                        </m:r>
                        <m:r>
                          <a:rPr lang="en-US" b="0" i="1" smtClean="0">
                            <a:latin typeface="Cambria Math" panose="02040503050406030204" pitchFamily="18" charset="0"/>
                          </a:rPr>
                          <m:t>𝑇</m:t>
                        </m:r>
                        <m:r>
                          <a:rPr lang="en-US" b="0" i="1" smtClean="0">
                            <a:latin typeface="Cambria Math" panose="02040503050406030204" pitchFamily="18" charset="0"/>
                          </a:rPr>
                          <m:t>&lt;</m:t>
                        </m:r>
                        <m:r>
                          <a:rPr lang="en-US" b="0" i="1" smtClean="0">
                            <a:latin typeface="Cambria Math" panose="02040503050406030204" pitchFamily="18" charset="0"/>
                          </a:rPr>
                          <m:t>𝑘</m:t>
                        </m:r>
                      </m:e>
                    </m:d>
                    <m:r>
                      <a:rPr lang="en-US" b="0" i="1" smtClean="0">
                        <a:latin typeface="Cambria Math" panose="02040503050406030204" pitchFamily="18" charset="0"/>
                      </a:rPr>
                      <m:t>=0.8</m:t>
                    </m:r>
                  </m:oMath>
                </a14:m>
                <a:r>
                  <a:rPr lang="en-US"/>
                  <a:t> when </a:t>
                </a:r>
                <a14:m>
                  <m:oMath xmlns:m="http://schemas.openxmlformats.org/officeDocument/2006/math">
                    <m:r>
                      <a:rPr lang="en-US" i="1" smtClean="0">
                        <a:latin typeface="Cambria Math" panose="02040503050406030204" pitchFamily="18" charset="0"/>
                        <a:ea typeface="Cambria Math" panose="02040503050406030204" pitchFamily="18" charset="0"/>
                      </a:rPr>
                      <m:t>𝜈</m:t>
                    </m:r>
                    <m:r>
                      <a:rPr lang="en-US" b="0" i="1" smtClean="0">
                        <a:latin typeface="Cambria Math" panose="02040503050406030204" pitchFamily="18" charset="0"/>
                        <a:ea typeface="Cambria Math" panose="02040503050406030204" pitchFamily="18" charset="0"/>
                      </a:rPr>
                      <m:t>=6</m:t>
                    </m:r>
                  </m:oMath>
                </a14:m>
                <a:endParaRPr lang="en-US"/>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331"/>
                </a:stretch>
              </a:blipFill>
            </p:spPr>
            <p:txBody>
              <a:bodyPr/>
              <a:lstStyle/>
              <a:p>
                <a:r>
                  <a:rPr lang="en-US">
                    <a:noFill/>
                  </a:rPr>
                  <a:t> </a:t>
                </a:r>
              </a:p>
            </p:txBody>
          </p:sp>
        </mc:Fallback>
      </mc:AlternateContent>
    </p:spTree>
    <p:extLst>
      <p:ext uri="{BB962C8B-B14F-4D97-AF65-F5344CB8AC3E}">
        <p14:creationId xmlns:p14="http://schemas.microsoft.com/office/powerpoint/2010/main" val="1646011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Technology</a:t>
            </a:r>
          </a:p>
        </p:txBody>
      </p:sp>
      <p:pic>
        <p:nvPicPr>
          <p:cNvPr id="4" name="Picture 3"/>
          <p:cNvPicPr>
            <a:picLocks noChangeAspect="1"/>
          </p:cNvPicPr>
          <p:nvPr/>
        </p:nvPicPr>
        <p:blipFill>
          <a:blip r:embed="rId2"/>
          <a:stretch>
            <a:fillRect/>
          </a:stretch>
        </p:blipFill>
        <p:spPr>
          <a:xfrm>
            <a:off x="2722572" y="1916058"/>
            <a:ext cx="6746855" cy="4632524"/>
          </a:xfrm>
          <a:prstGeom prst="rect">
            <a:avLst/>
          </a:prstGeom>
        </p:spPr>
      </p:pic>
      <p:sp>
        <p:nvSpPr>
          <p:cNvPr id="5" name="Cloud 4"/>
          <p:cNvSpPr/>
          <p:nvPr/>
        </p:nvSpPr>
        <p:spPr>
          <a:xfrm>
            <a:off x="4008582" y="3214255"/>
            <a:ext cx="1801091" cy="729672"/>
          </a:xfrm>
          <a:prstGeom prst="cloud">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853338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8</a:t>
            </a:r>
          </a:p>
        </p:txBody>
      </p:sp>
      <p:sp>
        <p:nvSpPr>
          <p:cNvPr id="3" name="Content Placeholder 2"/>
          <p:cNvSpPr>
            <a:spLocks noGrp="1"/>
          </p:cNvSpPr>
          <p:nvPr>
            <p:ph idx="1"/>
          </p:nvPr>
        </p:nvSpPr>
        <p:spPr>
          <a:xfrm>
            <a:off x="581193" y="1949587"/>
            <a:ext cx="11029615" cy="1403213"/>
          </a:xfrm>
        </p:spPr>
        <p:txBody>
          <a:bodyPr/>
          <a:lstStyle/>
          <a:p>
            <a:pPr lvl="0"/>
            <a:r>
              <a:rPr lang="en-GB"/>
              <a:t>It is known that HW scores follow a normal distribution with mean 80. Given a random sample of 15 HW scores with a sample standard deviation of 5, what is the probability that the average HW score is at least 82?</a:t>
            </a:r>
            <a:endParaRPr lang="en-US"/>
          </a:p>
        </p:txBody>
      </p:sp>
    </p:spTree>
    <p:extLst>
      <p:ext uri="{BB962C8B-B14F-4D97-AF65-F5344CB8AC3E}">
        <p14:creationId xmlns:p14="http://schemas.microsoft.com/office/powerpoint/2010/main" val="579779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9</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81193" y="1857224"/>
                <a:ext cx="11029615" cy="1911212"/>
              </a:xfrm>
            </p:spPr>
            <p:txBody>
              <a:bodyPr>
                <a:normAutofit/>
              </a:bodyPr>
              <a:lstStyle/>
              <a:p>
                <a:r>
                  <a:rPr lang="en-US"/>
                  <a:t>Company claims to fill out cereal boxes with an average weight of cereal of 24oz. </a:t>
                </a:r>
              </a:p>
              <a:p>
                <a:r>
                  <a:rPr lang="en-US"/>
                  <a:t>Assume that the weight of cereal (per box) is normally distributed. To check the claim, 16 boxes are sampled; the sample mean and sample standard deviation are found to be 23oz and 2oz, respectively. </a:t>
                </a:r>
              </a:p>
              <a:p>
                <a:pPr lvl="1"/>
                <a:r>
                  <a:rPr lang="en-US"/>
                  <a:t>Claim is valid if </a:t>
                </a:r>
                <a14:m>
                  <m:oMath xmlns:m="http://schemas.openxmlformats.org/officeDocument/2006/math">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0.05</m:t>
                        </m:r>
                      </m:sub>
                    </m:sSub>
                    <m:r>
                      <a:rPr lang="en-US" i="1">
                        <a:latin typeface="Cambria Math" panose="02040503050406030204" pitchFamily="18" charset="0"/>
                      </a:rPr>
                      <m:t>&lt;</m:t>
                    </m:r>
                    <m:r>
                      <a:rPr lang="en-US" i="1">
                        <a:latin typeface="Cambria Math" panose="02040503050406030204" pitchFamily="18" charset="0"/>
                      </a:rPr>
                      <m:t>𝑇</m:t>
                    </m:r>
                    <m:r>
                      <a:rPr lang="en-US" i="1">
                        <a:latin typeface="Cambria Math" panose="02040503050406030204" pitchFamily="18" charset="0"/>
                      </a:rPr>
                      <m:t>&lt;</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0.05</m:t>
                        </m:r>
                      </m:sub>
                    </m:sSub>
                  </m:oMath>
                </a14:m>
                <a:r>
                  <a:rPr lang="en-US"/>
                  <a:t>. Is it a valid claim?</a:t>
                </a:r>
              </a:p>
              <a:p>
                <a:pPr lvl="1"/>
                <a:r>
                  <a:rPr lang="en-US"/>
                  <a:t>What is the probability that the average is between 23.5 and 24.5? (use applet!)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81193" y="1857224"/>
                <a:ext cx="11029615" cy="1911212"/>
              </a:xfrm>
              <a:blipFill>
                <a:blip r:embed="rId2"/>
                <a:stretch>
                  <a:fillRect l="-331" r="-166" b="-958"/>
                </a:stretch>
              </a:blipFill>
            </p:spPr>
            <p:txBody>
              <a:bodyPr/>
              <a:lstStyle/>
              <a:p>
                <a:r>
                  <a:rPr lang="en-US">
                    <a:noFill/>
                  </a:rPr>
                  <a:t> </a:t>
                </a:r>
              </a:p>
            </p:txBody>
          </p:sp>
        </mc:Fallback>
      </mc:AlternateContent>
    </p:spTree>
    <p:extLst>
      <p:ext uri="{BB962C8B-B14F-4D97-AF65-F5344CB8AC3E}">
        <p14:creationId xmlns:p14="http://schemas.microsoft.com/office/powerpoint/2010/main" val="38793295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10</a:t>
            </a:r>
          </a:p>
        </p:txBody>
      </p:sp>
      <p:sp>
        <p:nvSpPr>
          <p:cNvPr id="3" name="Content Placeholder 2"/>
          <p:cNvSpPr>
            <a:spLocks noGrp="1"/>
          </p:cNvSpPr>
          <p:nvPr>
            <p:ph idx="1"/>
          </p:nvPr>
        </p:nvSpPr>
        <p:spPr>
          <a:xfrm>
            <a:off x="581192" y="1894170"/>
            <a:ext cx="11029615" cy="1624886"/>
          </a:xfrm>
        </p:spPr>
        <p:txBody>
          <a:bodyPr/>
          <a:lstStyle/>
          <a:p>
            <a:r>
              <a:rPr lang="en-US"/>
              <a:t>An insurance company knows that in the entire population of millions of apartment owners, the mean expected annual loss from damage is $75 with a standard deviation of $300. The distribution of losses is strongly right skewed (i.e. most policies have $0 losses) but a few have large losses. If the company sells 10,000 policies, can it safely base its rates on the assumption that its average loss will be no greater than $85</a:t>
            </a:r>
          </a:p>
        </p:txBody>
      </p:sp>
    </p:spTree>
    <p:extLst>
      <p:ext uri="{BB962C8B-B14F-4D97-AF65-F5344CB8AC3E}">
        <p14:creationId xmlns:p14="http://schemas.microsoft.com/office/powerpoint/2010/main" val="30440049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In-class</a:t>
            </a:r>
          </a:p>
        </p:txBody>
      </p:sp>
      <p:sp>
        <p:nvSpPr>
          <p:cNvPr id="3" name="Content Placeholder 2"/>
          <p:cNvSpPr>
            <a:spLocks noGrp="1"/>
          </p:cNvSpPr>
          <p:nvPr>
            <p:ph idx="1"/>
          </p:nvPr>
        </p:nvSpPr>
        <p:spPr>
          <a:xfrm>
            <a:off x="581192" y="2180497"/>
            <a:ext cx="11029615" cy="1172304"/>
          </a:xfrm>
        </p:spPr>
        <p:txBody>
          <a:bodyPr/>
          <a:lstStyle/>
          <a:p>
            <a:r>
              <a:rPr lang="en-US"/>
              <a:t>It is known that a certain engine is expected to perform at 20 MPG. A random sample of 100 engines is chosen and with the sample variance computed to be 1. Find the probability that, on average, the chosen engines will perform less than 21 MPG.</a:t>
            </a:r>
          </a:p>
        </p:txBody>
      </p:sp>
    </p:spTree>
    <p:extLst>
      <p:ext uri="{BB962C8B-B14F-4D97-AF65-F5344CB8AC3E}">
        <p14:creationId xmlns:p14="http://schemas.microsoft.com/office/powerpoint/2010/main" val="1733042393"/>
      </p:ext>
    </p:extLst>
  </p:cSld>
  <p:clrMapOvr>
    <a:masterClrMapping/>
  </p:clrMapOvr>
</p:sld>
</file>

<file path=ppt/theme/theme1.xml><?xml version="1.0" encoding="utf-8"?>
<a:theme xmlns:a="http://schemas.openxmlformats.org/drawingml/2006/main" name="Dividend">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Dividend</Template>
  <TotalTime>0</TotalTime>
  <Words>2399</Words>
  <Application>Microsoft Macintosh PowerPoint</Application>
  <PresentationFormat>Widescreen</PresentationFormat>
  <Paragraphs>294</Paragraphs>
  <Slides>51</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51</vt:i4>
      </vt:variant>
    </vt:vector>
  </HeadingPairs>
  <TitlesOfParts>
    <vt:vector size="57" baseType="lpstr">
      <vt:lpstr>Calibri</vt:lpstr>
      <vt:lpstr>Cambria Math</vt:lpstr>
      <vt:lpstr>Gill Sans MT</vt:lpstr>
      <vt:lpstr>Wingdings</vt:lpstr>
      <vt:lpstr>Wingdings 2</vt:lpstr>
      <vt:lpstr>Dividend</vt:lpstr>
      <vt:lpstr>Chapter 8</vt:lpstr>
      <vt:lpstr>Random sampling</vt:lpstr>
      <vt:lpstr>Recall: statistical inference</vt:lpstr>
      <vt:lpstr>Example</vt:lpstr>
      <vt:lpstr>Parameters and Statistics</vt:lpstr>
      <vt:lpstr>Example</vt:lpstr>
      <vt:lpstr>Sampling</vt:lpstr>
      <vt:lpstr>Random sampling</vt:lpstr>
      <vt:lpstr>statistics</vt:lpstr>
      <vt:lpstr>Example</vt:lpstr>
      <vt:lpstr>Example</vt:lpstr>
      <vt:lpstr>Sampling distribution of many percent's</vt:lpstr>
      <vt:lpstr>Sampling distribution of many means</vt:lpstr>
      <vt:lpstr>Standard error</vt:lpstr>
      <vt:lpstr>Good statistics</vt:lpstr>
      <vt:lpstr>Sampling Distribution of X ̅</vt:lpstr>
      <vt:lpstr>Example 1</vt:lpstr>
      <vt:lpstr>Sampling Distributions Activity</vt:lpstr>
      <vt:lpstr>Sampling Distribution of X ̅</vt:lpstr>
      <vt:lpstr>Central limit theorem</vt:lpstr>
      <vt:lpstr>Central limit theorem</vt:lpstr>
      <vt:lpstr>Implication of CLT</vt:lpstr>
      <vt:lpstr>CLT Formal definition</vt:lpstr>
      <vt:lpstr>PowerPoint Presentation</vt:lpstr>
      <vt:lpstr>Example 2</vt:lpstr>
      <vt:lpstr>Central limit theorem</vt:lpstr>
      <vt:lpstr>PowerPoint Presentation</vt:lpstr>
      <vt:lpstr>Example 3</vt:lpstr>
      <vt:lpstr>Example 4</vt:lpstr>
      <vt:lpstr>Sampling distribution of X ̅_1-X ̅_2</vt:lpstr>
      <vt:lpstr>Sampling distribution of X ̅_1-X ̅_2</vt:lpstr>
      <vt:lpstr>Example 5</vt:lpstr>
      <vt:lpstr>Chi – Square distribution</vt:lpstr>
      <vt:lpstr>Sampling distribution of s^2</vt:lpstr>
      <vt:lpstr>Chi-square table</vt:lpstr>
      <vt:lpstr>Example 6</vt:lpstr>
      <vt:lpstr>Technology</vt:lpstr>
      <vt:lpstr>PowerPoint Presentation</vt:lpstr>
      <vt:lpstr>In-class</vt:lpstr>
      <vt:lpstr>T – distribution </vt:lpstr>
      <vt:lpstr>T – Distribution </vt:lpstr>
      <vt:lpstr>T - distribution</vt:lpstr>
      <vt:lpstr>PowerPoint Presentation</vt:lpstr>
      <vt:lpstr>PowerPoint Presentation</vt:lpstr>
      <vt:lpstr>PowerPoint Presentation</vt:lpstr>
      <vt:lpstr>Example 7</vt:lpstr>
      <vt:lpstr>Technology</vt:lpstr>
      <vt:lpstr>Example 8</vt:lpstr>
      <vt:lpstr>Example 9</vt:lpstr>
      <vt:lpstr>Example 10</vt:lpstr>
      <vt:lpstr>In-class</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dc:title>
  <dc:creator>Emily Robinson</dc:creator>
  <cp:lastModifiedBy>Tyler Wiederich</cp:lastModifiedBy>
  <cp:revision>1</cp:revision>
  <dcterms:created xsi:type="dcterms:W3CDTF">2019-02-23T00:50:36Z</dcterms:created>
  <dcterms:modified xsi:type="dcterms:W3CDTF">2026-10-14T14:02:43Z</dcterms:modified>
</cp:coreProperties>
</file>